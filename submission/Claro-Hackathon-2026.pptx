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b9c8e36f94b447b" /><Relationship Type="http://schemas.openxmlformats.org/officeDocument/2006/relationships/extended-properties" Target="/docProps/app.xml" Id="R4db4b20b6574477f" /><Relationship Type="http://schemas.openxmlformats.org/officeDocument/2006/relationships/officeDocument" Target="/ppt/presentation.xml" Id="R26cf2d7c13ba4e4a" /></Relationships>
</file>

<file path=ppt/presentation.xml><?xml version="1.0" encoding="utf-8"?>
<p:presentation xmlns:p="http://schemas.openxmlformats.org/presentationml/2006/main">
  <p:sldMasterIdLst>
    <p:sldMasterId xmlns:r="http://schemas.openxmlformats.org/officeDocument/2006/relationships" id="2147483648" r:id="R183764540d1941a4"/>
  </p:sldMasterIdLst>
  <p:notesMasterIdLst>
    <p:notesMasterId xmlns:r="http://schemas.openxmlformats.org/officeDocument/2006/relationships" r:id="R63ad287788044371"/>
  </p:notesMasterIdLst>
  <p:sldIdLst>
    <p:sldId xmlns:r="http://schemas.openxmlformats.org/officeDocument/2006/relationships" id="256" r:id="R4307979c8bf14a81"/>
    <p:sldId xmlns:r="http://schemas.openxmlformats.org/officeDocument/2006/relationships" id="257" r:id="R35369e63c5094b58"/>
    <p:sldId xmlns:r="http://schemas.openxmlformats.org/officeDocument/2006/relationships" id="258" r:id="Rdac8e13ac3d5463a"/>
    <p:sldId xmlns:r="http://schemas.openxmlformats.org/officeDocument/2006/relationships" id="259" r:id="Rd4bbd90722274054"/>
    <p:sldId xmlns:r="http://schemas.openxmlformats.org/officeDocument/2006/relationships" id="260" r:id="Re87375508abd4c52"/>
    <p:sldId xmlns:r="http://schemas.openxmlformats.org/officeDocument/2006/relationships" id="261" r:id="R4649150e30944a8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e7d9cb4b67e426c" /><Relationship Type="http://schemas.openxmlformats.org/officeDocument/2006/relationships/slideMaster" Target="/ppt/slideMasters/slideMaster1.xml" Id="R183764540d1941a4" /><Relationship Type="http://schemas.openxmlformats.org/officeDocument/2006/relationships/notesMaster" Target="/ppt/notesMasters/notesMaster1.xml" Id="R63ad287788044371" /><Relationship Type="http://schemas.openxmlformats.org/officeDocument/2006/relationships/presProps" Target="/ppt/presProps.xml" Id="R50f4139968f447cc" /><Relationship Type="http://schemas.openxmlformats.org/officeDocument/2006/relationships/tableStyles" Target="/ppt/tableStyles.xml" Id="Rc45cf2b58b1f446d" /><Relationship Type="http://schemas.openxmlformats.org/officeDocument/2006/relationships/slide" Target="/ppt/slides/slide1.xml" Id="R4307979c8bf14a81" /><Relationship Type="http://schemas.openxmlformats.org/officeDocument/2006/relationships/slide" Target="/ppt/slides/slide2.xml" Id="R35369e63c5094b58" /><Relationship Type="http://schemas.openxmlformats.org/officeDocument/2006/relationships/slide" Target="/ppt/slides/slide3.xml" Id="Rdac8e13ac3d5463a" /><Relationship Type="http://schemas.openxmlformats.org/officeDocument/2006/relationships/slide" Target="/ppt/slides/slide4.xml" Id="Rd4bbd90722274054" /><Relationship Type="http://schemas.openxmlformats.org/officeDocument/2006/relationships/slide" Target="/ppt/slides/slide5.xml" Id="Re87375508abd4c52" /><Relationship Type="http://schemas.openxmlformats.org/officeDocument/2006/relationships/slide" Target="/ppt/slides/slide6.xml" Id="R4649150e30944a8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829f95c6034ef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b919538dcfd4143" /><Relationship Type="http://schemas.openxmlformats.org/officeDocument/2006/relationships/notesMaster" Target="/ppt/notesMasters/notesMaster1.xml" Id="R595bbb514d494d2c" /></Relationships>
</file>

<file path=ppt/notesSlides/_rels/notesSlide2.xml.rels>&#65279;<?xml version="1.0" encoding="utf-8"?><Relationships xmlns="http://schemas.openxmlformats.org/package/2006/relationships"><Relationship Type="http://schemas.openxmlformats.org/officeDocument/2006/relationships/slide" Target="/ppt/slides/slide2.xml" Id="R03009018ea584fa8" /><Relationship Type="http://schemas.openxmlformats.org/officeDocument/2006/relationships/notesMaster" Target="/ppt/notesMasters/notesMaster1.xml" Id="Rf35c9c69885f480e" /></Relationships>
</file>

<file path=ppt/notesSlides/_rels/notesSlide3.xml.rels>&#65279;<?xml version="1.0" encoding="utf-8"?><Relationships xmlns="http://schemas.openxmlformats.org/package/2006/relationships"><Relationship Type="http://schemas.openxmlformats.org/officeDocument/2006/relationships/slide" Target="/ppt/slides/slide3.xml" Id="R9d5f0649ae974d29" /><Relationship Type="http://schemas.openxmlformats.org/officeDocument/2006/relationships/notesMaster" Target="/ppt/notesMasters/notesMaster1.xml" Id="R9cc1137c858f47f9" /></Relationships>
</file>

<file path=ppt/notesSlides/_rels/notesSlide4.xml.rels>&#65279;<?xml version="1.0" encoding="utf-8"?><Relationships xmlns="http://schemas.openxmlformats.org/package/2006/relationships"><Relationship Type="http://schemas.openxmlformats.org/officeDocument/2006/relationships/slide" Target="/ppt/slides/slide4.xml" Id="R2813747e182b436c" /><Relationship Type="http://schemas.openxmlformats.org/officeDocument/2006/relationships/notesMaster" Target="/ppt/notesMasters/notesMaster1.xml" Id="R12f546bd3153446b" /></Relationships>
</file>

<file path=ppt/notesSlides/_rels/notesSlide5.xml.rels>&#65279;<?xml version="1.0" encoding="utf-8"?><Relationships xmlns="http://schemas.openxmlformats.org/package/2006/relationships"><Relationship Type="http://schemas.openxmlformats.org/officeDocument/2006/relationships/slide" Target="/ppt/slides/slide5.xml" Id="R43e5afd3a3fa4535" /><Relationship Type="http://schemas.openxmlformats.org/officeDocument/2006/relationships/notesMaster" Target="/ppt/notesMasters/notesMaster1.xml" Id="Rae35f69a680f4e60" /></Relationships>
</file>

<file path=ppt/notesSlides/_rels/notesSlide6.xml.rels>&#65279;<?xml version="1.0" encoding="utf-8"?><Relationships xmlns="http://schemas.openxmlformats.org/package/2006/relationships"><Relationship Type="http://schemas.openxmlformats.org/officeDocument/2006/relationships/slide" Target="/ppt/slides/slide6.xml" Id="Rd76e172423e3450d" /><Relationship Type="http://schemas.openxmlformats.org/officeDocument/2006/relationships/notesMaster" Target="/ppt/notesMasters/notesMaster1.xml" Id="R93db500e80c2495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and scope: 23,495,188 organizer synthetic rows across 13 tables. Exactly 4,425,008 transaction rows. 171,321 transcripts contain only 42 distinct customer text strings, with no demonstrated Portuguese coverage or trustworthy dispute-intent labels. Source: docs/DATA_FINDINGS.md and docs/evidence/data-profile-summary.json. Focus on transaction support and confirmed dispute intake rather than inventing aligned dialogue labels. Public examples and policies are independently team-authored fixtures.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provenance: CUA Chrome, http://127.0.0.1:8096, 2026-10-05 UTC; actual isolated sandbox with team-authored fixtures and external providers disabled; original capture backend/static hashes in docs/evidence/chat-browser-checks.json; predates cache/F7/F8/M1/L1/N1/N2/P1–P4 and Q1/Q2 corrections. Final hosted source has separate API/browser and supplemental conversational HTTPS receipts; P4 additionally has source-matched privacy/history tests. Original capture backend/static hashes remain unchanged. The UI creates a trusted sandbox session without persona or language selectors. ES/PT detection never changes customer identity. Exact references narrow validated authorized records and ambiguity prompts clarification. The customer report preserves specific redacted allegations through transaction clarification and is labeled unverified; permitted record facts remain separate. Customer sees the specific redacted report and attached transaction ID, merchant, amount/currency and recorded status before confirming. Explicit general human-review requests attach no transaction. Atomic case commit and fresh read-back precede the receipt. The reviewer route is /?review=1. The owning customer answers a persisted question in the same composer. Case events remain scoped and idempotent. No real money movement, refunds or card blocking. Sources: docs/SYSTEM_EVALUATION.md, docs/OPERATIONS.md, api.py, privacy.py, store.py and workflow.py.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Diagram objects/connectors are native and editable. Sequence shows responsibility boundaries, not an exhaustive call graph. Optional Jev one-shot classification and DeepSeek Flash composition are implemented and tested using mocked transports. Live provider inference has not been verified. No claimed provider accuracy or actual spend. Classifier never chooses identity or performs tools. Composer receives minimized permitted context and cannot replace authoritative financial facts, case receipts or policy actions. Provider attempts, validated token usage, tariff estimates, unknown cost and budget reservations are separately accounted. Public personas are sandbox identities. SQLite uses reserved idempotency fingerprints and fresh read-back. Private DuckDB jobs never serve organizer raw rows. Sources: docs/AI_PROVIDERS.md, docs/OPERATIONS.md, api.py, providers.py, privacy.py, store.py, workflow.py.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held-out results in docs/evidence/ml-evaluation.json and docs/ML_REPORT.md. Logistic AP0.0009415226700474275, CatBoost AP0.0009380975559168019, constant0.0009052217350599682. At1% review capacity:4,519 reviewed,4TP/4,515FP for either learned model. Training population3,735,596; fitted deterministic sample471,012 including all3,712positives, inverse-propensity negative weights8. Candidate promotion fixed on February before test. Excludes supplied fraud_score, target, current snapshots and future/simultaneous history. Full-snapshot feasibility diagnostics preceded temporal evaluation, so no externally blind claim. No learned promotion. Runtime organizer-domain population prior is explicitly not personalized. Public fixtures are out of domain. No prevented-loss or production-accuracy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docs/LANGUAGE_EVALUATION.md, docs/SYSTEM_EVALUATION.md and aggregate evidence. Component train196/development56/test140 uses frozen semantic groups. Local TF-IDF/logistic117/140 macroF10.8230; rules65/140 F10.4207; local Gemma3 4B115/140 F10.8045. Small ML/Gemma difference is not claimed significant. Workflow figure is current v3 chat regression with a stronger case-lookup scorer. Current v3 requires the returned exact persisted case, localized status, timestamp, supporting case evidence and pending question. Independently reading the endpoint is insufficient. The scorer differs from v1.1, so old and new correctness percentages are not directly comparable. Original labels remain unchanged, including two CASE-009 requests for a nonexistent seeded case, recorded as fixture/reference mismatches rather than silently relabeled successes. Current safe automated resolutions: 38/120. Current incorrect outcomes: 10; unnecessary proposals: 1. Language slices and all errors are published. First untouched challenge remains61/70 learned versus43/70 rules, with28/30 required transfers. Separate exposed regression 64/70 follows fixes; it is never relabeled blind. Source-matched current files are docs/evidence/chat-system-regression.json and docs/evidence/chat-challenge-regression.json. Historical v1.1 sources remain preserved. Current six strata contain140 unique utterances and70 semantic pairs, counterbalanced ES/PT,840replays/system. These are selected-transaction status/currency groups, not demographic fairness. All labels/translations are assistant-authored without independent human/native-language review. Fresh prospective70 is frozen but unscored. Zero offline provider attempts do not establish free provider inference. No hardware/hosting or representative customer cost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https://github.com/nicoceron/factored-hackathon-2026-nicoceron . The separate deployment receipt verifies the current chat source and public assets at the recorded commit. Reviewer access is /?review=1 and customer chat is /. Seven original local screenshots retain their captured source hashes; later cache, F7 report-continuity, F8 reply-history/locale, M1 denial-polarity, L1 ordinal-choice and N1/N2 conversational-choice, P1 decimal-reference, P2 rejected-amount, P3 currency-constraint and P4 numeric-case-history, Q1 currency-symbol and Q2 rejected-choice task-continuity corrections are verified separately by the final public API/browser and supplemental conversational HTTPS receipts, focused source-matched privacy/history tests and four supplemental hosted captures. Optional Jev/DeepSeek adapters are implemented/mocked but live inference remains unverified pending authorized metered use. External tariff estimates are not invoice spend. Screenshot is a declared geometry crop of the original local reviewer timeline. Its Spanish interface retains the original Spanish report plus Portuguese question and reply; the filename does not imply a Portuguese-only interface. Declared screenshot provenance: CUA Chrome, http://127.0.0.1:8096, 2026-10-05 UTC; actual isolated sandbox with team-authored fixtures and external providers disabled; original capture backend/static hashes in docs/evidence/chat-browser-checks.json; predates cache/F7/F8/M1/L1/N1/N2/P1–P4 and Q1/Q2 corrections. Final hosted source has separate API/browser and supplemental conversational HTTPS receipts; P4 additionally has source-matched privacy/history tests. Original capture backend/static hashes remain unchanged. Free-host filesystem may reset. Sources: docs/AI_PROVIDERS.md, docs/OPERATIONS.md and submission/deployment.json. Real-bank requirements include approved identity/entitlements/MFA/policies, durable data, monitored rollout, privacy controls, independent ES/PT review and staffing. Organizer submission is intentionally outside requested scope. No real-bank operation or production safety certification.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ee14e7fd4c44f8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2b922b2894d4b91" /><Relationship Type="http://schemas.openxmlformats.org/officeDocument/2006/relationships/slideLayout" Target="/ppt/slideLayouts/slideLayout1.xml" Id="Rcec1b8abe06345e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ec1b8abe06345e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c6d676b28b54074" /><Relationship Type="http://schemas.openxmlformats.org/officeDocument/2006/relationships/notesSlide" Target="/ppt/notesSlides/notesSlide1.xml" Id="Rf74571b91649462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f68e41bf2044897" /><Relationship Type="http://schemas.openxmlformats.org/officeDocument/2006/relationships/image" Target="/ppt/media/image.jpeg" Id="Refac8499a0e84ce4" /><Relationship Type="http://schemas.openxmlformats.org/officeDocument/2006/relationships/notesSlide" Target="/ppt/notesSlides/notesSlide2.xml" Id="R49e07783310f469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c28927110c543cd" /><Relationship Type="http://schemas.openxmlformats.org/officeDocument/2006/relationships/notesSlide" Target="/ppt/notesSlides/notesSlide3.xml" Id="R25bb409ef8884ae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d7e3a8465a840bf" /><Relationship Type="http://schemas.openxmlformats.org/officeDocument/2006/relationships/chart" Target="/ppt/slides/charts/chart1.xml" Id="Rb3b812dab7504cac" /><Relationship Type="http://schemas.openxmlformats.org/officeDocument/2006/relationships/notesSlide" Target="/ppt/notesSlides/notesSlide4.xml" Id="Rd9af864086e7425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a6cfa0708934481" /><Relationship Type="http://schemas.openxmlformats.org/officeDocument/2006/relationships/chart" Target="/ppt/slides/charts/chart2.xml" Id="R9d583637a0134d14" /><Relationship Type="http://schemas.openxmlformats.org/officeDocument/2006/relationships/chart" Target="/ppt/slides/charts/chart3.xml" Id="R32953cd0a90c4203" /><Relationship Type="http://schemas.openxmlformats.org/officeDocument/2006/relationships/notesSlide" Target="/ppt/notesSlides/notesSlide5.xml" Id="R487175ef81d7489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103c230acb4416a" /><Relationship Type="http://schemas.openxmlformats.org/officeDocument/2006/relationships/image" Target="/ppt/media/image2.jpeg" Id="R9b2c27c0daa84d46" /><Relationship Type="http://schemas.openxmlformats.org/officeDocument/2006/relationships/notesSlide" Target="/ppt/notesSlides/notesSlide6.xml" Id="R7d44e1baafef442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Measured result</c:v>
          </c:tx>
          <c:spPr>
            <a:solidFill xmlns:a="http://schemas.openxmlformats.org/drawingml/2006/main">
              <a:srgbClr val="149F8E"/>
            </a:solidFill>
          </c:spPr>
          <c:dPt>
            <c:idx val="0"/>
            <c:invertIfNegative val="0"/>
            <c:spPr>
              <a:solidFill xmlns:a="http://schemas.openxmlformats.org/drawingml/2006/main">
                <a:srgbClr val="8DA8B8"/>
              </a:solidFill>
            </c:spPr>
          </c:dPt>
          <c:dPt>
            <c:idx val="1"/>
            <c:invertIfNegative val="0"/>
            <c:spPr>
              <a:solidFill xmlns:a="http://schemas.openxmlformats.org/drawingml/2006/main">
                <a:srgbClr val="149F8E"/>
              </a:solidFill>
            </c:spPr>
          </c:dPt>
          <c:dPt>
            <c:idx val="2"/>
            <c:invertIfNegative val="0"/>
            <c:spPr>
              <a:solidFill xmlns:a="http://schemas.openxmlformats.org/drawingml/2006/main">
                <a:srgbClr val="427D9A"/>
              </a:solidFill>
            </c:spPr>
          </c:dPt>
          <c:dLbls>
            <c:dLbl>
              <c:idx val="0"/>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0.000905</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0.000942</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0.000938</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s>
          <c:cat>
            <c:strRef>
              <c:f>'Chart Data'!$A$2:$A$4</c:f>
              <c:strCache>
                <c:ptCount val="3"/>
                <c:pt idx="0">
                  <c:v>Constant</c:v>
                </c:pt>
                <c:pt idx="1">
                  <c:v>Logistic</c:v>
                </c:pt>
                <c:pt idx="2">
                  <c:v>CatBoost</c:v>
                </c:pt>
              </c:strCache>
            </c:strRef>
          </c:cat>
          <c:val>
            <c:numRef>
              <c:f>'Chart Data'!$B$2:$B$4</c:f>
              <c:numCache>
                <c:formatCode>0.0000</c:formatCode>
                <c:ptCount val="3"/>
                <c:pt idx="0">
                  <c:v>0.000905221735</c:v>
                </c:pt>
                <c:pt idx="1">
                  <c:v>0.00094152267</c:v>
                </c:pt>
                <c:pt idx="2">
                  <c:v>0.000938097556</c:v>
                </c:pt>
              </c:numCache>
            </c:numRef>
          </c:val>
        </c:ser>
        <c:dLbls>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9ED"/>
            </a:solidFill>
          </a:ln>
        </c:spPr>
        <c:txPr>
          <a:bodyPr xmlns:a="http://schemas.openxmlformats.org/drawingml/2006/main" anchorCtr="1"/>
          <a:lstStyle xmlns:a="http://schemas.openxmlformats.org/drawingml/2006/main"/>
          <a:p xmlns:a="http://schemas.openxmlformats.org/drawingml/2006/main">
            <a:pPr>
              <a:defRPr sz="1425">
                <a:solidFill>
                  <a:srgbClr val="587087"/>
                </a:solidFill>
                <a:latin typeface="Noto Sans"/>
                <a:ea typeface="Noto Sans"/>
                <a:cs typeface="Noto Sans"/>
              </a:defRPr>
            </a:pPr>
          </a:p>
        </c:txPr>
        <c:crossAx val="48672768"/>
      </c:catAx>
      <c:valAx>
        <c:axId val="48672768"/>
        <c:scaling>
          <c:orientation val="minMax"/>
          <c:max val="0.0011"/>
          <c:min val="0"/>
        </c:scaling>
        <c:delete val="0"/>
        <c:axPos val="l"/>
        <c:majorGridlines>
          <c:spPr>
            <a:ln xmlns:a="http://schemas.openxmlformats.org/drawingml/2006/main" w="9525">
              <a:solidFill>
                <a:srgbClr val="DCE9ED"/>
              </a:solidFill>
            </a:ln>
          </c:spPr>
        </c:majorGridlines>
        <c:numFmt formatCode="0.00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587087"/>
                </a:solidFill>
                <a:latin typeface="Noto Sans"/>
                <a:ea typeface="Noto Sans"/>
                <a:cs typeface="Noto Sans"/>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Measured result</c:v>
          </c:tx>
          <c:spPr>
            <a:solidFill xmlns:a="http://schemas.openxmlformats.org/drawingml/2006/main">
              <a:srgbClr val="149F8E"/>
            </a:solidFill>
          </c:spPr>
          <c:dPt>
            <c:idx val="0"/>
            <c:invertIfNegative val="0"/>
            <c:spPr>
              <a:solidFill xmlns:a="http://schemas.openxmlformats.org/drawingml/2006/main">
                <a:srgbClr val="8DA8B8"/>
              </a:solidFill>
            </c:spPr>
          </c:dPt>
          <c:dPt>
            <c:idx val="1"/>
            <c:invertIfNegative val="0"/>
            <c:spPr>
              <a:solidFill xmlns:a="http://schemas.openxmlformats.org/drawingml/2006/main">
                <a:srgbClr val="149F8E"/>
              </a:solidFill>
            </c:spPr>
          </c:dPt>
          <c:dPt>
            <c:idx val="2"/>
            <c:invertIfNegative val="0"/>
            <c:spPr>
              <a:solidFill xmlns:a="http://schemas.openxmlformats.org/drawingml/2006/main">
                <a:srgbClr val="427D9A"/>
              </a:solidFill>
            </c:spPr>
          </c:dPt>
          <c:dLbls>
            <c:dLbl>
              <c:idx val="0"/>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0.421</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0.823</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0.805</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s>
          <c:cat>
            <c:strRef>
              <c:f>'Chart Data'!$A$2:$A$4</c:f>
              <c:strCache>
                <c:ptCount val="3"/>
                <c:pt idx="0">
                  <c:v>Rules</c:v>
                </c:pt>
                <c:pt idx="1">
                  <c:v>Local ML</c:v>
                </c:pt>
                <c:pt idx="2">
                  <c:v>Gemma 3</c:v>
                </c:pt>
              </c:strCache>
            </c:strRef>
          </c:cat>
          <c:val>
            <c:numRef>
              <c:f>'Chart Data'!$B$2:$B$4</c:f>
              <c:numCache>
                <c:formatCode>0.0</c:formatCode>
                <c:ptCount val="3"/>
                <c:pt idx="0">
                  <c:v>0.420722527</c:v>
                </c:pt>
                <c:pt idx="1">
                  <c:v>0.822971628</c:v>
                </c:pt>
                <c:pt idx="2">
                  <c:v>0.80451927</c:v>
                </c:pt>
              </c:numCache>
            </c:numRef>
          </c:val>
        </c:ser>
        <c:dLbls>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9ED"/>
            </a:solidFill>
          </a:ln>
        </c:spPr>
        <c:txPr>
          <a:bodyPr xmlns:a="http://schemas.openxmlformats.org/drawingml/2006/main" anchorCtr="1"/>
          <a:lstStyle xmlns:a="http://schemas.openxmlformats.org/drawingml/2006/main"/>
          <a:p xmlns:a="http://schemas.openxmlformats.org/drawingml/2006/main">
            <a:pPr>
              <a:defRPr sz="1425">
                <a:solidFill>
                  <a:srgbClr val="587087"/>
                </a:solidFill>
                <a:latin typeface="Noto Sans"/>
                <a:ea typeface="Noto Sans"/>
                <a:cs typeface="Noto Sans"/>
              </a:defRPr>
            </a:pPr>
          </a:p>
        </c:txPr>
        <c:crossAx val="48672768"/>
      </c:catAx>
      <c:valAx>
        <c:axId val="48672768"/>
        <c:scaling>
          <c:orientation val="minMax"/>
          <c:max val="1"/>
          <c:min val="0"/>
        </c:scaling>
        <c:delete val="0"/>
        <c:axPos val="l"/>
        <c:majorGridlines>
          <c:spPr>
            <a:ln xmlns:a="http://schemas.openxmlformats.org/drawingml/2006/main" w="9525">
              <a:solidFill>
                <a:srgbClr val="DCE9ED"/>
              </a:solidFill>
            </a:ln>
          </c:spPr>
        </c:majorGridlines>
        <c:numFmt formatCode="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587087"/>
                </a:solidFill>
                <a:latin typeface="Noto Sans"/>
                <a:ea typeface="Noto Sans"/>
                <a:cs typeface="Noto Sans"/>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Measured result</c:v>
          </c:tx>
          <c:spPr>
            <a:solidFill xmlns:a="http://schemas.openxmlformats.org/drawingml/2006/main">
              <a:srgbClr val="149F8E"/>
            </a:solidFill>
          </c:spPr>
          <c:dPt>
            <c:idx val="0"/>
            <c:invertIfNegative val="0"/>
            <c:spPr>
              <a:solidFill xmlns:a="http://schemas.openxmlformats.org/drawingml/2006/main">
                <a:srgbClr val="8DA8B8"/>
              </a:solidFill>
            </c:spPr>
          </c:dPt>
          <c:dPt>
            <c:idx val="1"/>
            <c:invertIfNegative val="0"/>
            <c:spPr>
              <a:solidFill xmlns:a="http://schemas.openxmlformats.org/drawingml/2006/main">
                <a:srgbClr val="149F8E"/>
              </a:solidFill>
            </c:spPr>
          </c:dPt>
          <c:dLbls>
            <c:dLbl>
              <c:idx val="0"/>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85 / 140</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130 / 140</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s>
          <c:cat>
            <c:strRef>
              <c:f>'Chart Data'!$A$2:$A$3</c:f>
              <c:strCache>
                <c:ptCount val="2"/>
                <c:pt idx="0">
                  <c:v>Rules</c:v>
                </c:pt>
                <c:pt idx="1">
                  <c:v>Local ML</c:v>
                </c:pt>
              </c:strCache>
            </c:strRef>
          </c:cat>
          <c:val>
            <c:numRef>
              <c:f>'Chart Data'!$B$2:$B$3</c:f>
              <c:numCache>
                <c:formatCode>0%</c:formatCode>
                <c:ptCount val="2"/>
                <c:pt idx="0">
                  <c:v>0.607142857</c:v>
                </c:pt>
                <c:pt idx="1">
                  <c:v>0.928571429</c:v>
                </c:pt>
              </c:numCache>
            </c:numRef>
          </c:val>
        </c:ser>
        <c:dLbls>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9ED"/>
            </a:solidFill>
          </a:ln>
        </c:spPr>
        <c:txPr>
          <a:bodyPr xmlns:a="http://schemas.openxmlformats.org/drawingml/2006/main" anchorCtr="1"/>
          <a:lstStyle xmlns:a="http://schemas.openxmlformats.org/drawingml/2006/main"/>
          <a:p xmlns:a="http://schemas.openxmlformats.org/drawingml/2006/main">
            <a:pPr>
              <a:defRPr sz="1425">
                <a:solidFill>
                  <a:srgbClr val="587087"/>
                </a:solidFill>
                <a:latin typeface="Noto Sans"/>
                <a:ea typeface="Noto Sans"/>
                <a:cs typeface="Noto Sans"/>
              </a:defRPr>
            </a:pPr>
          </a:p>
        </c:txPr>
        <c:crossAx val="48672768"/>
      </c:catAx>
      <c:valAx>
        <c:axId val="48672768"/>
        <c:scaling>
          <c:orientation val="minMax"/>
          <c:max val="1"/>
          <c:min val="0"/>
        </c:scaling>
        <c:delete val="0"/>
        <c:axPos val="l"/>
        <c:majorGridlines>
          <c:spPr>
            <a:ln xmlns:a="http://schemas.openxmlformats.org/drawingml/2006/main" w="9525">
              <a:solidFill>
                <a:srgbClr val="DCE9ED"/>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587087"/>
                </a:solidFill>
                <a:latin typeface="Noto Sans"/>
                <a:ea typeface="Noto Sans"/>
                <a:cs typeface="Noto Sans"/>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1932"/>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CED3DAB-7331-4723-AD78-CF9B3E64610D}"/>
              </a:ext>
            </a:extLst>
          </p:cNvPr>
          <p:cNvSpPr>
            <a:spLocks xmlns:a="http://schemas.openxmlformats.org/drawingml/2006/main" noGrp="1"/>
          </p:cNvSpPr>
          <p:nvPr/>
        </p:nvSpPr>
        <p:spPr>
          <a:xfrm xmlns:a="http://schemas.openxmlformats.org/drawingml/2006/main">
            <a:off x="609600" y="438150"/>
            <a:ext cx="723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6450" b="1">
                <a:solidFill>
                  <a:srgbClr val="F7FAFC"/>
                </a:solidFill>
                <a:latin typeface="Noto Sans"/>
                <a:ea typeface="Noto Sans"/>
                <a:cs typeface="Noto Sans"/>
              </a:defRPr>
            </a:pPr>
            <a:r>
              <a:rPr sz="6450" b="1">
                <a:solidFill>
                  <a:srgbClr val="F7FAFC"/>
                </a:solidFill>
                <a:latin typeface="Noto Sans"/>
                <a:ea typeface="Noto Sans"/>
                <a:cs typeface="Noto Sans"/>
              </a:rPr>
              <a:t>Claro</a:t>
            </a:r>
          </a:p>
        </p:txBody>
      </p:sp>
      <p:sp>
        <p:nvSpPr>
          <p:cNvPr id="2" name="">
            <a:extLst xmlns:a="http://schemas.openxmlformats.org/drawingml/2006/main">
              <a:ext uri="{FF2B5EF4-FFF2-40B4-BE49-F238E27FC236}">
                <a16:creationId xmlns:a16="http://schemas.microsoft.com/office/drawing/2014/main" id="{6D93E6BF-E609-4691-B2DB-8759E6563268}"/>
              </a:ext>
            </a:extLst>
          </p:cNvPr>
          <p:cNvSpPr>
            <a:spLocks xmlns:a="http://schemas.openxmlformats.org/drawingml/2006/main" noGrp="1"/>
          </p:cNvSpPr>
          <p:nvPr/>
        </p:nvSpPr>
        <p:spPr>
          <a:xfrm xmlns:a="http://schemas.openxmlformats.org/drawingml/2006/main">
            <a:off x="609600" y="1647825"/>
            <a:ext cx="695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825" b="1">
                <a:solidFill>
                  <a:srgbClr val="F7FAFC"/>
                </a:solidFill>
                <a:latin typeface="Noto Sans"/>
                <a:ea typeface="Noto Sans"/>
                <a:cs typeface="Noto Sans"/>
              </a:defRPr>
            </a:pPr>
            <a:r>
              <a:rPr sz="3825" b="1">
                <a:solidFill>
                  <a:srgbClr val="F7FAFC"/>
                </a:solidFill>
                <a:latin typeface="Noto Sans"/>
                <a:ea typeface="Noto Sans"/>
                <a:cs typeface="Noto Sans"/>
              </a:rPr>
              <a:t>Banking support with</a:t>
            </a:r>
          </a:p>
          <a:p xmlns:a="http://schemas.openxmlformats.org/drawingml/2006/main">
            <a:pPr algn="l">
              <a:defRPr sz="3825" b="1">
                <a:solidFill>
                  <a:srgbClr val="F7FAFC"/>
                </a:solidFill>
                <a:latin typeface="Noto Sans"/>
                <a:ea typeface="Noto Sans"/>
                <a:cs typeface="Noto Sans"/>
              </a:defRPr>
            </a:pPr>
            <a:r>
              <a:rPr sz="3825" b="1">
                <a:solidFill>
                  <a:srgbClr val="F7FAFC"/>
                </a:solidFill>
                <a:latin typeface="Noto Sans"/>
                <a:ea typeface="Noto Sans"/>
                <a:cs typeface="Noto Sans"/>
              </a:rPr>
              <a:t>verified outcomes</a:t>
            </a:r>
          </a:p>
        </p:txBody>
      </p:sp>
      <p:sp>
        <p:nvSpPr>
          <p:cNvPr id="3" name="">
            <a:extLst xmlns:a="http://schemas.openxmlformats.org/drawingml/2006/main">
              <a:ext uri="{FF2B5EF4-FFF2-40B4-BE49-F238E27FC236}">
                <a16:creationId xmlns:a16="http://schemas.microsoft.com/office/drawing/2014/main" id="{30F831D4-1789-41D3-975A-FC7115FBF3FC}"/>
              </a:ext>
            </a:extLst>
          </p:cNvPr>
          <p:cNvSpPr>
            <a:spLocks xmlns:a="http://schemas.openxmlformats.org/drawingml/2006/main" noGrp="1"/>
          </p:cNvSpPr>
          <p:nvPr/>
        </p:nvSpPr>
        <p:spPr>
          <a:xfrm xmlns:a="http://schemas.openxmlformats.org/drawingml/2006/main">
            <a:off x="638175" y="3343275"/>
            <a:ext cx="695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A4B7C8"/>
                </a:solidFill>
                <a:latin typeface="Noto Sans"/>
                <a:ea typeface="Noto Sans"/>
                <a:cs typeface="Noto Sans"/>
              </a:defRPr>
            </a:pPr>
            <a:r>
              <a:rPr sz="2025" b="0">
                <a:solidFill>
                  <a:srgbClr val="A4B7C8"/>
                </a:solidFill>
                <a:latin typeface="Noto Sans"/>
                <a:ea typeface="Noto Sans"/>
                <a:cs typeface="Noto Sans"/>
              </a:rPr>
              <a:t>Immediate Spanish and Portuguese chat</a:t>
            </a:r>
          </a:p>
          <a:p xmlns:a="http://schemas.openxmlformats.org/drawingml/2006/main">
            <a:pPr algn="l">
              <a:defRPr sz="2025" b="0">
                <a:solidFill>
                  <a:srgbClr val="A4B7C8"/>
                </a:solidFill>
                <a:latin typeface="Noto Sans"/>
                <a:ea typeface="Noto Sans"/>
                <a:cs typeface="Noto Sans"/>
              </a:defRPr>
            </a:pPr>
            <a:r>
              <a:rPr sz="2025" b="0">
                <a:solidFill>
                  <a:srgbClr val="A4B7C8"/>
                </a:solidFill>
                <a:latin typeface="Noto Sans"/>
                <a:ea typeface="Noto Sans"/>
                <a:cs typeface="Noto Sans"/>
              </a:rPr>
              <a:t>with verified cases for human review</a:t>
            </a:r>
          </a:p>
        </p:txBody>
      </p:sp>
      <p:sp>
        <p:nvSpPr>
          <p:cNvPr id="4" name="">
            <a:extLst xmlns:a="http://schemas.openxmlformats.org/drawingml/2006/main">
              <a:ext uri="{FF2B5EF4-FFF2-40B4-BE49-F238E27FC236}">
                <a16:creationId xmlns:a16="http://schemas.microsoft.com/office/drawing/2014/main" id="{2905200B-11C3-4B51-A5E6-AC1CB70A4DEE}"/>
              </a:ext>
            </a:extLst>
          </p:cNvPr>
          <p:cNvSpPr>
            <a:spLocks xmlns:a="http://schemas.openxmlformats.org/drawingml/2006/main" noGrp="1"/>
          </p:cNvSpPr>
          <p:nvPr/>
        </p:nvSpPr>
        <p:spPr>
          <a:xfrm xmlns:a="http://schemas.openxmlformats.org/drawingml/2006/main">
            <a:off x="8477250" y="1590675"/>
            <a:ext cx="304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4800" b="1">
                <a:solidFill>
                  <a:srgbClr val="67E2C4"/>
                </a:solidFill>
                <a:latin typeface="Noto Sans"/>
                <a:ea typeface="Noto Sans"/>
                <a:cs typeface="Noto Sans"/>
              </a:defRPr>
            </a:pPr>
            <a:r>
              <a:rPr sz="4800" b="1">
                <a:solidFill>
                  <a:srgbClr val="67E2C4"/>
                </a:solidFill>
                <a:latin typeface="Noto Sans"/>
                <a:ea typeface="Noto Sans"/>
                <a:cs typeface="Noto Sans"/>
              </a:rPr>
              <a:t>4.43M</a:t>
            </a:r>
          </a:p>
        </p:txBody>
      </p:sp>
      <p:sp>
        <p:nvSpPr>
          <p:cNvPr id="5" name="">
            <a:extLst xmlns:a="http://schemas.openxmlformats.org/drawingml/2006/main">
              <a:ext uri="{FF2B5EF4-FFF2-40B4-BE49-F238E27FC236}">
                <a16:creationId xmlns:a16="http://schemas.microsoft.com/office/drawing/2014/main" id="{AEFCF6B3-D728-473B-878B-D18C2015B8AE}"/>
              </a:ext>
            </a:extLst>
          </p:cNvPr>
          <p:cNvSpPr>
            <a:spLocks xmlns:a="http://schemas.openxmlformats.org/drawingml/2006/main" noGrp="1"/>
          </p:cNvSpPr>
          <p:nvPr/>
        </p:nvSpPr>
        <p:spPr>
          <a:xfrm xmlns:a="http://schemas.openxmlformats.org/drawingml/2006/main">
            <a:off x="8505825" y="2390775"/>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transactions audited</a:t>
            </a:r>
          </a:p>
        </p:txBody>
      </p:sp>
      <p:sp>
        <p:nvSpPr>
          <p:cNvPr id="6" name="">
            <a:extLst xmlns:a="http://schemas.openxmlformats.org/drawingml/2006/main">
              <a:ext uri="{FF2B5EF4-FFF2-40B4-BE49-F238E27FC236}">
                <a16:creationId xmlns:a16="http://schemas.microsoft.com/office/drawing/2014/main" id="{17150398-F450-44EB-9C2C-3BBB0D542A43}"/>
              </a:ext>
            </a:extLst>
          </p:cNvPr>
          <p:cNvSpPr>
            <a:spLocks xmlns:a="http://schemas.openxmlformats.org/drawingml/2006/main" noGrp="1"/>
          </p:cNvSpPr>
          <p:nvPr/>
        </p:nvSpPr>
        <p:spPr>
          <a:xfrm xmlns:a="http://schemas.openxmlformats.org/drawingml/2006/main">
            <a:off x="8477250" y="3209925"/>
            <a:ext cx="266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4800" b="1">
                <a:solidFill>
                  <a:srgbClr val="67E2C4"/>
                </a:solidFill>
                <a:latin typeface="Noto Sans"/>
                <a:ea typeface="Noto Sans"/>
                <a:cs typeface="Noto Sans"/>
              </a:defRPr>
            </a:pPr>
            <a:r>
              <a:rPr sz="4800" b="1">
                <a:solidFill>
                  <a:srgbClr val="67E2C4"/>
                </a:solidFill>
                <a:latin typeface="Noto Sans"/>
                <a:ea typeface="Noto Sans"/>
                <a:cs typeface="Noto Sans"/>
              </a:rPr>
              <a:t>42</a:t>
            </a:r>
          </a:p>
        </p:txBody>
      </p:sp>
      <p:sp>
        <p:nvSpPr>
          <p:cNvPr id="7" name="">
            <a:extLst xmlns:a="http://schemas.openxmlformats.org/drawingml/2006/main">
              <a:ext uri="{FF2B5EF4-FFF2-40B4-BE49-F238E27FC236}">
                <a16:creationId xmlns:a16="http://schemas.microsoft.com/office/drawing/2014/main" id="{E2FD56F8-DEC9-4EBD-B939-E585BC7300F6}"/>
              </a:ext>
            </a:extLst>
          </p:cNvPr>
          <p:cNvSpPr>
            <a:spLocks xmlns:a="http://schemas.openxmlformats.org/drawingml/2006/main" noGrp="1"/>
          </p:cNvSpPr>
          <p:nvPr/>
        </p:nvSpPr>
        <p:spPr>
          <a:xfrm xmlns:a="http://schemas.openxmlformats.org/drawingml/2006/main">
            <a:off x="8505825" y="3990975"/>
            <a:ext cx="304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distinct customer utterances</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in organizer transcripts</a:t>
            </a:r>
          </a:p>
        </p:txBody>
      </p:sp>
      <p:sp>
        <p:nvSpPr>
          <p:cNvPr id="8" name="">
            <a:extLst xmlns:a="http://schemas.openxmlformats.org/drawingml/2006/main">
              <a:ext uri="{FF2B5EF4-FFF2-40B4-BE49-F238E27FC236}">
                <a16:creationId xmlns:a16="http://schemas.microsoft.com/office/drawing/2014/main" id="{DFB89158-413F-4968-862E-BEB2CD90373E}"/>
              </a:ext>
            </a:extLst>
          </p:cNvPr>
          <p:cNvSpPr>
            <a:spLocks xmlns:a="http://schemas.openxmlformats.org/drawingml/2006/main" noGrp="1"/>
          </p:cNvSpPr>
          <p:nvPr/>
        </p:nvSpPr>
        <p:spPr>
          <a:xfrm xmlns:a="http://schemas.openxmlformats.org/drawingml/2006/main">
            <a:off x="638175" y="51625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F7FAFC"/>
                </a:solidFill>
                <a:latin typeface="Noto Sans"/>
                <a:ea typeface="Noto Sans"/>
                <a:cs typeface="Noto Sans"/>
              </a:defRPr>
            </a:pPr>
            <a:r>
              <a:rPr sz="2025" b="0">
                <a:solidFill>
                  <a:srgbClr val="F7FAFC"/>
                </a:solidFill>
                <a:latin typeface="Noto Sans"/>
                <a:ea typeface="Noto Sans"/>
                <a:cs typeface="Noto Sans"/>
              </a:rPr>
              <a:t>We keep organizer analysis, authored language scenarios and public demo fixtures separate.</a:t>
            </a:r>
          </a:p>
        </p:txBody>
      </p:sp>
      <p:sp>
        <p:nvSpPr>
          <p:cNvPr id="9" name="">
            <a:extLst xmlns:a="http://schemas.openxmlformats.org/drawingml/2006/main">
              <a:ext uri="{FF2B5EF4-FFF2-40B4-BE49-F238E27FC236}">
                <a16:creationId xmlns:a16="http://schemas.microsoft.com/office/drawing/2014/main" id="{62E95739-C920-49F6-99D4-3F5FB7225F5E}"/>
              </a:ext>
            </a:extLst>
          </p:cNvPr>
          <p:cNvSpPr>
            <a:spLocks xmlns:a="http://schemas.openxmlformats.org/drawingml/2006/main" noGrp="1"/>
          </p:cNvSpPr>
          <p:nvPr/>
        </p:nvSpPr>
        <p:spPr>
          <a:xfrm xmlns:a="http://schemas.openxmlformats.org/drawingml/2006/main">
            <a:off x="638175" y="63722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0">
                <a:solidFill>
                  <a:srgbClr val="A4B7C8"/>
                </a:solidFill>
                <a:latin typeface="Noto Sans"/>
                <a:ea typeface="Noto Sans"/>
                <a:cs typeface="Noto Sans"/>
              </a:defRPr>
            </a:pPr>
            <a:r>
              <a:rPr sz="1275" b="0">
                <a:solidFill>
                  <a:srgbClr val="A4B7C8"/>
                </a:solidFill>
                <a:latin typeface="Noto Sans"/>
                <a:ea typeface="Noto Sans"/>
                <a:cs typeface="Noto Sans"/>
              </a:rPr>
              <a:t>Factored AI &amp; Data Hackathon 2026  /  Team nicoceron</a:t>
            </a:r>
          </a:p>
        </p:txBody>
      </p:sp>
    </p:spTree>
    <p:extLst>
      <p:ext uri="{BB962C8B-B14F-4D97-AF65-F5344CB8AC3E}">
        <p14:creationId xmlns:p14="http://schemas.microsoft.com/office/powerpoint/2010/main" val="380709841"/>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27DF2F0-096F-4D29-A447-BDEBEE749157}"/>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43B"/>
                </a:solidFill>
                <a:latin typeface="Noto Sans"/>
                <a:ea typeface="Noto Sans"/>
                <a:cs typeface="Noto Sans"/>
              </a:defRPr>
            </a:pPr>
            <a:r>
              <a:rPr sz="3300" b="1">
                <a:solidFill>
                  <a:srgbClr val="14243B"/>
                </a:solidFill>
                <a:latin typeface="Noto Sans"/>
                <a:ea typeface="Noto Sans"/>
                <a:cs typeface="Noto Sans"/>
              </a:rPr>
              <a:t>One conversation from inquiry to follow-up</a:t>
            </a:r>
          </a:p>
        </p:txBody>
      </p:sp>
      <p:sp>
        <p:nvSpPr>
          <p:cNvPr id="2" name="">
            <a:extLst xmlns:a="http://schemas.openxmlformats.org/drawingml/2006/main">
              <a:ext uri="{FF2B5EF4-FFF2-40B4-BE49-F238E27FC236}">
                <a16:creationId xmlns:a16="http://schemas.microsoft.com/office/drawing/2014/main" id="{9E5AF2EF-33E3-41CA-9DF9-5D212C368734}"/>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87087"/>
                </a:solidFill>
                <a:latin typeface="Noto Sans"/>
                <a:ea typeface="Noto Sans"/>
                <a:cs typeface="Noto Sans"/>
              </a:defRPr>
            </a:pPr>
            <a:r>
              <a:rPr sz="1125" b="0">
                <a:solidFill>
                  <a:srgbClr val="587087"/>
                </a:solidFill>
                <a:latin typeface="Noto Sans"/>
                <a:ea typeface="Noto Sans"/>
                <a:cs typeface="Noto Sans"/>
              </a:rPr>
              <a:t>Claro  /  Factored 2026  /  2</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efac8499a0e84ce4"/>
          <a:srcRect xmlns:a="http://schemas.openxmlformats.org/drawingml/2006/main" l="33602" t="7225" r="33468" b="7514"/>
          <a:stretch xmlns:a="http://schemas.openxmlformats.org/drawingml/2006/main"/>
        </p:blipFill>
        <p:spPr>
          <a:xfrm xmlns:a="http://schemas.openxmlformats.org/drawingml/2006/main">
            <a:off x="786001" y="1457325"/>
            <a:ext cx="2599948" cy="46958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46EDCE7-8C68-4947-8A5F-426450EEE046}"/>
              </a:ext>
            </a:extLst>
          </p:cNvPr>
          <p:cNvSpPr>
            <a:spLocks xmlns:a="http://schemas.openxmlformats.org/drawingml/2006/main" noGrp="1"/>
          </p:cNvSpPr>
          <p:nvPr/>
        </p:nvSpPr>
        <p:spPr>
          <a:xfrm xmlns:a="http://schemas.openxmlformats.org/drawingml/2006/main">
            <a:off x="3857625" y="2162175"/>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149F8E"/>
                </a:solidFill>
                <a:latin typeface="Noto Sans"/>
                <a:ea typeface="Noto Sans"/>
                <a:cs typeface="Noto Sans"/>
              </a:defRPr>
            </a:pPr>
            <a:r>
              <a:rPr sz="1875" b="1">
                <a:solidFill>
                  <a:srgbClr val="149F8E"/>
                </a:solidFill>
                <a:latin typeface="Noto Sans"/>
                <a:ea typeface="Noto Sans"/>
                <a:cs typeface="Noto Sans"/>
              </a:rPr>
              <a:t>Attached record in this capture</a:t>
            </a:r>
          </a:p>
        </p:txBody>
      </p:sp>
      <p:sp>
        <p:nvSpPr>
          <p:cNvPr id="5" name="">
            <a:extLst xmlns:a="http://schemas.openxmlformats.org/drawingml/2006/main">
              <a:ext uri="{FF2B5EF4-FFF2-40B4-BE49-F238E27FC236}">
                <a16:creationId xmlns:a16="http://schemas.microsoft.com/office/drawing/2014/main" id="{B6E53F60-0284-4601-ADAC-E6986EF2AE7C}"/>
              </a:ext>
            </a:extLst>
          </p:cNvPr>
          <p:cNvSpPr>
            <a:spLocks xmlns:a="http://schemas.openxmlformats.org/drawingml/2006/main" noGrp="1"/>
          </p:cNvSpPr>
          <p:nvPr/>
        </p:nvSpPr>
        <p:spPr>
          <a:xfrm xmlns:a="http://schemas.openxmlformats.org/drawingml/2006/main">
            <a:off x="3857625" y="2686050"/>
            <a:ext cx="4000500" cy="1943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43B"/>
                </a:solidFill>
                <a:latin typeface="Noto Sans"/>
                <a:ea typeface="Noto Sans"/>
                <a:cs typeface="Noto Sans"/>
              </a:defRPr>
            </a:pPr>
            <a:r>
              <a:rPr sz="1875" b="0">
                <a:solidFill>
                  <a:srgbClr val="14243B"/>
                </a:solidFill>
                <a:latin typeface="Noto Sans"/>
                <a:ea typeface="Noto Sans"/>
                <a:cs typeface="Noto Sans"/>
              </a:rPr>
              <a:t>TX-ES-102</a:t>
            </a:r>
          </a:p>
          <a:p xmlns:a="http://schemas.openxmlformats.org/drawingml/2006/main">
            <a:pPr algn="l">
              <a:defRPr sz="1875" b="0">
                <a:solidFill>
                  <a:srgbClr val="14243B"/>
                </a:solidFill>
                <a:latin typeface="Noto Sans"/>
                <a:ea typeface="Noto Sans"/>
                <a:cs typeface="Noto Sans"/>
              </a:defRPr>
            </a:pPr>
            <a:r>
              <a:rPr sz="1875" b="0">
                <a:solidFill>
                  <a:srgbClr val="14243B"/>
                </a:solidFill>
                <a:latin typeface="Noto Sans"/>
                <a:ea typeface="Noto Sans"/>
                <a:cs typeface="Noto Sans"/>
              </a:rPr>
              <a:t>Tienda Demo</a:t>
            </a:r>
          </a:p>
          <a:p xmlns:a="http://schemas.openxmlformats.org/drawingml/2006/main">
            <a:pPr algn="l">
              <a:defRPr sz="1875" b="0">
                <a:solidFill>
                  <a:srgbClr val="14243B"/>
                </a:solidFill>
                <a:latin typeface="Noto Sans"/>
                <a:ea typeface="Noto Sans"/>
                <a:cs typeface="Noto Sans"/>
              </a:defRPr>
            </a:pPr>
            <a:r>
              <a:rPr sz="1875" b="0">
                <a:solidFill>
                  <a:srgbClr val="14243B"/>
                </a:solidFill>
                <a:latin typeface="Noto Sans"/>
                <a:ea typeface="Noto Sans"/>
                <a:cs typeface="Noto Sans"/>
              </a:rPr>
              <a:t>COP 129000.00</a:t>
            </a:r>
          </a:p>
          <a:p xmlns:a="http://schemas.openxmlformats.org/drawingml/2006/main">
            <a:pPr algn="l">
              <a:defRPr sz="1875" b="0">
                <a:solidFill>
                  <a:srgbClr val="14243B"/>
                </a:solidFill>
                <a:latin typeface="Noto Sans"/>
                <a:ea typeface="Noto Sans"/>
                <a:cs typeface="Noto Sans"/>
              </a:defRPr>
            </a:pPr>
            <a:r>
              <a:rPr sz="1875" b="0">
                <a:solidFill>
                  <a:srgbClr val="14243B"/>
                </a:solidFill>
                <a:latin typeface="Noto Sans"/>
                <a:ea typeface="Noto Sans"/>
                <a:cs typeface="Noto Sans"/>
              </a:rPr>
              <a:t>Pending</a:t>
            </a:r>
          </a:p>
          <a:p xmlns:a="http://schemas.openxmlformats.org/drawingml/2006/main">
            <a:pPr algn="l">
              <a:defRPr sz="1875" b="0">
                <a:solidFill>
                  <a:srgbClr val="14243B"/>
                </a:solidFill>
                <a:latin typeface="Noto Sans"/>
                <a:ea typeface="Noto Sans"/>
                <a:cs typeface="Noto Sans"/>
              </a:defRPr>
            </a:pPr>
            <a:r>
              <a:rPr sz="1875" b="0">
                <a:solidFill>
                  <a:srgbClr val="14243B"/>
                </a:solidFill>
                <a:latin typeface="Noto Sans"/>
                <a:ea typeface="Noto Sans"/>
                <a:cs typeface="Noto Sans"/>
              </a:rPr>
              <a:t>17 June 2026 snapshot</a:t>
            </a:r>
          </a:p>
        </p:txBody>
      </p:sp>
      <p:sp>
        <p:nvSpPr>
          <p:cNvPr id="6" name="">
            <a:extLst xmlns:a="http://schemas.openxmlformats.org/drawingml/2006/main">
              <a:ext uri="{FF2B5EF4-FFF2-40B4-BE49-F238E27FC236}">
                <a16:creationId xmlns:a16="http://schemas.microsoft.com/office/drawing/2014/main" id="{334B91D8-C825-45DE-9F1E-A6F3CD653359}"/>
              </a:ext>
            </a:extLst>
          </p:cNvPr>
          <p:cNvSpPr>
            <a:spLocks xmlns:a="http://schemas.openxmlformats.org/drawingml/2006/main" noGrp="1"/>
          </p:cNvSpPr>
          <p:nvPr/>
        </p:nvSpPr>
        <p:spPr>
          <a:xfrm xmlns:a="http://schemas.openxmlformats.org/drawingml/2006/main">
            <a:off x="3857625" y="4962525"/>
            <a:ext cx="4000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587087"/>
                </a:solidFill>
                <a:latin typeface="Noto Sans"/>
                <a:ea typeface="Noto Sans"/>
                <a:cs typeface="Noto Sans"/>
              </a:defRPr>
            </a:pPr>
            <a:r>
              <a:rPr sz="1650" b="0">
                <a:solidFill>
                  <a:srgbClr val="587087"/>
                </a:solidFill>
                <a:latin typeface="Noto Sans"/>
                <a:ea typeface="Noto Sans"/>
                <a:cs typeface="Noto Sans"/>
              </a:rPr>
              <a:t>The augmented redacted report</a:t>
            </a:r>
          </a:p>
          <a:p xmlns:a="http://schemas.openxmlformats.org/drawingml/2006/main">
            <a:pPr algn="l">
              <a:defRPr sz="1650" b="0">
                <a:solidFill>
                  <a:srgbClr val="587087"/>
                </a:solidFill>
                <a:latin typeface="Noto Sans"/>
                <a:ea typeface="Noto Sans"/>
                <a:cs typeface="Noto Sans"/>
              </a:defRPr>
            </a:pPr>
            <a:r>
              <a:rPr sz="1650" b="0">
                <a:solidFill>
                  <a:srgbClr val="587087"/>
                </a:solidFill>
                <a:latin typeface="Noto Sans"/>
                <a:ea typeface="Noto Sans"/>
                <a:cs typeface="Noto Sans"/>
              </a:rPr>
              <a:t>is visible before confirmation.</a:t>
            </a:r>
          </a:p>
        </p:txBody>
      </p:sp>
      <p:sp>
        <p:nvSpPr>
          <p:cNvPr id="7" name="">
            <a:extLst xmlns:a="http://schemas.openxmlformats.org/drawingml/2006/main">
              <a:ext uri="{FF2B5EF4-FFF2-40B4-BE49-F238E27FC236}">
                <a16:creationId xmlns:a16="http://schemas.microsoft.com/office/drawing/2014/main" id="{8582653E-A074-4723-84D1-E1567ACEA034}"/>
              </a:ext>
            </a:extLst>
          </p:cNvPr>
          <p:cNvSpPr>
            <a:spLocks xmlns:a="http://schemas.openxmlformats.org/drawingml/2006/main" noGrp="1"/>
          </p:cNvSpPr>
          <p:nvPr/>
        </p:nvSpPr>
        <p:spPr>
          <a:xfrm xmlns:a="http://schemas.openxmlformats.org/drawingml/2006/main">
            <a:off x="8382000" y="1695450"/>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149F8E"/>
                </a:solidFill>
                <a:latin typeface="Noto Sans"/>
                <a:ea typeface="Noto Sans"/>
                <a:cs typeface="Noto Sans"/>
              </a:defRPr>
            </a:pPr>
            <a:r>
              <a:rPr sz="2025" b="1">
                <a:solidFill>
                  <a:srgbClr val="149F8E"/>
                </a:solidFill>
                <a:latin typeface="Noto Sans"/>
                <a:ea typeface="Noto Sans"/>
                <a:cs typeface="Noto Sans"/>
              </a:rPr>
              <a:t>1  Start in chat</a:t>
            </a:r>
          </a:p>
        </p:txBody>
      </p:sp>
      <p:sp>
        <p:nvSpPr>
          <p:cNvPr id="8" name="">
            <a:extLst xmlns:a="http://schemas.openxmlformats.org/drawingml/2006/main">
              <a:ext uri="{FF2B5EF4-FFF2-40B4-BE49-F238E27FC236}">
                <a16:creationId xmlns:a16="http://schemas.microsoft.com/office/drawing/2014/main" id="{9C54F086-4EE0-4283-8C9D-2F89465DF5CB}"/>
              </a:ext>
            </a:extLst>
          </p:cNvPr>
          <p:cNvSpPr>
            <a:spLocks xmlns:a="http://schemas.openxmlformats.org/drawingml/2006/main" noGrp="1"/>
          </p:cNvSpPr>
          <p:nvPr/>
        </p:nvSpPr>
        <p:spPr>
          <a:xfrm xmlns:a="http://schemas.openxmlformats.org/drawingml/2006/main">
            <a:off x="8382000" y="2143125"/>
            <a:ext cx="314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Automatic ES/PT language.</a:t>
            </a:r>
          </a:p>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Clarify the transaction in chat.</a:t>
            </a:r>
          </a:p>
        </p:txBody>
      </p:sp>
      <p:sp>
        <p:nvSpPr>
          <p:cNvPr id="9" name="">
            <a:extLst xmlns:a="http://schemas.openxmlformats.org/drawingml/2006/main">
              <a:ext uri="{FF2B5EF4-FFF2-40B4-BE49-F238E27FC236}">
                <a16:creationId xmlns:a16="http://schemas.microsoft.com/office/drawing/2014/main" id="{76A3A81E-7754-40F5-AE55-39A0728428B7}"/>
              </a:ext>
            </a:extLst>
          </p:cNvPr>
          <p:cNvSpPr>
            <a:spLocks xmlns:a="http://schemas.openxmlformats.org/drawingml/2006/main" noGrp="1"/>
          </p:cNvSpPr>
          <p:nvPr/>
        </p:nvSpPr>
        <p:spPr>
          <a:xfrm xmlns:a="http://schemas.openxmlformats.org/drawingml/2006/main">
            <a:off x="8382000" y="3076575"/>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149F8E"/>
                </a:solidFill>
                <a:latin typeface="Noto Sans"/>
                <a:ea typeface="Noto Sans"/>
                <a:cs typeface="Noto Sans"/>
              </a:defRPr>
            </a:pPr>
            <a:r>
              <a:rPr sz="2025" b="1">
                <a:solidFill>
                  <a:srgbClr val="149F8E"/>
                </a:solidFill>
                <a:latin typeface="Noto Sans"/>
                <a:ea typeface="Noto Sans"/>
                <a:cs typeface="Noto Sans"/>
              </a:rPr>
              <a:t>2  Confirm and verify</a:t>
            </a:r>
          </a:p>
        </p:txBody>
      </p:sp>
      <p:sp>
        <p:nvSpPr>
          <p:cNvPr id="10" name="">
            <a:extLst xmlns:a="http://schemas.openxmlformats.org/drawingml/2006/main">
              <a:ext uri="{FF2B5EF4-FFF2-40B4-BE49-F238E27FC236}">
                <a16:creationId xmlns:a16="http://schemas.microsoft.com/office/drawing/2014/main" id="{82893D9F-C3F4-4DFC-9C59-E7225453216A}"/>
              </a:ext>
            </a:extLst>
          </p:cNvPr>
          <p:cNvSpPr>
            <a:spLocks xmlns:a="http://schemas.openxmlformats.org/drawingml/2006/main" noGrp="1"/>
          </p:cNvSpPr>
          <p:nvPr/>
        </p:nvSpPr>
        <p:spPr>
          <a:xfrm xmlns:a="http://schemas.openxmlformats.org/drawingml/2006/main">
            <a:off x="8382000" y="3524250"/>
            <a:ext cx="314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Inspect the attached record.</a:t>
            </a:r>
          </a:p>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Confirm, then read back.</a:t>
            </a:r>
          </a:p>
        </p:txBody>
      </p:sp>
      <p:sp>
        <p:nvSpPr>
          <p:cNvPr id="11" name="">
            <a:extLst xmlns:a="http://schemas.openxmlformats.org/drawingml/2006/main">
              <a:ext uri="{FF2B5EF4-FFF2-40B4-BE49-F238E27FC236}">
                <a16:creationId xmlns:a16="http://schemas.microsoft.com/office/drawing/2014/main" id="{D979196E-4768-49AB-9552-2D1765AD040E}"/>
              </a:ext>
            </a:extLst>
          </p:cNvPr>
          <p:cNvSpPr>
            <a:spLocks xmlns:a="http://schemas.openxmlformats.org/drawingml/2006/main" noGrp="1"/>
          </p:cNvSpPr>
          <p:nvPr/>
        </p:nvSpPr>
        <p:spPr>
          <a:xfrm xmlns:a="http://schemas.openxmlformats.org/drawingml/2006/main">
            <a:off x="8382000" y="4457700"/>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149F8E"/>
                </a:solidFill>
                <a:latin typeface="Noto Sans"/>
                <a:ea typeface="Noto Sans"/>
                <a:cs typeface="Noto Sans"/>
              </a:defRPr>
            </a:pPr>
            <a:r>
              <a:rPr sz="2025" b="1">
                <a:solidFill>
                  <a:srgbClr val="149F8E"/>
                </a:solidFill>
                <a:latin typeface="Noto Sans"/>
                <a:ea typeface="Noto Sans"/>
                <a:cs typeface="Noto Sans"/>
              </a:rPr>
              <a:t>3  Persist follow-up</a:t>
            </a:r>
          </a:p>
        </p:txBody>
      </p:sp>
      <p:sp>
        <p:nvSpPr>
          <p:cNvPr id="12" name="">
            <a:extLst xmlns:a="http://schemas.openxmlformats.org/drawingml/2006/main">
              <a:ext uri="{FF2B5EF4-FFF2-40B4-BE49-F238E27FC236}">
                <a16:creationId xmlns:a16="http://schemas.microsoft.com/office/drawing/2014/main" id="{97653172-5C31-4AA9-BAFE-E6083D9076B6}"/>
              </a:ext>
            </a:extLst>
          </p:cNvPr>
          <p:cNvSpPr>
            <a:spLocks xmlns:a="http://schemas.openxmlformats.org/drawingml/2006/main" noGrp="1"/>
          </p:cNvSpPr>
          <p:nvPr/>
        </p:nvSpPr>
        <p:spPr>
          <a:xfrm xmlns:a="http://schemas.openxmlformats.org/drawingml/2006/main">
            <a:off x="8382000" y="4905375"/>
            <a:ext cx="314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Ask a specific question.</a:t>
            </a:r>
          </a:p>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Reply in the same composer.</a:t>
            </a:r>
          </a:p>
        </p:txBody>
      </p:sp>
    </p:spTree>
    <p:extLst>
      <p:ext uri="{BB962C8B-B14F-4D97-AF65-F5344CB8AC3E}">
        <p14:creationId xmlns:p14="http://schemas.microsoft.com/office/powerpoint/2010/main" val="433825187"/>
      </p:ext>
    </p:extLst>
  </p:cSld>
</p:sld>
</file>

<file path=ppt/slides/slide3.xml><?xml version="1.0" encoding="utf-8"?>
<p:sld xmlns:p="http://schemas.openxmlformats.org/presentationml/2006/main">
  <p:cSld>
    <p:bg>
      <p:bgPr>
        <a:solidFill xmlns:a="http://schemas.openxmlformats.org/drawingml/2006/main">
          <a:srgbClr val="0B1932"/>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1A88183-07EE-47F1-A75A-E9E22C5BDE72}"/>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F7FAFC"/>
                </a:solidFill>
                <a:latin typeface="Noto Sans"/>
                <a:ea typeface="Noto Sans"/>
                <a:cs typeface="Noto Sans"/>
              </a:defRPr>
            </a:pPr>
            <a:r>
              <a:rPr sz="3300" b="1">
                <a:solidFill>
                  <a:srgbClr val="F7FAFC"/>
                </a:solidFill>
                <a:latin typeface="Noto Sans"/>
                <a:ea typeface="Noto Sans"/>
                <a:cs typeface="Noto Sans"/>
              </a:rPr>
              <a:t>Permissions and actions stay in service code</a:t>
            </a:r>
          </a:p>
        </p:txBody>
      </p:sp>
      <p:sp>
        <p:nvSpPr>
          <p:cNvPr id="2" name="">
            <a:extLst xmlns:a="http://schemas.openxmlformats.org/drawingml/2006/main">
              <a:ext uri="{FF2B5EF4-FFF2-40B4-BE49-F238E27FC236}">
                <a16:creationId xmlns:a16="http://schemas.microsoft.com/office/drawing/2014/main" id="{73A1D261-F3BF-4421-808B-C5B09AC9675C}"/>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A4B7C8"/>
                </a:solidFill>
                <a:latin typeface="Noto Sans"/>
                <a:ea typeface="Noto Sans"/>
                <a:cs typeface="Noto Sans"/>
              </a:defRPr>
            </a:pPr>
            <a:r>
              <a:rPr sz="1125" b="0">
                <a:solidFill>
                  <a:srgbClr val="A4B7C8"/>
                </a:solidFill>
                <a:latin typeface="Noto Sans"/>
                <a:ea typeface="Noto Sans"/>
                <a:cs typeface="Noto Sans"/>
              </a:rPr>
              <a:t>Claro  /  Factored 2026  /  3</a:t>
            </a:r>
          </a:p>
        </p:txBody>
      </p:sp>
      <p:sp>
        <p:nvSpPr>
          <p:cNvPr id="3" name="">
            <a:extLst xmlns:a="http://schemas.openxmlformats.org/drawingml/2006/main">
              <a:ext uri="{FF2B5EF4-FFF2-40B4-BE49-F238E27FC236}">
                <a16:creationId xmlns:a16="http://schemas.microsoft.com/office/drawing/2014/main" id="{CEA668FB-3F68-45A5-B712-261D237AB1BA}"/>
              </a:ext>
            </a:extLst>
          </p:cNvPr>
          <p:cNvSpPr>
            <a:spLocks xmlns:a="http://schemas.openxmlformats.org/drawingml/2006/main" noGrp="1"/>
          </p:cNvSpPr>
          <p:nvPr/>
        </p:nvSpPr>
        <p:spPr>
          <a:xfrm xmlns:a="http://schemas.openxmlformats.org/drawingml/2006/main">
            <a:off x="609600" y="140017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A4B7C8"/>
                </a:solidFill>
                <a:latin typeface="Noto Sans"/>
                <a:ea typeface="Noto Sans"/>
                <a:cs typeface="Noto Sans"/>
              </a:defRPr>
            </a:pPr>
            <a:r>
              <a:rPr sz="1875" b="0">
                <a:solidFill>
                  <a:srgbClr val="A4B7C8"/>
                </a:solidFill>
                <a:latin typeface="Noto Sans"/>
                <a:ea typeface="Noto Sans"/>
                <a:cs typeface="Noto Sans"/>
              </a:rPr>
              <a:t>Optional providers are implemented and mock-tested. Live inference remains unverified.</a:t>
            </a:r>
          </a:p>
        </p:txBody>
      </p:sp>
      <p:sp>
        <p:nvSpPr>
          <p:cNvPr id="4" name="">
            <a:extLst xmlns:a="http://schemas.openxmlformats.org/drawingml/2006/main">
              <a:ext uri="{FF2B5EF4-FFF2-40B4-BE49-F238E27FC236}">
                <a16:creationId xmlns:a16="http://schemas.microsoft.com/office/drawing/2014/main" id="{3ECA36BF-A2CA-431C-ABCD-CD2D0ECA8FD2}"/>
              </a:ext>
            </a:extLst>
          </p:cNvPr>
          <p:cNvSpPr>
            <a:spLocks xmlns:a="http://schemas.openxmlformats.org/drawingml/2006/main" noGrp="1"/>
          </p:cNvSpPr>
          <p:nvPr/>
        </p:nvSpPr>
        <p:spPr>
          <a:xfrm xmlns:a="http://schemas.openxmlformats.org/drawingml/2006/main">
            <a:off x="609600" y="2314575"/>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ES / PT browser</a:t>
            </a:r>
          </a:p>
        </p:txBody>
      </p:sp>
      <p:sp>
        <p:nvSpPr>
          <p:cNvPr id="5" name="">
            <a:extLst xmlns:a="http://schemas.openxmlformats.org/drawingml/2006/main">
              <a:ext uri="{FF2B5EF4-FFF2-40B4-BE49-F238E27FC236}">
                <a16:creationId xmlns:a16="http://schemas.microsoft.com/office/drawing/2014/main" id="{6B8AFABD-F909-4D8F-8965-4C5B494E7CC9}"/>
              </a:ext>
            </a:extLst>
          </p:cNvPr>
          <p:cNvSpPr>
            <a:spLocks xmlns:a="http://schemas.openxmlformats.org/drawingml/2006/main" noGrp="1"/>
          </p:cNvSpPr>
          <p:nvPr/>
        </p:nvSpPr>
        <p:spPr>
          <a:xfrm xmlns:a="http://schemas.openxmlformats.org/drawingml/2006/main">
            <a:off x="3467100" y="2314575"/>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Scoped sessions</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and record tools</a:t>
            </a:r>
          </a:p>
        </p:txBody>
      </p:sp>
      <p:sp>
        <p:nvSpPr>
          <p:cNvPr id="6" name="">
            <a:extLst xmlns:a="http://schemas.openxmlformats.org/drawingml/2006/main">
              <a:ext uri="{FF2B5EF4-FFF2-40B4-BE49-F238E27FC236}">
                <a16:creationId xmlns:a16="http://schemas.microsoft.com/office/drawing/2014/main" id="{BF179CCB-F4A6-4B30-B242-F6DDC47A9895}"/>
              </a:ext>
            </a:extLst>
          </p:cNvPr>
          <p:cNvSpPr>
            <a:spLocks xmlns:a="http://schemas.openxmlformats.org/drawingml/2006/main" noGrp="1"/>
          </p:cNvSpPr>
          <p:nvPr/>
        </p:nvSpPr>
        <p:spPr>
          <a:xfrm xmlns:a="http://schemas.openxmlformats.org/drawingml/2006/main">
            <a:off x="6324600" y="2314575"/>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Jev or local</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routing</a:t>
            </a:r>
          </a:p>
        </p:txBody>
      </p:sp>
      <p:sp>
        <p:nvSpPr>
          <p:cNvPr id="7" name="">
            <a:extLst xmlns:a="http://schemas.openxmlformats.org/drawingml/2006/main">
              <a:ext uri="{FF2B5EF4-FFF2-40B4-BE49-F238E27FC236}">
                <a16:creationId xmlns:a16="http://schemas.microsoft.com/office/drawing/2014/main" id="{0ED0533F-0E7C-4AB6-8B15-1AA9A2839957}"/>
              </a:ext>
            </a:extLst>
          </p:cNvPr>
          <p:cNvSpPr>
            <a:spLocks xmlns:a="http://schemas.openxmlformats.org/drawingml/2006/main" noGrp="1"/>
          </p:cNvSpPr>
          <p:nvPr/>
        </p:nvSpPr>
        <p:spPr>
          <a:xfrm xmlns:a="http://schemas.openxmlformats.org/drawingml/2006/main">
            <a:off x="9182100" y="2314575"/>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Deterministic</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workflow</a:t>
            </a:r>
          </a:p>
        </p:txBody>
      </p:sp>
      <p:sp>
        <p:nvSpPr>
          <p:cNvPr id="8" name="">
            <a:extLst xmlns:a="http://schemas.openxmlformats.org/drawingml/2006/main">
              <a:ext uri="{FF2B5EF4-FFF2-40B4-BE49-F238E27FC236}">
                <a16:creationId xmlns:a16="http://schemas.microsoft.com/office/drawing/2014/main" id="{D4C924E8-7239-4BB5-B170-D915148785D7}"/>
              </a:ext>
            </a:extLst>
          </p:cNvPr>
          <p:cNvSpPr>
            <a:spLocks xmlns:a="http://schemas.openxmlformats.org/drawingml/2006/main" noGrp="1"/>
          </p:cNvSpPr>
          <p:nvPr/>
        </p:nvSpPr>
        <p:spPr>
          <a:xfrm xmlns:a="http://schemas.openxmlformats.org/drawingml/2006/main">
            <a:off x="3467100" y="4286250"/>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Case history</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and follow-up</a:t>
            </a:r>
          </a:p>
        </p:txBody>
      </p:sp>
      <p:sp>
        <p:nvSpPr>
          <p:cNvPr id="9" name="">
            <a:extLst xmlns:a="http://schemas.openxmlformats.org/drawingml/2006/main">
              <a:ext uri="{FF2B5EF4-FFF2-40B4-BE49-F238E27FC236}">
                <a16:creationId xmlns:a16="http://schemas.microsoft.com/office/drawing/2014/main" id="{E583271D-CA0F-41D0-B978-8A8CD49E5BA8}"/>
              </a:ext>
            </a:extLst>
          </p:cNvPr>
          <p:cNvSpPr>
            <a:spLocks xmlns:a="http://schemas.openxmlformats.org/drawingml/2006/main" noGrp="1"/>
          </p:cNvSpPr>
          <p:nvPr/>
        </p:nvSpPr>
        <p:spPr>
          <a:xfrm xmlns:a="http://schemas.openxmlformats.org/drawingml/2006/main">
            <a:off x="6324600" y="4286250"/>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SQLite commit</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and read-back</a:t>
            </a:r>
          </a:p>
        </p:txBody>
      </p:sp>
      <p:sp>
        <p:nvSpPr>
          <p:cNvPr id="10" name="">
            <a:extLst xmlns:a="http://schemas.openxmlformats.org/drawingml/2006/main">
              <a:ext uri="{FF2B5EF4-FFF2-40B4-BE49-F238E27FC236}">
                <a16:creationId xmlns:a16="http://schemas.microsoft.com/office/drawing/2014/main" id="{97AB6506-0B83-4DB3-B5A7-6A763ACF8FAC}"/>
              </a:ext>
            </a:extLst>
          </p:cNvPr>
          <p:cNvSpPr>
            <a:spLocks xmlns:a="http://schemas.openxmlformats.org/drawingml/2006/main" noGrp="1"/>
          </p:cNvSpPr>
          <p:nvPr/>
        </p:nvSpPr>
        <p:spPr>
          <a:xfrm xmlns:a="http://schemas.openxmlformats.org/drawingml/2006/main">
            <a:off x="9182100" y="4286250"/>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Explicit case</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confirmation</a:t>
            </a:r>
          </a:p>
        </p:txBody>
      </p:sp>
      <p:cxnSp>
        <p:nvCxnSpPr>
          <p:cNvPr id="29" name=""/>
          <p:cNvCxnSpPr>
            <a:stCxn xmlns:a="http://schemas.openxmlformats.org/drawingml/2006/main" id="4" idx="3"/>
            <a:endCxn xmlns:a="http://schemas.openxmlformats.org/drawingml/2006/main" id="5" idx="1"/>
          </p:cNvCxnSpPr>
          <p:nvPr/>
        </p:nvCxnSpPr>
        <p:spPr>
          <a:xfrm xmlns:a="http://schemas.openxmlformats.org/drawingml/2006/main">
            <a:off x="2800350" y="2771775"/>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0" name=""/>
          <p:cNvCxnSpPr>
            <a:stCxn xmlns:a="http://schemas.openxmlformats.org/drawingml/2006/main" id="5" idx="3"/>
            <a:endCxn xmlns:a="http://schemas.openxmlformats.org/drawingml/2006/main" id="6" idx="1"/>
          </p:cNvCxnSpPr>
          <p:nvPr/>
        </p:nvCxnSpPr>
        <p:spPr>
          <a:xfrm xmlns:a="http://schemas.openxmlformats.org/drawingml/2006/main">
            <a:off x="5657850" y="2771775"/>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1" name=""/>
          <p:cNvCxnSpPr>
            <a:stCxn xmlns:a="http://schemas.openxmlformats.org/drawingml/2006/main" id="6" idx="3"/>
            <a:endCxn xmlns:a="http://schemas.openxmlformats.org/drawingml/2006/main" id="7" idx="1"/>
          </p:cNvCxnSpPr>
          <p:nvPr/>
        </p:nvCxnSpPr>
        <p:spPr>
          <a:xfrm xmlns:a="http://schemas.openxmlformats.org/drawingml/2006/main">
            <a:off x="8515350" y="2771775"/>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2" name=""/>
          <p:cNvCxnSpPr>
            <a:stCxn xmlns:a="http://schemas.openxmlformats.org/drawingml/2006/main" id="7" idx="2"/>
            <a:endCxn xmlns:a="http://schemas.openxmlformats.org/drawingml/2006/main" id="10" idx="0"/>
          </p:cNvCxnSpPr>
          <p:nvPr/>
        </p:nvCxnSpPr>
        <p:spPr>
          <a:xfrm xmlns:a="http://schemas.openxmlformats.org/drawingml/2006/main">
            <a:off x="10277475" y="3228975"/>
            <a:ext cx="0" cy="1057275"/>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3" name=""/>
          <p:cNvCxnSpPr>
            <a:stCxn xmlns:a="http://schemas.openxmlformats.org/drawingml/2006/main" id="10" idx="1"/>
            <a:endCxn xmlns:a="http://schemas.openxmlformats.org/drawingml/2006/main" id="9" idx="3"/>
          </p:cNvCxnSpPr>
          <p:nvPr/>
        </p:nvCxnSpPr>
        <p:spPr>
          <a:xfrm xmlns:a="http://schemas.openxmlformats.org/drawingml/2006/main" flipH="1">
            <a:off x="8515350" y="4743450"/>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4" name=""/>
          <p:cNvCxnSpPr>
            <a:stCxn xmlns:a="http://schemas.openxmlformats.org/drawingml/2006/main" id="9" idx="1"/>
            <a:endCxn xmlns:a="http://schemas.openxmlformats.org/drawingml/2006/main" id="8" idx="3"/>
          </p:cNvCxnSpPr>
          <p:nvPr/>
        </p:nvCxnSpPr>
        <p:spPr>
          <a:xfrm xmlns:a="http://schemas.openxmlformats.org/drawingml/2006/main" flipH="1">
            <a:off x="5657850" y="4743450"/>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sp>
        <p:nvSpPr>
          <p:cNvPr id="17" name="">
            <a:extLst xmlns:a="http://schemas.openxmlformats.org/drawingml/2006/main">
              <a:ext uri="{FF2B5EF4-FFF2-40B4-BE49-F238E27FC236}">
                <a16:creationId xmlns:a16="http://schemas.microsoft.com/office/drawing/2014/main" id="{CDE62E99-92BF-47E4-A1C3-4FC2B967ECD4}"/>
              </a:ext>
            </a:extLst>
          </p:cNvPr>
          <p:cNvSpPr>
            <a:spLocks xmlns:a="http://schemas.openxmlformats.org/drawingml/2006/main" noGrp="1"/>
          </p:cNvSpPr>
          <p:nvPr/>
        </p:nvSpPr>
        <p:spPr>
          <a:xfrm xmlns:a="http://schemas.openxmlformats.org/drawingml/2006/main">
            <a:off x="609600" y="4286250"/>
            <a:ext cx="2590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A4B7C8"/>
                </a:solidFill>
                <a:latin typeface="Noto Sans"/>
                <a:ea typeface="Noto Sans"/>
                <a:cs typeface="Noto Sans"/>
              </a:defRPr>
            </a:pPr>
            <a:r>
              <a:rPr sz="1650" b="0">
                <a:solidFill>
                  <a:srgbClr val="A4B7C8"/>
                </a:solidFill>
                <a:latin typeface="Noto Sans"/>
                <a:ea typeface="Noto Sans"/>
                <a:cs typeface="Noto Sans"/>
              </a:rPr>
              <a:t>Optional DeepSeek Flash</a:t>
            </a:r>
          </a:p>
          <a:p xmlns:a="http://schemas.openxmlformats.org/drawingml/2006/main">
            <a:pPr algn="l">
              <a:defRPr sz="1650" b="0">
                <a:solidFill>
                  <a:srgbClr val="A4B7C8"/>
                </a:solidFill>
                <a:latin typeface="Noto Sans"/>
                <a:ea typeface="Noto Sans"/>
                <a:cs typeface="Noto Sans"/>
              </a:defRPr>
            </a:pPr>
            <a:r>
              <a:rPr sz="1650" b="0">
                <a:solidFill>
                  <a:srgbClr val="A4B7C8"/>
                </a:solidFill>
                <a:latin typeface="Noto Sans"/>
                <a:ea typeface="Noto Sans"/>
                <a:cs typeface="Noto Sans"/>
              </a:rPr>
              <a:t>phrasing with constrained</a:t>
            </a:r>
          </a:p>
          <a:p xmlns:a="http://schemas.openxmlformats.org/drawingml/2006/main">
            <a:pPr algn="l">
              <a:defRPr sz="1650" b="0">
                <a:solidFill>
                  <a:srgbClr val="A4B7C8"/>
                </a:solidFill>
                <a:latin typeface="Noto Sans"/>
                <a:ea typeface="Noto Sans"/>
                <a:cs typeface="Noto Sans"/>
              </a:defRPr>
            </a:pPr>
            <a:r>
              <a:rPr sz="1650" b="0">
                <a:solidFill>
                  <a:srgbClr val="A4B7C8"/>
                </a:solidFill>
                <a:latin typeface="Noto Sans"/>
                <a:ea typeface="Noto Sans"/>
                <a:cs typeface="Noto Sans"/>
              </a:rPr>
              <a:t>facts and local fallback</a:t>
            </a:r>
          </a:p>
        </p:txBody>
      </p:sp>
      <p:sp>
        <p:nvSpPr>
          <p:cNvPr id="18" name="">
            <a:extLst xmlns:a="http://schemas.openxmlformats.org/drawingml/2006/main">
              <a:ext uri="{FF2B5EF4-FFF2-40B4-BE49-F238E27FC236}">
                <a16:creationId xmlns:a16="http://schemas.microsoft.com/office/drawing/2014/main" id="{A4836049-6034-4829-A288-444F44B85058}"/>
              </a:ext>
            </a:extLst>
          </p:cNvPr>
          <p:cNvSpPr>
            <a:spLocks xmlns:a="http://schemas.openxmlformats.org/drawingml/2006/main" noGrp="1"/>
          </p:cNvSpPr>
          <p:nvPr/>
        </p:nvSpPr>
        <p:spPr>
          <a:xfrm xmlns:a="http://schemas.openxmlformats.org/drawingml/2006/main">
            <a:off x="609600" y="56388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Opaque sessions + CSRF     Customer/workspace isolation     Idempotent confirmed writes</a:t>
            </a:r>
          </a:p>
        </p:txBody>
      </p:sp>
    </p:spTree>
    <p:extLst>
      <p:ext uri="{BB962C8B-B14F-4D97-AF65-F5344CB8AC3E}">
        <p14:creationId xmlns:p14="http://schemas.microsoft.com/office/powerpoint/2010/main" val="472654886"/>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360AA16-6069-4158-9E7F-09BB43A6A725}"/>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43B"/>
                </a:solidFill>
                <a:latin typeface="Noto Sans"/>
                <a:ea typeface="Noto Sans"/>
                <a:cs typeface="Noto Sans"/>
              </a:defRPr>
            </a:pPr>
            <a:r>
              <a:rPr sz="3300" b="1">
                <a:solidFill>
                  <a:srgbClr val="14243B"/>
                </a:solidFill>
                <a:latin typeface="Noto Sans"/>
                <a:ea typeface="Noto Sans"/>
                <a:cs typeface="Noto Sans"/>
              </a:rPr>
              <a:t>Fraud candidates did not earn release</a:t>
            </a:r>
          </a:p>
        </p:txBody>
      </p:sp>
      <p:sp>
        <p:nvSpPr>
          <p:cNvPr id="2" name="">
            <a:extLst xmlns:a="http://schemas.openxmlformats.org/drawingml/2006/main">
              <a:ext uri="{FF2B5EF4-FFF2-40B4-BE49-F238E27FC236}">
                <a16:creationId xmlns:a16="http://schemas.microsoft.com/office/drawing/2014/main" id="{7176B4EF-2F04-4FEF-A579-9A75F4E67FBD}"/>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87087"/>
                </a:solidFill>
                <a:latin typeface="Noto Sans"/>
                <a:ea typeface="Noto Sans"/>
                <a:cs typeface="Noto Sans"/>
              </a:defRPr>
            </a:pPr>
            <a:r>
              <a:rPr sz="1125" b="0">
                <a:solidFill>
                  <a:srgbClr val="587087"/>
                </a:solidFill>
                <a:latin typeface="Noto Sans"/>
                <a:ea typeface="Noto Sans"/>
                <a:cs typeface="Noto Sans"/>
              </a:rPr>
              <a:t>Claro  /  Factored 2026  /  4</a:t>
            </a:r>
          </a:p>
        </p:txBody>
      </p:sp>
      <p:sp>
        <p:nvSpPr>
          <p:cNvPr id="3" name="">
            <a:extLst xmlns:a="http://schemas.openxmlformats.org/drawingml/2006/main">
              <a:ext uri="{FF2B5EF4-FFF2-40B4-BE49-F238E27FC236}">
                <a16:creationId xmlns:a16="http://schemas.microsoft.com/office/drawing/2014/main" id="{24C303F8-F53B-4387-ADD9-7E38F38881A0}"/>
              </a:ext>
            </a:extLst>
          </p:cNvPr>
          <p:cNvSpPr>
            <a:spLocks xmlns:a="http://schemas.openxmlformats.org/drawingml/2006/main" noGrp="1"/>
          </p:cNvSpPr>
          <p:nvPr/>
        </p:nvSpPr>
        <p:spPr>
          <a:xfrm xmlns:a="http://schemas.openxmlformats.org/drawingml/2006/main">
            <a:off x="609600" y="1533525"/>
            <a:ext cx="5381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9F8E"/>
                </a:solidFill>
                <a:latin typeface="Noto Sans"/>
                <a:ea typeface="Noto Sans"/>
                <a:cs typeface="Noto Sans"/>
              </a:defRPr>
            </a:pPr>
            <a:r>
              <a:rPr sz="2175" b="1">
                <a:solidFill>
                  <a:srgbClr val="149F8E"/>
                </a:solidFill>
                <a:latin typeface="Noto Sans"/>
                <a:ea typeface="Noto Sans"/>
                <a:cs typeface="Noto Sans"/>
              </a:rPr>
              <a:t>4,425,008 validated transactions</a:t>
            </a:r>
          </a:p>
        </p:txBody>
      </p:sp>
      <p:sp>
        <p:nvSpPr>
          <p:cNvPr id="4" name="">
            <a:extLst xmlns:a="http://schemas.openxmlformats.org/drawingml/2006/main">
              <a:ext uri="{FF2B5EF4-FFF2-40B4-BE49-F238E27FC236}">
                <a16:creationId xmlns:a16="http://schemas.microsoft.com/office/drawing/2014/main" id="{4EBDC7FC-A17E-4BD7-9A49-78669FEA3862}"/>
              </a:ext>
            </a:extLst>
          </p:cNvPr>
          <p:cNvSpPr>
            <a:spLocks xmlns:a="http://schemas.openxmlformats.org/drawingml/2006/main" noGrp="1"/>
          </p:cNvSpPr>
          <p:nvPr/>
        </p:nvSpPr>
        <p:spPr>
          <a:xfrm xmlns:a="http://schemas.openxmlformats.org/drawingml/2006/main">
            <a:off x="609600" y="2124075"/>
            <a:ext cx="5143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Contracts, quarantine and source hashes</a:t>
            </a:r>
          </a:p>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Strictly prior customer/currency history</a:t>
            </a:r>
          </a:p>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Two full runs with identical feature bytes</a:t>
            </a:r>
          </a:p>
        </p:txBody>
      </p:sp>
      <p:sp>
        <p:nvSpPr>
          <p:cNvPr id="5" name="">
            <a:extLst xmlns:a="http://schemas.openxmlformats.org/drawingml/2006/main">
              <a:ext uri="{FF2B5EF4-FFF2-40B4-BE49-F238E27FC236}">
                <a16:creationId xmlns:a16="http://schemas.microsoft.com/office/drawing/2014/main" id="{799A7CB2-F05F-42C5-B9B2-FB5DF21F03B3}"/>
              </a:ext>
            </a:extLst>
          </p:cNvPr>
          <p:cNvSpPr>
            <a:spLocks xmlns:a="http://schemas.openxmlformats.org/drawingml/2006/main" noGrp="1"/>
          </p:cNvSpPr>
          <p:nvPr/>
        </p:nvSpPr>
        <p:spPr>
          <a:xfrm xmlns:a="http://schemas.openxmlformats.org/drawingml/2006/main">
            <a:off x="609600" y="36195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149F8E"/>
                </a:solidFill>
                <a:latin typeface="Noto Sans"/>
                <a:ea typeface="Noto Sans"/>
                <a:cs typeface="Noto Sans"/>
              </a:defRPr>
            </a:pPr>
            <a:r>
              <a:rPr sz="2025" b="1">
                <a:solidFill>
                  <a:srgbClr val="149F8E"/>
                </a:solidFill>
                <a:latin typeface="Noto Sans"/>
                <a:ea typeface="Noto Sans"/>
                <a:cs typeface="Noto Sans"/>
              </a:rPr>
              <a:t>Temporal evaluation</a:t>
            </a:r>
          </a:p>
        </p:txBody>
      </p:sp>
      <p:sp>
        <p:nvSpPr>
          <p:cNvPr id="6" name="">
            <a:extLst xmlns:a="http://schemas.openxmlformats.org/drawingml/2006/main">
              <a:ext uri="{FF2B5EF4-FFF2-40B4-BE49-F238E27FC236}">
                <a16:creationId xmlns:a16="http://schemas.microsoft.com/office/drawing/2014/main" id="{192AA6B6-E07D-4903-9EB2-AD8922A91D03}"/>
              </a:ext>
            </a:extLst>
          </p:cNvPr>
          <p:cNvSpPr>
            <a:spLocks xmlns:a="http://schemas.openxmlformats.org/drawingml/2006/main" noGrp="1"/>
          </p:cNvSpPr>
          <p:nvPr/>
        </p:nvSpPr>
        <p:spPr>
          <a:xfrm xmlns:a="http://schemas.openxmlformats.org/drawingml/2006/main">
            <a:off x="609600" y="4095750"/>
            <a:ext cx="509587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Train before January 2026</a:t>
            </a:r>
          </a:p>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Calibrate January, select February</a:t>
            </a:r>
          </a:p>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Test March through the June snapshot</a:t>
            </a:r>
          </a:p>
        </p:txBody>
      </p:sp>
      <p:sp>
        <p:nvSpPr>
          <p:cNvPr id="7" name="">
            <a:extLst xmlns:a="http://schemas.openxmlformats.org/drawingml/2006/main">
              <a:ext uri="{FF2B5EF4-FFF2-40B4-BE49-F238E27FC236}">
                <a16:creationId xmlns:a16="http://schemas.microsoft.com/office/drawing/2014/main" id="{C99FCBD2-04D8-4BA0-BC7C-D3FFAA24EDAF}"/>
              </a:ext>
            </a:extLst>
          </p:cNvPr>
          <p:cNvSpPr>
            <a:spLocks xmlns:a="http://schemas.openxmlformats.org/drawingml/2006/main" noGrp="1"/>
          </p:cNvSpPr>
          <p:nvPr/>
        </p:nvSpPr>
        <p:spPr>
          <a:xfrm xmlns:a="http://schemas.openxmlformats.org/drawingml/2006/main">
            <a:off x="6191250" y="1485900"/>
            <a:ext cx="5381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14243B"/>
                </a:solidFill>
                <a:latin typeface="Noto Sans"/>
                <a:ea typeface="Noto Sans"/>
                <a:cs typeface="Noto Sans"/>
              </a:defRPr>
            </a:pPr>
            <a:r>
              <a:rPr sz="1875" b="1">
                <a:solidFill>
                  <a:srgbClr val="14243B"/>
                </a:solidFill>
                <a:latin typeface="Noto Sans"/>
                <a:ea typeface="Noto Sans"/>
                <a:cs typeface="Noto Sans"/>
              </a:rPr>
              <a:t>451,823 test transactions / 409 fraud labels</a:t>
            </a:r>
          </a:p>
        </p:txBody>
      </p:sp>
      <p:sp>
        <p:nvSpPr>
          <p:cNvPr id="8" name="">
            <a:extLst xmlns:a="http://schemas.openxmlformats.org/drawingml/2006/main">
              <a:ext uri="{FF2B5EF4-FFF2-40B4-BE49-F238E27FC236}">
                <a16:creationId xmlns:a16="http://schemas.microsoft.com/office/drawing/2014/main" id="{CFAC27B1-7E05-4641-898C-56B9F99B8C9D}"/>
              </a:ext>
            </a:extLst>
          </p:cNvPr>
          <p:cNvSpPr>
            <a:spLocks xmlns:a="http://schemas.openxmlformats.org/drawingml/2006/main" noGrp="1"/>
          </p:cNvSpPr>
          <p:nvPr/>
        </p:nvSpPr>
        <p:spPr>
          <a:xfrm xmlns:a="http://schemas.openxmlformats.org/drawingml/2006/main">
            <a:off x="6191250" y="1933575"/>
            <a:ext cx="5381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587087"/>
                </a:solidFill>
                <a:latin typeface="Noto Sans"/>
                <a:ea typeface="Noto Sans"/>
                <a:cs typeface="Noto Sans"/>
              </a:defRPr>
            </a:pPr>
            <a:r>
              <a:rPr sz="1575" b="0">
                <a:solidFill>
                  <a:srgbClr val="587087"/>
                </a:solidFill>
                <a:latin typeface="Noto Sans"/>
                <a:ea typeface="Noto Sans"/>
                <a:cs typeface="Noto Sans"/>
              </a:rPr>
              <a:t>Average precision</a:t>
            </a:r>
          </a:p>
        </p:txBody>
      </p:sp>
      <p:graphicFrame>
        <p:nvGraphicFramePr>
          <p:cNvPr id="21" name="Chart"/>
          <p:cNvGraphicFramePr/>
          <p:nvPr/>
        </p:nvGraphicFramePr>
        <p:xfrm>
          <a:off xmlns:a="http://schemas.openxmlformats.org/drawingml/2006/main" x="6115050" y="2305050"/>
          <a:ext xmlns:a="http://schemas.openxmlformats.org/drawingml/2006/main" cx="5400675" cy="2857500"/>
        </p:xfrm>
        <a:graphic xmlns:a="http://schemas.openxmlformats.org/drawingml/2006/main">
          <a:graphicData uri="http://schemas.openxmlformats.org/drawingml/2006/chart">
            <c:chart xmlns:r="http://schemas.openxmlformats.org/officeDocument/2006/relationships" xmlns:c="http://schemas.openxmlformats.org/drawingml/2006/chart" r:id="Rb3b812dab7504cac"/>
          </a:graphicData>
        </a:graphic>
      </p:graphicFrame>
      <p:sp>
        <p:nvSpPr>
          <p:cNvPr id="10" name="">
            <a:extLst xmlns:a="http://schemas.openxmlformats.org/drawingml/2006/main">
              <a:ext uri="{FF2B5EF4-FFF2-40B4-BE49-F238E27FC236}">
                <a16:creationId xmlns:a16="http://schemas.microsoft.com/office/drawing/2014/main" id="{1702F052-F186-4920-883B-7BB5896EB5DA}"/>
              </a:ext>
            </a:extLst>
          </p:cNvPr>
          <p:cNvSpPr>
            <a:spLocks xmlns:a="http://schemas.openxmlformats.org/drawingml/2006/main" noGrp="1"/>
          </p:cNvSpPr>
          <p:nvPr/>
        </p:nvSpPr>
        <p:spPr>
          <a:xfrm xmlns:a="http://schemas.openxmlformats.org/drawingml/2006/main">
            <a:off x="6381750" y="5400675"/>
            <a:ext cx="2190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150" b="1">
                <a:solidFill>
                  <a:srgbClr val="149F8E"/>
                </a:solidFill>
                <a:latin typeface="Noto Sans"/>
                <a:ea typeface="Noto Sans"/>
                <a:cs typeface="Noto Sans"/>
              </a:defRPr>
            </a:pPr>
            <a:r>
              <a:rPr sz="3150" b="1">
                <a:solidFill>
                  <a:srgbClr val="149F8E"/>
                </a:solidFill>
                <a:latin typeface="Noto Sans"/>
                <a:ea typeface="Noto Sans"/>
                <a:cs typeface="Noto Sans"/>
              </a:rPr>
              <a:t>4 / 409</a:t>
            </a:r>
          </a:p>
        </p:txBody>
      </p:sp>
      <p:sp>
        <p:nvSpPr>
          <p:cNvPr id="11" name="">
            <a:extLst xmlns:a="http://schemas.openxmlformats.org/drawingml/2006/main">
              <a:ext uri="{FF2B5EF4-FFF2-40B4-BE49-F238E27FC236}">
                <a16:creationId xmlns:a16="http://schemas.microsoft.com/office/drawing/2014/main" id="{074F088A-778A-4E11-8AE7-865FDF61F7C6}"/>
              </a:ext>
            </a:extLst>
          </p:cNvPr>
          <p:cNvSpPr>
            <a:spLocks xmlns:a="http://schemas.openxmlformats.org/drawingml/2006/main" noGrp="1"/>
          </p:cNvSpPr>
          <p:nvPr/>
        </p:nvSpPr>
        <p:spPr>
          <a:xfrm xmlns:a="http://schemas.openxmlformats.org/drawingml/2006/main">
            <a:off x="8382000" y="5419725"/>
            <a:ext cx="314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14243B"/>
                </a:solidFill>
                <a:latin typeface="Noto Sans"/>
                <a:ea typeface="Noto Sans"/>
                <a:cs typeface="Noto Sans"/>
              </a:defRPr>
            </a:pPr>
            <a:r>
              <a:rPr sz="1575" b="0">
                <a:solidFill>
                  <a:srgbClr val="14243B"/>
                </a:solidFill>
                <a:latin typeface="Noto Sans"/>
                <a:ea typeface="Noto Sans"/>
                <a:cs typeface="Noto Sans"/>
              </a:rPr>
              <a:t>fraud labels reached at 1% review</a:t>
            </a:r>
          </a:p>
          <a:p xmlns:a="http://schemas.openxmlformats.org/drawingml/2006/main">
            <a:pPr algn="l">
              <a:defRPr sz="1575" b="0">
                <a:solidFill>
                  <a:srgbClr val="14243B"/>
                </a:solidFill>
                <a:latin typeface="Noto Sans"/>
                <a:ea typeface="Noto Sans"/>
                <a:cs typeface="Noto Sans"/>
              </a:defRPr>
            </a:pPr>
            <a:r>
              <a:rPr sz="1575" b="0">
                <a:solidFill>
                  <a:srgbClr val="14243B"/>
                </a:solidFill>
                <a:latin typeface="Noto Sans"/>
                <a:ea typeface="Noto Sans"/>
                <a:cs typeface="Noto Sans"/>
              </a:rPr>
              <a:t>capacity by each learned candidate</a:t>
            </a:r>
          </a:p>
        </p:txBody>
      </p:sp>
      <p:sp>
        <p:nvSpPr>
          <p:cNvPr id="12" name="">
            <a:extLst xmlns:a="http://schemas.openxmlformats.org/drawingml/2006/main">
              <a:ext uri="{FF2B5EF4-FFF2-40B4-BE49-F238E27FC236}">
                <a16:creationId xmlns:a16="http://schemas.microsoft.com/office/drawing/2014/main" id="{F062249A-B890-434E-8B56-A994E88A9A06}"/>
              </a:ext>
            </a:extLst>
          </p:cNvPr>
          <p:cNvSpPr>
            <a:spLocks xmlns:a="http://schemas.openxmlformats.org/drawingml/2006/main" noGrp="1"/>
          </p:cNvSpPr>
          <p:nvPr/>
        </p:nvSpPr>
        <p:spPr>
          <a:xfrm xmlns:a="http://schemas.openxmlformats.org/drawingml/2006/main">
            <a:off x="609600" y="5895975"/>
            <a:ext cx="552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425" b="0">
                <a:solidFill>
                  <a:srgbClr val="587087"/>
                </a:solidFill>
                <a:latin typeface="Noto Sans"/>
                <a:ea typeface="Noto Sans"/>
                <a:cs typeface="Noto Sans"/>
              </a:defRPr>
            </a:pPr>
            <a:r>
              <a:rPr sz="1425" b="0">
                <a:solidFill>
                  <a:srgbClr val="587087"/>
                </a:solidFill>
                <a:latin typeface="Noto Sans"/>
                <a:ea typeface="Noto Sans"/>
                <a:cs typeface="Noto Sans"/>
              </a:rPr>
              <a:t>Synthetic retrospective labels. Demo fixtures receive no fraud probability.</a:t>
            </a:r>
          </a:p>
        </p:txBody>
      </p:sp>
    </p:spTree>
    <p:extLst>
      <p:ext uri="{BB962C8B-B14F-4D97-AF65-F5344CB8AC3E}">
        <p14:creationId xmlns:p14="http://schemas.microsoft.com/office/powerpoint/2010/main" val="1703470272"/>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32FCAD2-B23D-4CEF-9EE6-521CFE8D6E94}"/>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43B"/>
                </a:solidFill>
                <a:latin typeface="Noto Sans"/>
                <a:ea typeface="Noto Sans"/>
                <a:cs typeface="Noto Sans"/>
              </a:defRPr>
            </a:pPr>
            <a:r>
              <a:rPr sz="3300" b="1">
                <a:solidFill>
                  <a:srgbClr val="14243B"/>
                </a:solidFill>
                <a:latin typeface="Noto Sans"/>
                <a:ea typeface="Noto Sans"/>
                <a:cs typeface="Noto Sans"/>
              </a:rPr>
              <a:t>Measured language and workflow results</a:t>
            </a:r>
          </a:p>
        </p:txBody>
      </p:sp>
      <p:sp>
        <p:nvSpPr>
          <p:cNvPr id="2" name="">
            <a:extLst xmlns:a="http://schemas.openxmlformats.org/drawingml/2006/main">
              <a:ext uri="{FF2B5EF4-FFF2-40B4-BE49-F238E27FC236}">
                <a16:creationId xmlns:a16="http://schemas.microsoft.com/office/drawing/2014/main" id="{8564CBA2-4301-4118-B4D9-0AFE60848350}"/>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87087"/>
                </a:solidFill>
                <a:latin typeface="Noto Sans"/>
                <a:ea typeface="Noto Sans"/>
                <a:cs typeface="Noto Sans"/>
              </a:defRPr>
            </a:pPr>
            <a:r>
              <a:rPr sz="1125" b="0">
                <a:solidFill>
                  <a:srgbClr val="587087"/>
                </a:solidFill>
                <a:latin typeface="Noto Sans"/>
                <a:ea typeface="Noto Sans"/>
                <a:cs typeface="Noto Sans"/>
              </a:rPr>
              <a:t>Claro  /  Factored 2026  /  5</a:t>
            </a:r>
          </a:p>
        </p:txBody>
      </p:sp>
      <p:sp>
        <p:nvSpPr>
          <p:cNvPr id="3" name="">
            <a:extLst xmlns:a="http://schemas.openxmlformats.org/drawingml/2006/main">
              <a:ext uri="{FF2B5EF4-FFF2-40B4-BE49-F238E27FC236}">
                <a16:creationId xmlns:a16="http://schemas.microsoft.com/office/drawing/2014/main" id="{2EF5EF1A-C918-4E42-B58C-3FD2A4883EAB}"/>
              </a:ext>
            </a:extLst>
          </p:cNvPr>
          <p:cNvSpPr>
            <a:spLocks xmlns:a="http://schemas.openxmlformats.org/drawingml/2006/main" noGrp="1"/>
          </p:cNvSpPr>
          <p:nvPr/>
        </p:nvSpPr>
        <p:spPr>
          <a:xfrm xmlns:a="http://schemas.openxmlformats.org/drawingml/2006/main">
            <a:off x="609600" y="143827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9F8E"/>
                </a:solidFill>
                <a:latin typeface="Noto Sans"/>
                <a:ea typeface="Noto Sans"/>
                <a:cs typeface="Noto Sans"/>
              </a:defRPr>
            </a:pPr>
            <a:r>
              <a:rPr sz="2175" b="1">
                <a:solidFill>
                  <a:srgbClr val="149F8E"/>
                </a:solidFill>
                <a:latin typeface="Noto Sans"/>
                <a:ea typeface="Noto Sans"/>
                <a:cs typeface="Noto Sans"/>
              </a:rPr>
              <a:t>Intent classification</a:t>
            </a:r>
          </a:p>
        </p:txBody>
      </p:sp>
      <p:sp>
        <p:nvSpPr>
          <p:cNvPr id="4" name="">
            <a:extLst xmlns:a="http://schemas.openxmlformats.org/drawingml/2006/main">
              <a:ext uri="{FF2B5EF4-FFF2-40B4-BE49-F238E27FC236}">
                <a16:creationId xmlns:a16="http://schemas.microsoft.com/office/drawing/2014/main" id="{4B3C0969-334C-439D-B6F5-19D3C1F6F8B4}"/>
              </a:ext>
            </a:extLst>
          </p:cNvPr>
          <p:cNvSpPr>
            <a:spLocks xmlns:a="http://schemas.openxmlformats.org/drawingml/2006/main" noGrp="1"/>
          </p:cNvSpPr>
          <p:nvPr/>
        </p:nvSpPr>
        <p:spPr>
          <a:xfrm xmlns:a="http://schemas.openxmlformats.org/drawingml/2006/main">
            <a:off x="609600" y="1847850"/>
            <a:ext cx="5238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587087"/>
                </a:solidFill>
                <a:latin typeface="Noto Sans"/>
                <a:ea typeface="Noto Sans"/>
                <a:cs typeface="Noto Sans"/>
              </a:defRPr>
            </a:pPr>
            <a:r>
              <a:rPr sz="1650" b="0">
                <a:solidFill>
                  <a:srgbClr val="587087"/>
                </a:solidFill>
                <a:latin typeface="Noto Sans"/>
                <a:ea typeface="Noto Sans"/>
                <a:cs typeface="Noto Sans"/>
              </a:rPr>
              <a:t>140 frozen authored cases / macro-F1</a:t>
            </a:r>
          </a:p>
        </p:txBody>
      </p:sp>
      <p:graphicFrame>
        <p:nvGraphicFramePr>
          <p:cNvPr id="17" name="Chart"/>
          <p:cNvGraphicFramePr/>
          <p:nvPr/>
        </p:nvGraphicFramePr>
        <p:xfrm>
          <a:off xmlns:a="http://schemas.openxmlformats.org/drawingml/2006/main" x="581025" y="2352675"/>
          <a:ext xmlns:a="http://schemas.openxmlformats.org/drawingml/2006/main" cx="5191125" cy="2638425"/>
        </p:xfrm>
        <a:graphic xmlns:a="http://schemas.openxmlformats.org/drawingml/2006/main">
          <a:graphicData uri="http://schemas.openxmlformats.org/drawingml/2006/chart">
            <c:chart xmlns:r="http://schemas.openxmlformats.org/officeDocument/2006/relationships" xmlns:c="http://schemas.openxmlformats.org/drawingml/2006/chart" r:id="R9d583637a0134d14"/>
          </a:graphicData>
        </a:graphic>
      </p:graphicFrame>
      <p:sp>
        <p:nvSpPr>
          <p:cNvPr id="6" name="">
            <a:extLst xmlns:a="http://schemas.openxmlformats.org/drawingml/2006/main">
              <a:ext uri="{FF2B5EF4-FFF2-40B4-BE49-F238E27FC236}">
                <a16:creationId xmlns:a16="http://schemas.microsoft.com/office/drawing/2014/main" id="{97293413-FA9F-4D5C-9672-732BCCC49CD2}"/>
              </a:ext>
            </a:extLst>
          </p:cNvPr>
          <p:cNvSpPr>
            <a:spLocks xmlns:a="http://schemas.openxmlformats.org/drawingml/2006/main" noGrp="1"/>
          </p:cNvSpPr>
          <p:nvPr/>
        </p:nvSpPr>
        <p:spPr>
          <a:xfrm xmlns:a="http://schemas.openxmlformats.org/drawingml/2006/main">
            <a:off x="6362700" y="14382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9F8E"/>
                </a:solidFill>
                <a:latin typeface="Noto Sans"/>
                <a:ea typeface="Noto Sans"/>
                <a:cs typeface="Noto Sans"/>
              </a:defRPr>
            </a:pPr>
            <a:r>
              <a:rPr sz="2175" b="1">
                <a:solidFill>
                  <a:srgbClr val="149F8E"/>
                </a:solidFill>
                <a:latin typeface="Noto Sans"/>
                <a:ea typeface="Noto Sans"/>
                <a:cs typeface="Noto Sans"/>
              </a:rPr>
              <a:t>Current chat regression</a:t>
            </a:r>
          </a:p>
        </p:txBody>
      </p:sp>
      <p:sp>
        <p:nvSpPr>
          <p:cNvPr id="7" name="">
            <a:extLst xmlns:a="http://schemas.openxmlformats.org/drawingml/2006/main">
              <a:ext uri="{FF2B5EF4-FFF2-40B4-BE49-F238E27FC236}">
                <a16:creationId xmlns:a16="http://schemas.microsoft.com/office/drawing/2014/main" id="{546FDAD4-6D2F-42B0-8637-C929636E1B94}"/>
              </a:ext>
            </a:extLst>
          </p:cNvPr>
          <p:cNvSpPr>
            <a:spLocks xmlns:a="http://schemas.openxmlformats.org/drawingml/2006/main" noGrp="1"/>
          </p:cNvSpPr>
          <p:nvPr/>
        </p:nvSpPr>
        <p:spPr>
          <a:xfrm xmlns:a="http://schemas.openxmlformats.org/drawingml/2006/main">
            <a:off x="6362700" y="1847850"/>
            <a:ext cx="5191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587087"/>
                </a:solidFill>
                <a:latin typeface="Noto Sans"/>
                <a:ea typeface="Noto Sans"/>
                <a:cs typeface="Noto Sans"/>
              </a:defRPr>
            </a:pPr>
            <a:r>
              <a:rPr sz="1650" b="0">
                <a:solidFill>
                  <a:srgbClr val="587087"/>
                </a:solidFill>
                <a:latin typeface="Noto Sans"/>
                <a:ea typeface="Noto Sans"/>
                <a:cs typeface="Noto Sans"/>
              </a:rPr>
              <a:t>140 exposed cases / correct regression outcomes</a:t>
            </a:r>
          </a:p>
        </p:txBody>
      </p:sp>
      <p:graphicFrame>
        <p:nvGraphicFramePr>
          <p:cNvPr id="20" name="Chart"/>
          <p:cNvGraphicFramePr/>
          <p:nvPr/>
        </p:nvGraphicFramePr>
        <p:xfrm>
          <a:off xmlns:a="http://schemas.openxmlformats.org/drawingml/2006/main" x="6315075" y="2352675"/>
          <a:ext xmlns:a="http://schemas.openxmlformats.org/drawingml/2006/main" cx="5191125" cy="2638425"/>
        </p:xfrm>
        <a:graphic xmlns:a="http://schemas.openxmlformats.org/drawingml/2006/main">
          <a:graphicData uri="http://schemas.openxmlformats.org/drawingml/2006/chart">
            <c:chart xmlns:r="http://schemas.openxmlformats.org/officeDocument/2006/relationships" xmlns:c="http://schemas.openxmlformats.org/drawingml/2006/chart" r:id="R32953cd0a90c4203"/>
          </a:graphicData>
        </a:graphic>
      </p:graphicFrame>
      <p:sp>
        <p:nvSpPr>
          <p:cNvPr id="9" name="">
            <a:extLst xmlns:a="http://schemas.openxmlformats.org/drawingml/2006/main">
              <a:ext uri="{FF2B5EF4-FFF2-40B4-BE49-F238E27FC236}">
                <a16:creationId xmlns:a16="http://schemas.microsoft.com/office/drawing/2014/main" id="{AF0CA27E-1FB2-4091-8A73-695F85CF09D3}"/>
              </a:ext>
            </a:extLst>
          </p:cNvPr>
          <p:cNvSpPr>
            <a:spLocks xmlns:a="http://schemas.openxmlformats.org/drawingml/2006/main" noGrp="1"/>
          </p:cNvSpPr>
          <p:nvPr/>
        </p:nvSpPr>
        <p:spPr>
          <a:xfrm xmlns:a="http://schemas.openxmlformats.org/drawingml/2006/main">
            <a:off x="619125" y="51149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14243B"/>
                </a:solidFill>
                <a:latin typeface="Noto Sans"/>
                <a:ea typeface="Noto Sans"/>
                <a:cs typeface="Noto Sans"/>
              </a:defRPr>
            </a:pPr>
            <a:r>
              <a:rPr sz="1875" b="1">
                <a:solidFill>
                  <a:srgbClr val="14243B"/>
                </a:solidFill>
                <a:latin typeface="Noto Sans"/>
                <a:ea typeface="Noto Sans"/>
                <a:cs typeface="Noto Sans"/>
              </a:rPr>
              <a:t>Historical intent labels: 117/140</a:t>
            </a:r>
          </a:p>
        </p:txBody>
      </p:sp>
      <p:sp>
        <p:nvSpPr>
          <p:cNvPr id="10" name="">
            <a:extLst xmlns:a="http://schemas.openxmlformats.org/drawingml/2006/main">
              <a:ext uri="{FF2B5EF4-FFF2-40B4-BE49-F238E27FC236}">
                <a16:creationId xmlns:a16="http://schemas.microsoft.com/office/drawing/2014/main" id="{A47E96FD-AE70-46DD-B03C-71FC1B667E7C}"/>
              </a:ext>
            </a:extLst>
          </p:cNvPr>
          <p:cNvSpPr>
            <a:spLocks xmlns:a="http://schemas.openxmlformats.org/drawingml/2006/main" noGrp="1"/>
          </p:cNvSpPr>
          <p:nvPr/>
        </p:nvSpPr>
        <p:spPr>
          <a:xfrm xmlns:a="http://schemas.openxmlformats.org/drawingml/2006/main">
            <a:off x="6362700" y="5114925"/>
            <a:ext cx="5143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1">
                <a:solidFill>
                  <a:srgbClr val="14243B"/>
                </a:solidFill>
                <a:latin typeface="Noto Sans"/>
                <a:ea typeface="Noto Sans"/>
                <a:cs typeface="Noto Sans"/>
              </a:defRPr>
            </a:pPr>
            <a:r>
              <a:rPr sz="1800" b="1">
                <a:solidFill>
                  <a:srgbClr val="14243B"/>
                </a:solidFill>
                <a:latin typeface="Noto Sans"/>
                <a:ea typeface="Noto Sans"/>
                <a:cs typeface="Noto Sans"/>
              </a:rPr>
              <a:t>60/60 handoffs; 10 workflow errors</a:t>
            </a:r>
          </a:p>
        </p:txBody>
      </p:sp>
      <p:sp>
        <p:nvSpPr>
          <p:cNvPr id="11" name="">
            <a:extLst xmlns:a="http://schemas.openxmlformats.org/drawingml/2006/main">
              <a:ext uri="{FF2B5EF4-FFF2-40B4-BE49-F238E27FC236}">
                <a16:creationId xmlns:a16="http://schemas.microsoft.com/office/drawing/2014/main" id="{431E4E99-3661-41D2-9AAD-27D4409E8C94}"/>
              </a:ext>
            </a:extLst>
          </p:cNvPr>
          <p:cNvSpPr>
            <a:spLocks xmlns:a="http://schemas.openxmlformats.org/drawingml/2006/main" noGrp="1"/>
          </p:cNvSpPr>
          <p:nvPr/>
        </p:nvSpPr>
        <p:spPr>
          <a:xfrm xmlns:a="http://schemas.openxmlformats.org/drawingml/2006/main">
            <a:off x="609600" y="5686425"/>
            <a:ext cx="1090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587087"/>
                </a:solidFill>
                <a:latin typeface="Noto Sans"/>
                <a:ea typeface="Noto Sans"/>
                <a:cs typeface="Noto Sans"/>
              </a:defRPr>
            </a:pPr>
            <a:r>
              <a:rPr sz="1575" b="0">
                <a:solidFill>
                  <a:srgbClr val="587087"/>
                </a:solidFill>
                <a:latin typeface="Noto Sans"/>
                <a:ea typeface="Noto Sans"/>
                <a:cs typeface="Noto Sans"/>
              </a:rPr>
              <a:t>Current six status/currency strata: 130/140 each. Same authored utterances.</a:t>
            </a:r>
          </a:p>
        </p:txBody>
      </p:sp>
      <p:sp>
        <p:nvSpPr>
          <p:cNvPr id="12" name="">
            <a:extLst xmlns:a="http://schemas.openxmlformats.org/drawingml/2006/main">
              <a:ext uri="{FF2B5EF4-FFF2-40B4-BE49-F238E27FC236}">
                <a16:creationId xmlns:a16="http://schemas.microsoft.com/office/drawing/2014/main" id="{6F48A611-047A-471E-9C1C-18FD2F153046}"/>
              </a:ext>
            </a:extLst>
          </p:cNvPr>
          <p:cNvSpPr>
            <a:spLocks xmlns:a="http://schemas.openxmlformats.org/drawingml/2006/main" noGrp="1"/>
          </p:cNvSpPr>
          <p:nvPr/>
        </p:nvSpPr>
        <p:spPr>
          <a:xfrm xmlns:a="http://schemas.openxmlformats.org/drawingml/2006/main">
            <a:off x="609600" y="6029325"/>
            <a:ext cx="1090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587087"/>
                </a:solidFill>
                <a:latin typeface="Noto Sans"/>
                <a:ea typeface="Noto Sans"/>
                <a:cs typeface="Noto Sans"/>
              </a:defRPr>
            </a:pPr>
            <a:r>
              <a:rPr sz="1500" b="0">
                <a:solidFill>
                  <a:srgbClr val="587087"/>
                </a:solidFill>
                <a:latin typeface="Noto Sans"/>
                <a:ea typeface="Noto Sans"/>
                <a:cs typeface="Noto Sans"/>
              </a:rPr>
              <a:t>Stronger case grounding scorer. Exposed authored regressions, no independent human review.</a:t>
            </a:r>
          </a:p>
        </p:txBody>
      </p:sp>
    </p:spTree>
    <p:extLst>
      <p:ext uri="{BB962C8B-B14F-4D97-AF65-F5344CB8AC3E}">
        <p14:creationId xmlns:p14="http://schemas.microsoft.com/office/powerpoint/2010/main" val="566911408"/>
      </p:ext>
    </p:extLst>
  </p:cSld>
</p:sld>
</file>

<file path=ppt/slides/slide6.xml><?xml version="1.0" encoding="utf-8"?>
<p:sld xmlns:p="http://schemas.openxmlformats.org/presentationml/2006/main">
  <p:cSld>
    <p:bg>
      <p:bgPr>
        <a:solidFill xmlns:a="http://schemas.openxmlformats.org/drawingml/2006/main">
          <a:srgbClr val="0B1932"/>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301F6A9-D2AD-48A9-AAAC-55A4151B5591}"/>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F7FAFC"/>
                </a:solidFill>
                <a:latin typeface="Noto Sans"/>
                <a:ea typeface="Noto Sans"/>
                <a:cs typeface="Noto Sans"/>
              </a:defRPr>
            </a:pPr>
            <a:r>
              <a:rPr sz="3300" b="1">
                <a:solidFill>
                  <a:srgbClr val="F7FAFC"/>
                </a:solidFill>
                <a:latin typeface="Noto Sans"/>
                <a:ea typeface="Noto Sans"/>
                <a:cs typeface="Noto Sans"/>
              </a:rPr>
              <a:t>Demo and the route to a bank integration</a:t>
            </a:r>
          </a:p>
        </p:txBody>
      </p:sp>
      <p:sp>
        <p:nvSpPr>
          <p:cNvPr id="2" name="">
            <a:extLst xmlns:a="http://schemas.openxmlformats.org/drawingml/2006/main">
              <a:ext uri="{FF2B5EF4-FFF2-40B4-BE49-F238E27FC236}">
                <a16:creationId xmlns:a16="http://schemas.microsoft.com/office/drawing/2014/main" id="{B16435C1-C91F-4FAD-B463-E400AC1995E3}"/>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A4B7C8"/>
                </a:solidFill>
                <a:latin typeface="Noto Sans"/>
                <a:ea typeface="Noto Sans"/>
                <a:cs typeface="Noto Sans"/>
              </a:defRPr>
            </a:pPr>
            <a:r>
              <a:rPr sz="1125" b="0">
                <a:solidFill>
                  <a:srgbClr val="A4B7C8"/>
                </a:solidFill>
                <a:latin typeface="Noto Sans"/>
                <a:ea typeface="Noto Sans"/>
                <a:cs typeface="Noto Sans"/>
              </a:rPr>
              <a:t>Claro  /  Factored 2026  /  6</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9b2c27c0daa84d46"/>
          <a:srcRect xmlns:a="http://schemas.openxmlformats.org/drawingml/2006/main" l="46976" t="41242" r="3159" b="9878"/>
          <a:stretch xmlns:a="http://schemas.openxmlformats.org/drawingml/2006/main"/>
        </p:blipFill>
        <p:spPr>
          <a:xfrm xmlns:a="http://schemas.openxmlformats.org/drawingml/2006/main">
            <a:off x="637084" y="1857375"/>
            <a:ext cx="5374283" cy="3476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1136DF8-6B66-4322-8F64-1F222876A1F2}"/>
              </a:ext>
            </a:extLst>
          </p:cNvPr>
          <p:cNvSpPr>
            <a:spLocks xmlns:a="http://schemas.openxmlformats.org/drawingml/2006/main" noGrp="1"/>
          </p:cNvSpPr>
          <p:nvPr/>
        </p:nvSpPr>
        <p:spPr>
          <a:xfrm xmlns:a="http://schemas.openxmlformats.org/drawingml/2006/main">
            <a:off x="609600" y="1504950"/>
            <a:ext cx="542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A4B7C8"/>
                </a:solidFill>
                <a:latin typeface="Noto Sans"/>
                <a:ea typeface="Noto Sans"/>
                <a:cs typeface="Noto Sans"/>
              </a:defRPr>
            </a:pPr>
            <a:r>
              <a:rPr sz="1275" b="1">
                <a:solidFill>
                  <a:srgbClr val="A4B7C8"/>
                </a:solidFill>
                <a:latin typeface="Noto Sans"/>
                <a:ea typeface="Noto Sans"/>
                <a:cs typeface="Noto Sans"/>
              </a:rPr>
              <a:t>LOCAL SANDBOX CAPTURE</a:t>
            </a:r>
          </a:p>
        </p:txBody>
      </p:sp>
      <p:sp>
        <p:nvSpPr>
          <p:cNvPr id="5" name="">
            <a:extLst xmlns:a="http://schemas.openxmlformats.org/drawingml/2006/main">
              <a:ext uri="{FF2B5EF4-FFF2-40B4-BE49-F238E27FC236}">
                <a16:creationId xmlns:a16="http://schemas.microsoft.com/office/drawing/2014/main" id="{64882465-CA5B-4580-BF3F-24AA6D1CB945}"/>
              </a:ext>
            </a:extLst>
          </p:cNvPr>
          <p:cNvSpPr>
            <a:spLocks xmlns:a="http://schemas.openxmlformats.org/drawingml/2006/main" noGrp="1"/>
          </p:cNvSpPr>
          <p:nvPr/>
        </p:nvSpPr>
        <p:spPr>
          <a:xfrm xmlns:a="http://schemas.openxmlformats.org/drawingml/2006/main">
            <a:off x="609600" y="5553075"/>
            <a:ext cx="5619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67E2C4"/>
                </a:solidFill>
                <a:latin typeface="Noto Sans"/>
                <a:ea typeface="Noto Sans"/>
                <a:cs typeface="Noto Sans"/>
              </a:defRPr>
            </a:pPr>
            <a:r>
              <a:rPr sz="1725" b="1">
                <a:solidFill>
                  <a:srgbClr val="67E2C4"/>
                </a:solidFill>
                <a:latin typeface="Noto Sans"/>
                <a:ea typeface="Noto Sans"/>
                <a:cs typeface="Noto Sans"/>
              </a:rPr>
              <a:t>Hosted chat demo: verified</a:t>
            </a:r>
          </a:p>
        </p:txBody>
      </p:sp>
      <p:sp>
        <p:nvSpPr>
          <p:cNvPr id="6" name="">
            <a:extLst xmlns:a="http://schemas.openxmlformats.org/drawingml/2006/main">
              <a:ext uri="{FF2B5EF4-FFF2-40B4-BE49-F238E27FC236}">
                <a16:creationId xmlns:a16="http://schemas.microsoft.com/office/drawing/2014/main" id="{647A7B74-3538-4A15-80F9-027D57FEC9C8}"/>
              </a:ext>
            </a:extLst>
          </p:cNvPr>
          <p:cNvSpPr>
            <a:spLocks xmlns:a="http://schemas.openxmlformats.org/drawingml/2006/main" noGrp="1"/>
          </p:cNvSpPr>
          <p:nvPr/>
        </p:nvSpPr>
        <p:spPr>
          <a:xfrm xmlns:a="http://schemas.openxmlformats.org/drawingml/2006/main">
            <a:off x="609600" y="5953125"/>
            <a:ext cx="561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00" b="0">
                <a:solidFill>
                  <a:srgbClr val="F7FAFC"/>
                </a:solidFill>
                <a:latin typeface="Noto Sans"/>
                <a:ea typeface="Noto Sans"/>
                <a:cs typeface="Noto Sans"/>
              </a:defRPr>
            </a:pPr>
            <a:r>
              <a:rPr sz="1200" b="0">
                <a:solidFill>
                  <a:srgbClr val="F7FAFC"/>
                </a:solidFill>
                <a:latin typeface="Noto Sans"/>
                <a:ea typeface="Noto Sans"/>
                <a:cs typeface="Noto Sans"/>
              </a:rPr>
              <a:t>https://claro-banking-hackathon-2026.onrender.com</a:t>
            </a:r>
          </a:p>
        </p:txBody>
      </p:sp>
      <p:sp>
        <p:nvSpPr>
          <p:cNvPr id="7" name="">
            <a:extLst xmlns:a="http://schemas.openxmlformats.org/drawingml/2006/main">
              <a:ext uri="{FF2B5EF4-FFF2-40B4-BE49-F238E27FC236}">
                <a16:creationId xmlns:a16="http://schemas.microsoft.com/office/drawing/2014/main" id="{BF41812F-E95E-4EDE-8A43-7FB23E66AD30}"/>
              </a:ext>
            </a:extLst>
          </p:cNvPr>
          <p:cNvSpPr>
            <a:spLocks xmlns:a="http://schemas.openxmlformats.org/drawingml/2006/main" noGrp="1"/>
          </p:cNvSpPr>
          <p:nvPr/>
        </p:nvSpPr>
        <p:spPr>
          <a:xfrm xmlns:a="http://schemas.openxmlformats.org/drawingml/2006/main">
            <a:off x="6572250" y="156210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67E2C4"/>
                </a:solidFill>
                <a:latin typeface="Noto Sans"/>
                <a:ea typeface="Noto Sans"/>
                <a:cs typeface="Noto Sans"/>
              </a:defRPr>
            </a:pPr>
            <a:r>
              <a:rPr sz="2175" b="1">
                <a:solidFill>
                  <a:srgbClr val="67E2C4"/>
                </a:solidFill>
                <a:latin typeface="Noto Sans"/>
                <a:ea typeface="Noto Sans"/>
                <a:cs typeface="Noto Sans"/>
              </a:rPr>
              <a:t>Deliberate trade-offs</a:t>
            </a:r>
          </a:p>
        </p:txBody>
      </p:sp>
      <p:sp>
        <p:nvSpPr>
          <p:cNvPr id="8" name="">
            <a:extLst xmlns:a="http://schemas.openxmlformats.org/drawingml/2006/main">
              <a:ext uri="{FF2B5EF4-FFF2-40B4-BE49-F238E27FC236}">
                <a16:creationId xmlns:a16="http://schemas.microsoft.com/office/drawing/2014/main" id="{05120900-F3B2-4BA7-8976-00322871E4D9}"/>
              </a:ext>
            </a:extLst>
          </p:cNvPr>
          <p:cNvSpPr>
            <a:spLocks xmlns:a="http://schemas.openxmlformats.org/drawingml/2006/main" noGrp="1"/>
          </p:cNvSpPr>
          <p:nvPr/>
        </p:nvSpPr>
        <p:spPr>
          <a:xfrm xmlns:a="http://schemas.openxmlformats.org/drawingml/2006/main">
            <a:off x="6572250" y="2143125"/>
            <a:ext cx="4857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Single worker and SQLite</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Simple deployment. Free-host restarts</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can reset sandbox state.</a:t>
            </a:r>
          </a:p>
        </p:txBody>
      </p:sp>
      <p:sp>
        <p:nvSpPr>
          <p:cNvPr id="9" name="">
            <a:extLst xmlns:a="http://schemas.openxmlformats.org/drawingml/2006/main">
              <a:ext uri="{FF2B5EF4-FFF2-40B4-BE49-F238E27FC236}">
                <a16:creationId xmlns:a16="http://schemas.microsoft.com/office/drawing/2014/main" id="{B614820D-D1A7-48A9-911D-A265E5E87D5B}"/>
              </a:ext>
            </a:extLst>
          </p:cNvPr>
          <p:cNvSpPr>
            <a:spLocks xmlns:a="http://schemas.openxmlformats.org/drawingml/2006/main" noGrp="1"/>
          </p:cNvSpPr>
          <p:nvPr/>
        </p:nvSpPr>
        <p:spPr>
          <a:xfrm xmlns:a="http://schemas.openxmlformats.org/drawingml/2006/main">
            <a:off x="6572250" y="3524250"/>
            <a:ext cx="4857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Optional external models</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Usage and tariff estimates are logged.</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Live provider results are still unverified.</a:t>
            </a:r>
          </a:p>
        </p:txBody>
      </p:sp>
      <p:sp>
        <p:nvSpPr>
          <p:cNvPr id="10" name="">
            <a:extLst xmlns:a="http://schemas.openxmlformats.org/drawingml/2006/main">
              <a:ext uri="{FF2B5EF4-FFF2-40B4-BE49-F238E27FC236}">
                <a16:creationId xmlns:a16="http://schemas.microsoft.com/office/drawing/2014/main" id="{46E48759-7CC7-4EBF-9297-07D6EEB20153}"/>
              </a:ext>
            </a:extLst>
          </p:cNvPr>
          <p:cNvSpPr>
            <a:spLocks xmlns:a="http://schemas.openxmlformats.org/drawingml/2006/main" noGrp="1"/>
          </p:cNvSpPr>
          <p:nvPr/>
        </p:nvSpPr>
        <p:spPr>
          <a:xfrm xmlns:a="http://schemas.openxmlformats.org/drawingml/2006/main">
            <a:off x="6572250" y="4867275"/>
            <a:ext cx="4857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1">
                <a:solidFill>
                  <a:srgbClr val="67E2C4"/>
                </a:solidFill>
                <a:latin typeface="Noto Sans"/>
                <a:ea typeface="Noto Sans"/>
                <a:cs typeface="Noto Sans"/>
              </a:defRPr>
            </a:pPr>
            <a:r>
              <a:rPr sz="1950" b="1">
                <a:solidFill>
                  <a:srgbClr val="67E2C4"/>
                </a:solidFill>
                <a:latin typeface="Noto Sans"/>
                <a:ea typeface="Noto Sans"/>
                <a:cs typeface="Noto Sans"/>
              </a:rPr>
              <a:t>Before real customers</a:t>
            </a:r>
          </a:p>
        </p:txBody>
      </p:sp>
      <p:sp>
        <p:nvSpPr>
          <p:cNvPr id="11" name="">
            <a:extLst xmlns:a="http://schemas.openxmlformats.org/drawingml/2006/main">
              <a:ext uri="{FF2B5EF4-FFF2-40B4-BE49-F238E27FC236}">
                <a16:creationId xmlns:a16="http://schemas.microsoft.com/office/drawing/2014/main" id="{FA96332E-F303-4D68-A5B4-5821258CDAC6}"/>
              </a:ext>
            </a:extLst>
          </p:cNvPr>
          <p:cNvSpPr>
            <a:spLocks xmlns:a="http://schemas.openxmlformats.org/drawingml/2006/main" noGrp="1"/>
          </p:cNvSpPr>
          <p:nvPr/>
        </p:nvSpPr>
        <p:spPr>
          <a:xfrm xmlns:a="http://schemas.openxmlformats.org/drawingml/2006/main">
            <a:off x="6572250" y="5314950"/>
            <a:ext cx="49053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Bank identity, approved policies, durable</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storage and independent ES/PT review.</a:t>
            </a:r>
          </a:p>
        </p:txBody>
      </p:sp>
    </p:spTree>
    <p:extLst>
      <p:ext uri="{BB962C8B-B14F-4D97-AF65-F5344CB8AC3E}">
        <p14:creationId xmlns:p14="http://schemas.microsoft.com/office/powerpoint/2010/main" val="11017766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2026-10-05T19:10:16.6870000Z</dcterms:created>
  <dcterms:modified xsi:type="dcterms:W3CDTF">2026-10-05T19:10:16.6870000Z</dcterms:modified>
</coreProperties>
</file>