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a27c86fba4e4c77" /><Relationship Type="http://schemas.openxmlformats.org/officeDocument/2006/relationships/extended-properties" Target="/docProps/app.xml" Id="R8c90dfaac03d49b8" /><Relationship Type="http://schemas.openxmlformats.org/officeDocument/2006/relationships/officeDocument" Target="/ppt/presentation.xml" Id="R2ec9e85aa3d24e86" /></Relationships>
</file>

<file path=ppt/presentation.xml><?xml version="1.0" encoding="utf-8"?>
<p:presentation xmlns:p="http://schemas.openxmlformats.org/presentationml/2006/main">
  <p:sldMasterIdLst>
    <p:sldMasterId xmlns:r="http://schemas.openxmlformats.org/officeDocument/2006/relationships" id="2147483648" r:id="R14737d00c4f64877"/>
  </p:sldMasterIdLst>
  <p:notesMasterIdLst>
    <p:notesMasterId xmlns:r="http://schemas.openxmlformats.org/officeDocument/2006/relationships" r:id="R6a148e78678b4973"/>
  </p:notesMasterIdLst>
  <p:sldIdLst>
    <p:sldId xmlns:r="http://schemas.openxmlformats.org/officeDocument/2006/relationships" id="256" r:id="R76ed03ec5619416d"/>
    <p:sldId xmlns:r="http://schemas.openxmlformats.org/officeDocument/2006/relationships" id="257" r:id="R6a687ad81fff47cf"/>
    <p:sldId xmlns:r="http://schemas.openxmlformats.org/officeDocument/2006/relationships" id="258" r:id="Ra9ff6a118fce42ce"/>
    <p:sldId xmlns:r="http://schemas.openxmlformats.org/officeDocument/2006/relationships" id="259" r:id="R85a5fecd9f454667"/>
    <p:sldId xmlns:r="http://schemas.openxmlformats.org/officeDocument/2006/relationships" id="260" r:id="Rc3c6a655f3f74b39"/>
    <p:sldId xmlns:r="http://schemas.openxmlformats.org/officeDocument/2006/relationships" id="261" r:id="R0c7ad7eda89a4b6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0a63ae3a5b494a" /><Relationship Type="http://schemas.openxmlformats.org/officeDocument/2006/relationships/slideMaster" Target="/ppt/slideMasters/slideMaster1.xml" Id="R14737d00c4f64877" /><Relationship Type="http://schemas.openxmlformats.org/officeDocument/2006/relationships/notesMaster" Target="/ppt/notesMasters/notesMaster1.xml" Id="R6a148e78678b4973" /><Relationship Type="http://schemas.openxmlformats.org/officeDocument/2006/relationships/presProps" Target="/ppt/presProps.xml" Id="R74cf1a1dbcc54160" /><Relationship Type="http://schemas.openxmlformats.org/officeDocument/2006/relationships/tableStyles" Target="/ppt/tableStyles.xml" Id="R0909e5d95dec427c" /><Relationship Type="http://schemas.openxmlformats.org/officeDocument/2006/relationships/slide" Target="/ppt/slides/slide1.xml" Id="R76ed03ec5619416d" /><Relationship Type="http://schemas.openxmlformats.org/officeDocument/2006/relationships/slide" Target="/ppt/slides/slide2.xml" Id="R6a687ad81fff47cf" /><Relationship Type="http://schemas.openxmlformats.org/officeDocument/2006/relationships/slide" Target="/ppt/slides/slide3.xml" Id="Ra9ff6a118fce42ce" /><Relationship Type="http://schemas.openxmlformats.org/officeDocument/2006/relationships/slide" Target="/ppt/slides/slide4.xml" Id="R85a5fecd9f454667" /><Relationship Type="http://schemas.openxmlformats.org/officeDocument/2006/relationships/slide" Target="/ppt/slides/slide5.xml" Id="Rc3c6a655f3f74b39" /><Relationship Type="http://schemas.openxmlformats.org/officeDocument/2006/relationships/slide" Target="/ppt/slides/slide6.xml" Id="R0c7ad7eda89a4b6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28eb9bf9609460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f324ad1c0fe4545" /><Relationship Type="http://schemas.openxmlformats.org/officeDocument/2006/relationships/notesMaster" Target="/ppt/notesMasters/notesMaster1.xml" Id="Rb14c4fedf2d94fd1"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48cd4309864c88" /><Relationship Type="http://schemas.openxmlformats.org/officeDocument/2006/relationships/notesMaster" Target="/ppt/notesMasters/notesMaster1.xml" Id="R58a8ac7b7fa6469c" /></Relationships>
</file>

<file path=ppt/notesSlides/_rels/notesSlide3.xml.rels>&#65279;<?xml version="1.0" encoding="utf-8"?><Relationships xmlns="http://schemas.openxmlformats.org/package/2006/relationships"><Relationship Type="http://schemas.openxmlformats.org/officeDocument/2006/relationships/slide" Target="/ppt/slides/slide3.xml" Id="R4e6a1211e1274a17" /><Relationship Type="http://schemas.openxmlformats.org/officeDocument/2006/relationships/notesMaster" Target="/ppt/notesMasters/notesMaster1.xml" Id="Rc940118dd6ad48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dc427a8104a64467" /><Relationship Type="http://schemas.openxmlformats.org/officeDocument/2006/relationships/notesMaster" Target="/ppt/notesMasters/notesMaster1.xml" Id="R5c6196541cd642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99382738544f42" /><Relationship Type="http://schemas.openxmlformats.org/officeDocument/2006/relationships/notesMaster" Target="/ppt/notesMasters/notesMaster1.xml" Id="Ra9a631c097484cf6" /></Relationships>
</file>

<file path=ppt/notesSlides/_rels/notesSlide6.xml.rels>&#65279;<?xml version="1.0" encoding="utf-8"?><Relationships xmlns="http://schemas.openxmlformats.org/package/2006/relationships"><Relationship Type="http://schemas.openxmlformats.org/officeDocument/2006/relationships/slide" Target="/ppt/slides/slide6.xml" Id="R2d5ec87600ac4a6b" /><Relationship Type="http://schemas.openxmlformats.org/officeDocument/2006/relationships/notesMaster" Target="/ppt/notesMasters/notesMaster1.xml" Id="Rcb4a7e3d617f4a9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and scope: 23,495,188 organizer synthetic rows across 13 tables. Exactly 4,425,008 transaction rows. 171,321 transcripts contain only 42 distinct customer text strings, with no demonstrated Portuguese coverage or trustworthy dispute-intent labels. Source: docs/DATA_FINDINGS.md and docs/evidence/data-profile-summary.json. Focus on transaction support and confirmed dispute intake rather than inventing aligned dialogue labels. Public examples and policies are independently team-authored fixtures.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real running Claro UI, team-authored synthetic fixtures. Workflow: trusted test session, scoped record tools, exact versioned synthetic policy retrieval, a separate confirmation endpoint, atomic case commit, read-back verification, analyst queue. No real money movement, refunds or card blocking. Sources: README.md, docs/OPERATIONS.md, src/factored_banking/api.py and workflow.py.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Diagram objects and connectors are native/editable. Online sequence shows logical responsibility boundaries, not an exhaustive call graph. Public personas issue scoped sandbox identities, not bank customer authentication. Native SQLite persistence uses one worker, with reserved idempotency fingerprint before case side effect and fresh-connection read-back before receipt. Separate private DuckDB data/training jobs never serve organizer raw rows. Sources: docs/OPERATIONS.md, api.py, store.py, workflow.py.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held-out results in docs/evidence/ml-evaluation.json and docs/ML_REPORT.md. Logistic AP0.0009415226700474275, CatBoost AP0.0009380975559168019, constant0.0009052217350599682. At1% review capacity:4,519 reviewed,4TP/4,515FP for either learned model. Training population3,735,596; fitted deterministic sample471,012 including all3,712positives, inverse-propensity negative weights8. Candidate promotion fixed on February before test. Excludes supplied fraud_score, target, current snapshots and future/simultaneous history. Full-snapshot feasibility diagnostics preceded temporal evaluation, so no externally blind claim. No learned promotion. Runtime organizer-domain population prior is explicitly not personalized. Public fixtures are out of domain. No prevented-loss or production-accuracy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docs/LANGUAGE_EVALUATION.md, docs/SYSTEM_EVALUATION.md, docs/evidence/language-evaluation.json, system-challenge-evaluation.json. Component: training196/development56/test140 balanced synthetic cases, frozen semantic groups. Local ML TF-IDF/logistic117/140 macroF10.8230; rules65/140 F10.4207; local Gemma3 4B115/140 F10.8045. Small ML/Gemma difference is not claimed significant. Fresh system first pass61/70 versus43/70. Learned ES31/35, PT30/35, required verified handoffs28/30, unnecessary proposals4/70. Labels/translations are assistant-authored without independent human/native-language review. Author saw earlier workflow code, so not externally blinded. Model API spend0 excludes electricity/hardware/hosting. First-pass workflow sources remain immutable; later fixes are regression, not untouched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https://github.com/nicoceron/factored-hackathon-2026-nicoceron . Deployed URL only appears as verified when submission/deployment.json verified=true, supplied after root verifies live service. Until then the editable deck clearly states pending. Screenshot is a real running sandbox UI with team fixtures. Free-host filesystem may reset. Source docs/OPERATIONS.md and submission/deployment.json. Next deployment gates include independent labels/language review, real bank entitlements/MFA, approved jurisdiction/product policies, durable transactional data, monitored rollout, privacy/retention controls and operational human staffing. No real-bank operation or production readiness certification.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0248f7de719429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5ddc3e9fad4108" /><Relationship Type="http://schemas.openxmlformats.org/officeDocument/2006/relationships/slideLayout" Target="/ppt/slideLayouts/slideLayout1.xml" Id="R7f3a373be0b84e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f3a373be0b84e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6135abe2bf7481b" /><Relationship Type="http://schemas.openxmlformats.org/officeDocument/2006/relationships/notesSlide" Target="/ppt/notesSlides/notesSlide1.xml" Id="R3ef669a174814cd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0bb1677f1dd4024" /><Relationship Type="http://schemas.openxmlformats.org/officeDocument/2006/relationships/image" Target="/ppt/media/image.jpeg" Id="Recaf6e4f693b4785" /><Relationship Type="http://schemas.openxmlformats.org/officeDocument/2006/relationships/notesSlide" Target="/ppt/notesSlides/notesSlide2.xml" Id="Raacc59be4902427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eb8e8a3499d413f" /><Relationship Type="http://schemas.openxmlformats.org/officeDocument/2006/relationships/notesSlide" Target="/ppt/notesSlides/notesSlide3.xml" Id="Rb052a1e8d4cb427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8473b543cd541eb" /><Relationship Type="http://schemas.openxmlformats.org/officeDocument/2006/relationships/chart" Target="/ppt/slides/charts/chart1.xml" Id="R59a0d8e30b174d95" /><Relationship Type="http://schemas.openxmlformats.org/officeDocument/2006/relationships/notesSlide" Target="/ppt/notesSlides/notesSlide4.xml" Id="Rbeb89cdd475242b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97da7205f94db0" /><Relationship Type="http://schemas.openxmlformats.org/officeDocument/2006/relationships/chart" Target="/ppt/slides/charts/chart2.xml" Id="Rd0b559a6e2074508" /><Relationship Type="http://schemas.openxmlformats.org/officeDocument/2006/relationships/chart" Target="/ppt/slides/charts/chart3.xml" Id="Rc58dd701bd9e4cc5" /><Relationship Type="http://schemas.openxmlformats.org/officeDocument/2006/relationships/notesSlide" Target="/ppt/notesSlides/notesSlide5.xml" Id="Rbd37c59b19fc407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18abc2a98ea478c" /><Relationship Type="http://schemas.openxmlformats.org/officeDocument/2006/relationships/image" Target="/ppt/media/image2.jpeg" Id="R788522a9b0a64c81" /><Relationship Type="http://schemas.openxmlformats.org/officeDocument/2006/relationships/notesSlide" Target="/ppt/notesSlides/notesSlide6.xml" Id="Rcd63267611c5431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Pt>
            <c:idx val="2"/>
            <c:invertIfNegative val="0"/>
            <c:spPr>
              <a:solidFill xmlns:a="http://schemas.openxmlformats.org/drawingml/2006/main">
                <a:srgbClr val="427D9A"/>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0.000905</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0.000942</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0.000938</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Data'!$A$2:$A$4</c:f>
              <c:strCache>
                <c:ptCount val="3"/>
                <c:pt idx="0">
                  <c:v>Constant</c:v>
                </c:pt>
                <c:pt idx="1">
                  <c:v>Logistic</c:v>
                </c:pt>
                <c:pt idx="2">
                  <c:v>CatBoost</c:v>
                </c:pt>
              </c:strCache>
            </c:strRef>
          </c:cat>
          <c:val>
            <c:numRef>
              <c:f>'Chart Data'!$B$2:$B$4</c:f>
              <c:numCache>
                <c:formatCode>0.0000</c:formatCode>
                <c:ptCount val="3"/>
                <c:pt idx="0">
                  <c:v>0.000905221735</c:v>
                </c:pt>
                <c:pt idx="1">
                  <c:v>0.00094152267</c:v>
                </c:pt>
                <c:pt idx="2">
                  <c:v>0.000938097556</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0.0011"/>
          <c:min val="0"/>
        </c:scaling>
        <c:delete val="0"/>
        <c:axPos val="l"/>
        <c:majorGridlines>
          <c:spPr>
            <a:ln xmlns:a="http://schemas.openxmlformats.org/drawingml/2006/main" w="9525">
              <a:solidFill>
                <a:srgbClr val="DCE9ED"/>
              </a:solidFill>
            </a:ln>
          </c:spPr>
        </c:majorGridlines>
        <c:numFmt formatCode="0.00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Pt>
            <c:idx val="2"/>
            <c:invertIfNegative val="0"/>
            <c:spPr>
              <a:solidFill xmlns:a="http://schemas.openxmlformats.org/drawingml/2006/main">
                <a:srgbClr val="427D9A"/>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0.421</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0.823</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0.805</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Data'!$A$2:$A$4</c:f>
              <c:strCache>
                <c:ptCount val="3"/>
                <c:pt idx="0">
                  <c:v>Rules</c:v>
                </c:pt>
                <c:pt idx="1">
                  <c:v>Local ML</c:v>
                </c:pt>
                <c:pt idx="2">
                  <c:v>Gemma 3</c:v>
                </c:pt>
              </c:strCache>
            </c:strRef>
          </c:cat>
          <c:val>
            <c:numRef>
              <c:f>'Chart Data'!$B$2:$B$4</c:f>
              <c:numCache>
                <c:formatCode>0.0</c:formatCode>
                <c:ptCount val="3"/>
                <c:pt idx="0">
                  <c:v>0.420722527</c:v>
                </c:pt>
                <c:pt idx="1">
                  <c:v>0.822971628</c:v>
                </c:pt>
                <c:pt idx="2">
                  <c:v>0.80451927</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1"/>
          <c:min val="0"/>
        </c:scaling>
        <c:delete val="0"/>
        <c:axPos val="l"/>
        <c:majorGridlines>
          <c:spPr>
            <a:ln xmlns:a="http://schemas.openxmlformats.org/drawingml/2006/main" w="9525">
              <a:solidFill>
                <a:srgbClr val="DCE9ED"/>
              </a:solidFill>
            </a:ln>
          </c:spPr>
        </c:majorGridlines>
        <c:numFmt formatCode="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43 / 70</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61 / 70</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Data'!$A$2:$A$3</c:f>
              <c:strCache>
                <c:ptCount val="2"/>
                <c:pt idx="0">
                  <c:v>Rules</c:v>
                </c:pt>
                <c:pt idx="1">
                  <c:v>Local ML</c:v>
                </c:pt>
              </c:strCache>
            </c:strRef>
          </c:cat>
          <c:val>
            <c:numRef>
              <c:f>'Chart Data'!$B$2:$B$3</c:f>
              <c:numCache>
                <c:formatCode>0%</c:formatCode>
                <c:ptCount val="2"/>
                <c:pt idx="0">
                  <c:v>0.614285714</c:v>
                </c:pt>
                <c:pt idx="1">
                  <c:v>0.871428571</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1"/>
          <c:min val="0"/>
        </c:scaling>
        <c:delete val="0"/>
        <c:axPos val="l"/>
        <c:majorGridlines>
          <c:spPr>
            <a:ln xmlns:a="http://schemas.openxmlformats.org/drawingml/2006/main" w="9525">
              <a:solidFill>
                <a:srgbClr val="DCE9ED"/>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9D90226-8822-4D26-90FF-2DFF1E596D99}"/>
              </a:ext>
            </a:extLst>
          </p:cNvPr>
          <p:cNvSpPr>
            <a:spLocks xmlns:a="http://schemas.openxmlformats.org/drawingml/2006/main" noGrp="1"/>
          </p:cNvSpPr>
          <p:nvPr/>
        </p:nvSpPr>
        <p:spPr>
          <a:xfrm xmlns:a="http://schemas.openxmlformats.org/drawingml/2006/main">
            <a:off x="609600" y="438150"/>
            <a:ext cx="723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450" b="1">
                <a:solidFill>
                  <a:srgbClr val="F7FAFC"/>
                </a:solidFill>
                <a:latin typeface="Noto Sans"/>
                <a:ea typeface="Noto Sans"/>
                <a:cs typeface="Noto Sans"/>
              </a:defRPr>
            </a:pPr>
            <a:r>
              <a:rPr sz="6450" b="1">
                <a:solidFill>
                  <a:srgbClr val="F7FAFC"/>
                </a:solidFill>
                <a:latin typeface="Noto Sans"/>
                <a:ea typeface="Noto Sans"/>
                <a:cs typeface="Noto Sans"/>
              </a:rPr>
              <a:t>Claro</a:t>
            </a:r>
          </a:p>
        </p:txBody>
      </p:sp>
      <p:sp>
        <p:nvSpPr>
          <p:cNvPr id="2" name="">
            <a:extLst xmlns:a="http://schemas.openxmlformats.org/drawingml/2006/main">
              <a:ext uri="{FF2B5EF4-FFF2-40B4-BE49-F238E27FC236}">
                <a16:creationId xmlns:a16="http://schemas.microsoft.com/office/drawing/2014/main" id="{914D27B5-8994-42AA-A977-5ED5334AF134}"/>
              </a:ext>
            </a:extLst>
          </p:cNvPr>
          <p:cNvSpPr>
            <a:spLocks xmlns:a="http://schemas.openxmlformats.org/drawingml/2006/main" noGrp="1"/>
          </p:cNvSpPr>
          <p:nvPr/>
        </p:nvSpPr>
        <p:spPr>
          <a:xfrm xmlns:a="http://schemas.openxmlformats.org/drawingml/2006/main">
            <a:off x="609600" y="1647825"/>
            <a:ext cx="695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825" b="1">
                <a:solidFill>
                  <a:srgbClr val="F7FAFC"/>
                </a:solidFill>
                <a:latin typeface="Noto Sans"/>
                <a:ea typeface="Noto Sans"/>
                <a:cs typeface="Noto Sans"/>
              </a:defRPr>
            </a:pPr>
            <a:r>
              <a:rPr sz="3825" b="1">
                <a:solidFill>
                  <a:srgbClr val="F7FAFC"/>
                </a:solidFill>
                <a:latin typeface="Noto Sans"/>
                <a:ea typeface="Noto Sans"/>
                <a:cs typeface="Noto Sans"/>
              </a:rPr>
              <a:t>Banking support with</a:t>
            </a:r>
          </a:p>
          <a:p xmlns:a="http://schemas.openxmlformats.org/drawingml/2006/main">
            <a:pPr algn="l">
              <a:defRPr sz="3825" b="1">
                <a:solidFill>
                  <a:srgbClr val="F7FAFC"/>
                </a:solidFill>
                <a:latin typeface="Noto Sans"/>
                <a:ea typeface="Noto Sans"/>
                <a:cs typeface="Noto Sans"/>
              </a:defRPr>
            </a:pPr>
            <a:r>
              <a:rPr sz="3825" b="1">
                <a:solidFill>
                  <a:srgbClr val="F7FAFC"/>
                </a:solidFill>
                <a:latin typeface="Noto Sans"/>
                <a:ea typeface="Noto Sans"/>
                <a:cs typeface="Noto Sans"/>
              </a:rPr>
              <a:t>verified outcomes</a:t>
            </a:r>
          </a:p>
        </p:txBody>
      </p:sp>
      <p:sp>
        <p:nvSpPr>
          <p:cNvPr id="3" name="">
            <a:extLst xmlns:a="http://schemas.openxmlformats.org/drawingml/2006/main">
              <a:ext uri="{FF2B5EF4-FFF2-40B4-BE49-F238E27FC236}">
                <a16:creationId xmlns:a16="http://schemas.microsoft.com/office/drawing/2014/main" id="{171A5E72-4D05-4B81-ABC1-C47BE1210A90}"/>
              </a:ext>
            </a:extLst>
          </p:cNvPr>
          <p:cNvSpPr>
            <a:spLocks xmlns:a="http://schemas.openxmlformats.org/drawingml/2006/main" noGrp="1"/>
          </p:cNvSpPr>
          <p:nvPr/>
        </p:nvSpPr>
        <p:spPr>
          <a:xfrm xmlns:a="http://schemas.openxmlformats.org/drawingml/2006/main">
            <a:off x="638175" y="3343275"/>
            <a:ext cx="695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A4B7C8"/>
                </a:solidFill>
                <a:latin typeface="Noto Sans"/>
                <a:ea typeface="Noto Sans"/>
                <a:cs typeface="Noto Sans"/>
              </a:defRPr>
            </a:pPr>
            <a:r>
              <a:rPr sz="2025" b="0">
                <a:solidFill>
                  <a:srgbClr val="A4B7C8"/>
                </a:solidFill>
                <a:latin typeface="Noto Sans"/>
                <a:ea typeface="Noto Sans"/>
                <a:cs typeface="Noto Sans"/>
              </a:rPr>
              <a:t>Spanish and Portuguese transaction support</a:t>
            </a:r>
          </a:p>
          <a:p xmlns:a="http://schemas.openxmlformats.org/drawingml/2006/main">
            <a:pPr algn="l">
              <a:defRPr sz="2025" b="0">
                <a:solidFill>
                  <a:srgbClr val="A4B7C8"/>
                </a:solidFill>
                <a:latin typeface="Noto Sans"/>
                <a:ea typeface="Noto Sans"/>
                <a:cs typeface="Noto Sans"/>
              </a:defRPr>
            </a:pPr>
            <a:r>
              <a:rPr sz="2025" b="0">
                <a:solidFill>
                  <a:srgbClr val="A4B7C8"/>
                </a:solidFill>
                <a:latin typeface="Noto Sans"/>
                <a:ea typeface="Noto Sans"/>
                <a:cs typeface="Noto Sans"/>
              </a:rPr>
              <a:t>with confirmed cases for human review</a:t>
            </a:r>
          </a:p>
        </p:txBody>
      </p:sp>
      <p:sp>
        <p:nvSpPr>
          <p:cNvPr id="4" name="">
            <a:extLst xmlns:a="http://schemas.openxmlformats.org/drawingml/2006/main">
              <a:ext uri="{FF2B5EF4-FFF2-40B4-BE49-F238E27FC236}">
                <a16:creationId xmlns:a16="http://schemas.microsoft.com/office/drawing/2014/main" id="{FE451530-5E92-4321-AB27-AAD1496FC93D}"/>
              </a:ext>
            </a:extLst>
          </p:cNvPr>
          <p:cNvSpPr>
            <a:spLocks xmlns:a="http://schemas.openxmlformats.org/drawingml/2006/main" noGrp="1"/>
          </p:cNvSpPr>
          <p:nvPr/>
        </p:nvSpPr>
        <p:spPr>
          <a:xfrm xmlns:a="http://schemas.openxmlformats.org/drawingml/2006/main">
            <a:off x="8477250" y="1590675"/>
            <a:ext cx="304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4800" b="1">
                <a:solidFill>
                  <a:srgbClr val="67E2C4"/>
                </a:solidFill>
                <a:latin typeface="Noto Sans"/>
                <a:ea typeface="Noto Sans"/>
                <a:cs typeface="Noto Sans"/>
              </a:defRPr>
            </a:pPr>
            <a:r>
              <a:rPr sz="4800" b="1">
                <a:solidFill>
                  <a:srgbClr val="67E2C4"/>
                </a:solidFill>
                <a:latin typeface="Noto Sans"/>
                <a:ea typeface="Noto Sans"/>
                <a:cs typeface="Noto Sans"/>
              </a:rPr>
              <a:t>4.43M</a:t>
            </a:r>
          </a:p>
        </p:txBody>
      </p:sp>
      <p:sp>
        <p:nvSpPr>
          <p:cNvPr id="5" name="">
            <a:extLst xmlns:a="http://schemas.openxmlformats.org/drawingml/2006/main">
              <a:ext uri="{FF2B5EF4-FFF2-40B4-BE49-F238E27FC236}">
                <a16:creationId xmlns:a16="http://schemas.microsoft.com/office/drawing/2014/main" id="{F34778F1-F2AA-40BA-B3EE-C82EF23F3D69}"/>
              </a:ext>
            </a:extLst>
          </p:cNvPr>
          <p:cNvSpPr>
            <a:spLocks xmlns:a="http://schemas.openxmlformats.org/drawingml/2006/main" noGrp="1"/>
          </p:cNvSpPr>
          <p:nvPr/>
        </p:nvSpPr>
        <p:spPr>
          <a:xfrm xmlns:a="http://schemas.openxmlformats.org/drawingml/2006/main">
            <a:off x="8505825" y="2390775"/>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transactions audited</a:t>
            </a:r>
          </a:p>
        </p:txBody>
      </p:sp>
      <p:sp>
        <p:nvSpPr>
          <p:cNvPr id="6" name="">
            <a:extLst xmlns:a="http://schemas.openxmlformats.org/drawingml/2006/main">
              <a:ext uri="{FF2B5EF4-FFF2-40B4-BE49-F238E27FC236}">
                <a16:creationId xmlns:a16="http://schemas.microsoft.com/office/drawing/2014/main" id="{AC84122E-7542-4A32-8114-7CDB10E8E520}"/>
              </a:ext>
            </a:extLst>
          </p:cNvPr>
          <p:cNvSpPr>
            <a:spLocks xmlns:a="http://schemas.openxmlformats.org/drawingml/2006/main" noGrp="1"/>
          </p:cNvSpPr>
          <p:nvPr/>
        </p:nvSpPr>
        <p:spPr>
          <a:xfrm xmlns:a="http://schemas.openxmlformats.org/drawingml/2006/main">
            <a:off x="8477250" y="3209925"/>
            <a:ext cx="266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4800" b="1">
                <a:solidFill>
                  <a:srgbClr val="67E2C4"/>
                </a:solidFill>
                <a:latin typeface="Noto Sans"/>
                <a:ea typeface="Noto Sans"/>
                <a:cs typeface="Noto Sans"/>
              </a:defRPr>
            </a:pPr>
            <a:r>
              <a:rPr sz="4800" b="1">
                <a:solidFill>
                  <a:srgbClr val="67E2C4"/>
                </a:solidFill>
                <a:latin typeface="Noto Sans"/>
                <a:ea typeface="Noto Sans"/>
                <a:cs typeface="Noto Sans"/>
              </a:rPr>
              <a:t>42</a:t>
            </a:r>
          </a:p>
        </p:txBody>
      </p:sp>
      <p:sp>
        <p:nvSpPr>
          <p:cNvPr id="7" name="">
            <a:extLst xmlns:a="http://schemas.openxmlformats.org/drawingml/2006/main">
              <a:ext uri="{FF2B5EF4-FFF2-40B4-BE49-F238E27FC236}">
                <a16:creationId xmlns:a16="http://schemas.microsoft.com/office/drawing/2014/main" id="{44F6566C-B583-4E97-828D-2B1E99E7E29C}"/>
              </a:ext>
            </a:extLst>
          </p:cNvPr>
          <p:cNvSpPr>
            <a:spLocks xmlns:a="http://schemas.openxmlformats.org/drawingml/2006/main" noGrp="1"/>
          </p:cNvSpPr>
          <p:nvPr/>
        </p:nvSpPr>
        <p:spPr>
          <a:xfrm xmlns:a="http://schemas.openxmlformats.org/drawingml/2006/main">
            <a:off x="8505825" y="3990975"/>
            <a:ext cx="304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distinct customer utterances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in organizer transcripts</a:t>
            </a:r>
          </a:p>
        </p:txBody>
      </p:sp>
      <p:sp>
        <p:nvSpPr>
          <p:cNvPr id="8" name="">
            <a:extLst xmlns:a="http://schemas.openxmlformats.org/drawingml/2006/main">
              <a:ext uri="{FF2B5EF4-FFF2-40B4-BE49-F238E27FC236}">
                <a16:creationId xmlns:a16="http://schemas.microsoft.com/office/drawing/2014/main" id="{BD8A4836-8D41-4E48-9004-03C60A73B949}"/>
              </a:ext>
            </a:extLst>
          </p:cNvPr>
          <p:cNvSpPr>
            <a:spLocks xmlns:a="http://schemas.openxmlformats.org/drawingml/2006/main" noGrp="1"/>
          </p:cNvSpPr>
          <p:nvPr/>
        </p:nvSpPr>
        <p:spPr>
          <a:xfrm xmlns:a="http://schemas.openxmlformats.org/drawingml/2006/main">
            <a:off x="638175" y="51625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F7FAFC"/>
                </a:solidFill>
                <a:latin typeface="Noto Sans"/>
                <a:ea typeface="Noto Sans"/>
                <a:cs typeface="Noto Sans"/>
              </a:defRPr>
            </a:pPr>
            <a:r>
              <a:rPr sz="2025" b="0">
                <a:solidFill>
                  <a:srgbClr val="F7FAFC"/>
                </a:solidFill>
                <a:latin typeface="Noto Sans"/>
                <a:ea typeface="Noto Sans"/>
                <a:cs typeface="Noto Sans"/>
              </a:rPr>
              <a:t>We keep organizer analysis, authored language scenarios and public demo fixtures separate.</a:t>
            </a:r>
          </a:p>
        </p:txBody>
      </p:sp>
      <p:sp>
        <p:nvSpPr>
          <p:cNvPr id="9" name="">
            <a:extLst xmlns:a="http://schemas.openxmlformats.org/drawingml/2006/main">
              <a:ext uri="{FF2B5EF4-FFF2-40B4-BE49-F238E27FC236}">
                <a16:creationId xmlns:a16="http://schemas.microsoft.com/office/drawing/2014/main" id="{05490F93-361B-4B8E-B5B5-27F61F60D96C}"/>
              </a:ext>
            </a:extLst>
          </p:cNvPr>
          <p:cNvSpPr>
            <a:spLocks xmlns:a="http://schemas.openxmlformats.org/drawingml/2006/main" noGrp="1"/>
          </p:cNvSpPr>
          <p:nvPr/>
        </p:nvSpPr>
        <p:spPr>
          <a:xfrm xmlns:a="http://schemas.openxmlformats.org/drawingml/2006/main">
            <a:off x="638175" y="63722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A4B7C8"/>
                </a:solidFill>
                <a:latin typeface="Noto Sans"/>
                <a:ea typeface="Noto Sans"/>
                <a:cs typeface="Noto Sans"/>
              </a:defRPr>
            </a:pPr>
            <a:r>
              <a:rPr sz="1275" b="0">
                <a:solidFill>
                  <a:srgbClr val="A4B7C8"/>
                </a:solidFill>
                <a:latin typeface="Noto Sans"/>
                <a:ea typeface="Noto Sans"/>
                <a:cs typeface="Noto Sans"/>
              </a:rPr>
              <a:t>Factored AI &amp; Data Hackathon 2026  /  Team nicoceron</a:t>
            </a:r>
          </a:p>
        </p:txBody>
      </p:sp>
    </p:spTree>
    <p:extLst>
      <p:ext uri="{BB962C8B-B14F-4D97-AF65-F5344CB8AC3E}">
        <p14:creationId xmlns:p14="http://schemas.microsoft.com/office/powerpoint/2010/main" val="1818900643"/>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C5B212B-6EED-4EBD-943D-EF3E9791B3F1}"/>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Customer evidence and verified cases</a:t>
            </a:r>
          </a:p>
        </p:txBody>
      </p:sp>
      <p:sp>
        <p:nvSpPr>
          <p:cNvPr id="2" name="">
            <a:extLst xmlns:a="http://schemas.openxmlformats.org/drawingml/2006/main">
              <a:ext uri="{FF2B5EF4-FFF2-40B4-BE49-F238E27FC236}">
                <a16:creationId xmlns:a16="http://schemas.microsoft.com/office/drawing/2014/main" id="{694FC903-944E-4A84-8C3F-BBED67504914}"/>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2</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ecaf6e4f693b4785"/>
          <a:stretch xmlns:a="http://schemas.openxmlformats.org/drawingml/2006/main"/>
        </p:blipFill>
        <p:spPr>
          <a:xfrm xmlns:a="http://schemas.openxmlformats.org/drawingml/2006/main">
            <a:off x="1036227" y="1647825"/>
            <a:ext cx="6538146" cy="43148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7D716FC-5900-46A6-B272-0E6C90249ABE}"/>
              </a:ext>
            </a:extLst>
          </p:cNvPr>
          <p:cNvSpPr>
            <a:spLocks xmlns:a="http://schemas.openxmlformats.org/drawingml/2006/main" noGrp="1"/>
          </p:cNvSpPr>
          <p:nvPr/>
        </p:nvSpPr>
        <p:spPr>
          <a:xfrm xmlns:a="http://schemas.openxmlformats.org/drawingml/2006/main">
            <a:off x="8382000" y="169545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1  Understand</a:t>
            </a:r>
          </a:p>
        </p:txBody>
      </p:sp>
      <p:sp>
        <p:nvSpPr>
          <p:cNvPr id="5" name="">
            <a:extLst xmlns:a="http://schemas.openxmlformats.org/drawingml/2006/main">
              <a:ext uri="{FF2B5EF4-FFF2-40B4-BE49-F238E27FC236}">
                <a16:creationId xmlns:a16="http://schemas.microsoft.com/office/drawing/2014/main" id="{25372C9C-8BDE-42BD-A47C-B3CFBB60A0FA}"/>
              </a:ext>
            </a:extLst>
          </p:cNvPr>
          <p:cNvSpPr>
            <a:spLocks xmlns:a="http://schemas.openxmlformats.org/drawingml/2006/main" noGrp="1"/>
          </p:cNvSpPr>
          <p:nvPr/>
        </p:nvSpPr>
        <p:spPr>
          <a:xfrm xmlns:a="http://schemas.openxmlformats.org/drawingml/2006/main">
            <a:off x="8382000" y="2143125"/>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Ask for the transaction</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when the request is unclear.</a:t>
            </a:r>
          </a:p>
        </p:txBody>
      </p:sp>
      <p:sp>
        <p:nvSpPr>
          <p:cNvPr id="6" name="">
            <a:extLst xmlns:a="http://schemas.openxmlformats.org/drawingml/2006/main">
              <a:ext uri="{FF2B5EF4-FFF2-40B4-BE49-F238E27FC236}">
                <a16:creationId xmlns:a16="http://schemas.microsoft.com/office/drawing/2014/main" id="{5DB2FD48-575F-45FA-82A5-9F0E0BA5C43E}"/>
              </a:ext>
            </a:extLst>
          </p:cNvPr>
          <p:cNvSpPr>
            <a:spLocks xmlns:a="http://schemas.openxmlformats.org/drawingml/2006/main" noGrp="1"/>
          </p:cNvSpPr>
          <p:nvPr/>
        </p:nvSpPr>
        <p:spPr>
          <a:xfrm xmlns:a="http://schemas.openxmlformats.org/drawingml/2006/main">
            <a:off x="8382000" y="3076575"/>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2  Show the evidence</a:t>
            </a:r>
          </a:p>
        </p:txBody>
      </p:sp>
      <p:sp>
        <p:nvSpPr>
          <p:cNvPr id="7" name="">
            <a:extLst xmlns:a="http://schemas.openxmlformats.org/drawingml/2006/main">
              <a:ext uri="{FF2B5EF4-FFF2-40B4-BE49-F238E27FC236}">
                <a16:creationId xmlns:a16="http://schemas.microsoft.com/office/drawing/2014/main" id="{738C808B-E04F-4F01-9135-EDEB80527C4D}"/>
              </a:ext>
            </a:extLst>
          </p:cNvPr>
          <p:cNvSpPr>
            <a:spLocks xmlns:a="http://schemas.openxmlformats.org/drawingml/2006/main" noGrp="1"/>
          </p:cNvSpPr>
          <p:nvPr/>
        </p:nvSpPr>
        <p:spPr>
          <a:xfrm xmlns:a="http://schemas.openxmlformats.org/drawingml/2006/main">
            <a:off x="8382000" y="3524250"/>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Preserve amount, currency,</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status and historical source.</a:t>
            </a:r>
          </a:p>
        </p:txBody>
      </p:sp>
      <p:sp>
        <p:nvSpPr>
          <p:cNvPr id="8" name="">
            <a:extLst xmlns:a="http://schemas.openxmlformats.org/drawingml/2006/main">
              <a:ext uri="{FF2B5EF4-FFF2-40B4-BE49-F238E27FC236}">
                <a16:creationId xmlns:a16="http://schemas.microsoft.com/office/drawing/2014/main" id="{2F2BD79F-EE3F-4F4E-9302-21405C6A5C3C}"/>
              </a:ext>
            </a:extLst>
          </p:cNvPr>
          <p:cNvSpPr>
            <a:spLocks xmlns:a="http://schemas.openxmlformats.org/drawingml/2006/main" noGrp="1"/>
          </p:cNvSpPr>
          <p:nvPr/>
        </p:nvSpPr>
        <p:spPr>
          <a:xfrm xmlns:a="http://schemas.openxmlformats.org/drawingml/2006/main">
            <a:off x="8382000" y="445770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3  Confirm and verify</a:t>
            </a:r>
          </a:p>
        </p:txBody>
      </p:sp>
      <p:sp>
        <p:nvSpPr>
          <p:cNvPr id="9" name="">
            <a:extLst xmlns:a="http://schemas.openxmlformats.org/drawingml/2006/main">
              <a:ext uri="{FF2B5EF4-FFF2-40B4-BE49-F238E27FC236}">
                <a16:creationId xmlns:a16="http://schemas.microsoft.com/office/drawing/2014/main" id="{3411FAA1-235E-4509-B4B7-53DD8795C97A}"/>
              </a:ext>
            </a:extLst>
          </p:cNvPr>
          <p:cNvSpPr>
            <a:spLocks xmlns:a="http://schemas.openxmlformats.org/drawingml/2006/main" noGrp="1"/>
          </p:cNvSpPr>
          <p:nvPr/>
        </p:nvSpPr>
        <p:spPr>
          <a:xfrm xmlns:a="http://schemas.openxmlformats.org/drawingml/2006/main">
            <a:off x="8382000" y="4905375"/>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Create one sandbox case.</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Read it back before success.</a:t>
            </a:r>
          </a:p>
        </p:txBody>
      </p:sp>
    </p:spTree>
    <p:extLst>
      <p:ext uri="{BB962C8B-B14F-4D97-AF65-F5344CB8AC3E}">
        <p14:creationId xmlns:p14="http://schemas.microsoft.com/office/powerpoint/2010/main" val="1986978378"/>
      </p:ext>
    </p:extLst>
  </p:cSld>
</p:sld>
</file>

<file path=ppt/slides/slide3.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659CC21-7ABD-4147-AEF3-803788E299B7}"/>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F7FAFC"/>
                </a:solidFill>
                <a:latin typeface="Noto Sans"/>
                <a:ea typeface="Noto Sans"/>
                <a:cs typeface="Noto Sans"/>
              </a:defRPr>
            </a:pPr>
            <a:r>
              <a:rPr sz="3300" b="1">
                <a:solidFill>
                  <a:srgbClr val="F7FAFC"/>
                </a:solidFill>
                <a:latin typeface="Noto Sans"/>
                <a:ea typeface="Noto Sans"/>
                <a:cs typeface="Noto Sans"/>
              </a:rPr>
              <a:t>Permissions and actions stay in service code</a:t>
            </a:r>
          </a:p>
        </p:txBody>
      </p:sp>
      <p:sp>
        <p:nvSpPr>
          <p:cNvPr id="2" name="">
            <a:extLst xmlns:a="http://schemas.openxmlformats.org/drawingml/2006/main">
              <a:ext uri="{FF2B5EF4-FFF2-40B4-BE49-F238E27FC236}">
                <a16:creationId xmlns:a16="http://schemas.microsoft.com/office/drawing/2014/main" id="{5AF073DF-DD84-4CA8-849F-005FD98A737B}"/>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A4B7C8"/>
                </a:solidFill>
                <a:latin typeface="Noto Sans"/>
                <a:ea typeface="Noto Sans"/>
                <a:cs typeface="Noto Sans"/>
              </a:defRPr>
            </a:pPr>
            <a:r>
              <a:rPr sz="1125" b="0">
                <a:solidFill>
                  <a:srgbClr val="A4B7C8"/>
                </a:solidFill>
                <a:latin typeface="Noto Sans"/>
                <a:ea typeface="Noto Sans"/>
                <a:cs typeface="Noto Sans"/>
              </a:rPr>
              <a:t>Claro  /  Factored 2026  /  3</a:t>
            </a:r>
          </a:p>
        </p:txBody>
      </p:sp>
      <p:sp>
        <p:nvSpPr>
          <p:cNvPr id="3" name="">
            <a:extLst xmlns:a="http://schemas.openxmlformats.org/drawingml/2006/main">
              <a:ext uri="{FF2B5EF4-FFF2-40B4-BE49-F238E27FC236}">
                <a16:creationId xmlns:a16="http://schemas.microsoft.com/office/drawing/2014/main" id="{CF12D48C-F727-40E6-BD68-09EEDFB9A0CC}"/>
              </a:ext>
            </a:extLst>
          </p:cNvPr>
          <p:cNvSpPr>
            <a:spLocks xmlns:a="http://schemas.openxmlformats.org/drawingml/2006/main" noGrp="1"/>
          </p:cNvSpPr>
          <p:nvPr/>
        </p:nvSpPr>
        <p:spPr>
          <a:xfrm xmlns:a="http://schemas.openxmlformats.org/drawingml/2006/main">
            <a:off x="609600" y="14001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A4B7C8"/>
                </a:solidFill>
                <a:latin typeface="Noto Sans"/>
                <a:ea typeface="Noto Sans"/>
                <a:cs typeface="Noto Sans"/>
              </a:defRPr>
            </a:pPr>
            <a:r>
              <a:rPr sz="1875" b="0">
                <a:solidFill>
                  <a:srgbClr val="A4B7C8"/>
                </a:solidFill>
                <a:latin typeface="Noto Sans"/>
                <a:ea typeface="Noto Sans"/>
                <a:cs typeface="Noto Sans"/>
              </a:rPr>
              <a:t>The model advises the workflow. It cannot select an identity or execute a banking action.</a:t>
            </a:r>
          </a:p>
        </p:txBody>
      </p:sp>
      <p:sp>
        <p:nvSpPr>
          <p:cNvPr id="4" name="">
            <a:extLst xmlns:a="http://schemas.openxmlformats.org/drawingml/2006/main">
              <a:ext uri="{FF2B5EF4-FFF2-40B4-BE49-F238E27FC236}">
                <a16:creationId xmlns:a16="http://schemas.microsoft.com/office/drawing/2014/main" id="{9546601A-DE57-4A0E-9A2A-DDB7D8977396}"/>
              </a:ext>
            </a:extLst>
          </p:cNvPr>
          <p:cNvSpPr>
            <a:spLocks xmlns:a="http://schemas.openxmlformats.org/drawingml/2006/main" noGrp="1"/>
          </p:cNvSpPr>
          <p:nvPr/>
        </p:nvSpPr>
        <p:spPr>
          <a:xfrm xmlns:a="http://schemas.openxmlformats.org/drawingml/2006/main">
            <a:off x="6096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ES / PT browser</a:t>
            </a:r>
          </a:p>
        </p:txBody>
      </p:sp>
      <p:sp>
        <p:nvSpPr>
          <p:cNvPr id="5" name="">
            <a:extLst xmlns:a="http://schemas.openxmlformats.org/drawingml/2006/main">
              <a:ext uri="{FF2B5EF4-FFF2-40B4-BE49-F238E27FC236}">
                <a16:creationId xmlns:a16="http://schemas.microsoft.com/office/drawing/2014/main" id="{03C94C81-488C-4356-8F1B-86B8EFBFDB62}"/>
              </a:ext>
            </a:extLst>
          </p:cNvPr>
          <p:cNvSpPr>
            <a:spLocks xmlns:a="http://schemas.openxmlformats.org/drawingml/2006/main" noGrp="1"/>
          </p:cNvSpPr>
          <p:nvPr/>
        </p:nvSpPr>
        <p:spPr>
          <a:xfrm xmlns:a="http://schemas.openxmlformats.org/drawingml/2006/main">
            <a:off x="34671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Scoped sessions</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and record tools</a:t>
            </a:r>
          </a:p>
        </p:txBody>
      </p:sp>
      <p:sp>
        <p:nvSpPr>
          <p:cNvPr id="6" name="">
            <a:extLst xmlns:a="http://schemas.openxmlformats.org/drawingml/2006/main">
              <a:ext uri="{FF2B5EF4-FFF2-40B4-BE49-F238E27FC236}">
                <a16:creationId xmlns:a16="http://schemas.microsoft.com/office/drawing/2014/main" id="{075C2342-F14E-40B6-8D22-1CCCBB4D835D}"/>
              </a:ext>
            </a:extLst>
          </p:cNvPr>
          <p:cNvSpPr>
            <a:spLocks xmlns:a="http://schemas.openxmlformats.org/drawingml/2006/main" noGrp="1"/>
          </p:cNvSpPr>
          <p:nvPr/>
        </p:nvSpPr>
        <p:spPr>
          <a:xfrm xmlns:a="http://schemas.openxmlformats.org/drawingml/2006/main">
            <a:off x="63246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Local language</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classifier</a:t>
            </a:r>
          </a:p>
        </p:txBody>
      </p:sp>
      <p:sp>
        <p:nvSpPr>
          <p:cNvPr id="7" name="">
            <a:extLst xmlns:a="http://schemas.openxmlformats.org/drawingml/2006/main">
              <a:ext uri="{FF2B5EF4-FFF2-40B4-BE49-F238E27FC236}">
                <a16:creationId xmlns:a16="http://schemas.microsoft.com/office/drawing/2014/main" id="{22D37600-406B-4A4F-A54A-072B7460B972}"/>
              </a:ext>
            </a:extLst>
          </p:cNvPr>
          <p:cNvSpPr>
            <a:spLocks xmlns:a="http://schemas.openxmlformats.org/drawingml/2006/main" noGrp="1"/>
          </p:cNvSpPr>
          <p:nvPr/>
        </p:nvSpPr>
        <p:spPr>
          <a:xfrm xmlns:a="http://schemas.openxmlformats.org/drawingml/2006/main">
            <a:off x="91821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Deterministic</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workflow</a:t>
            </a:r>
          </a:p>
        </p:txBody>
      </p:sp>
      <p:sp>
        <p:nvSpPr>
          <p:cNvPr id="8" name="">
            <a:extLst xmlns:a="http://schemas.openxmlformats.org/drawingml/2006/main">
              <a:ext uri="{FF2B5EF4-FFF2-40B4-BE49-F238E27FC236}">
                <a16:creationId xmlns:a16="http://schemas.microsoft.com/office/drawing/2014/main" id="{2E835290-C18E-420D-B969-C265F7931515}"/>
              </a:ext>
            </a:extLst>
          </p:cNvPr>
          <p:cNvSpPr>
            <a:spLocks xmlns:a="http://schemas.openxmlformats.org/drawingml/2006/main" noGrp="1"/>
          </p:cNvSpPr>
          <p:nvPr/>
        </p:nvSpPr>
        <p:spPr>
          <a:xfrm xmlns:a="http://schemas.openxmlformats.org/drawingml/2006/main">
            <a:off x="34671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Receipt and</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analyst queue</a:t>
            </a:r>
          </a:p>
        </p:txBody>
      </p:sp>
      <p:sp>
        <p:nvSpPr>
          <p:cNvPr id="9" name="">
            <a:extLst xmlns:a="http://schemas.openxmlformats.org/drawingml/2006/main">
              <a:ext uri="{FF2B5EF4-FFF2-40B4-BE49-F238E27FC236}">
                <a16:creationId xmlns:a16="http://schemas.microsoft.com/office/drawing/2014/main" id="{16513AF1-5CE0-4E6D-9150-F3CDB10E2D11}"/>
              </a:ext>
            </a:extLst>
          </p:cNvPr>
          <p:cNvSpPr>
            <a:spLocks xmlns:a="http://schemas.openxmlformats.org/drawingml/2006/main" noGrp="1"/>
          </p:cNvSpPr>
          <p:nvPr/>
        </p:nvSpPr>
        <p:spPr>
          <a:xfrm xmlns:a="http://schemas.openxmlformats.org/drawingml/2006/main">
            <a:off x="63246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SQLite commit</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and read-back</a:t>
            </a:r>
          </a:p>
        </p:txBody>
      </p:sp>
      <p:sp>
        <p:nvSpPr>
          <p:cNvPr id="10" name="">
            <a:extLst xmlns:a="http://schemas.openxmlformats.org/drawingml/2006/main">
              <a:ext uri="{FF2B5EF4-FFF2-40B4-BE49-F238E27FC236}">
                <a16:creationId xmlns:a16="http://schemas.microsoft.com/office/drawing/2014/main" id="{5048C8B4-63B0-4B7D-8A14-6F87BA677956}"/>
              </a:ext>
            </a:extLst>
          </p:cNvPr>
          <p:cNvSpPr>
            <a:spLocks xmlns:a="http://schemas.openxmlformats.org/drawingml/2006/main" noGrp="1"/>
          </p:cNvSpPr>
          <p:nvPr/>
        </p:nvSpPr>
        <p:spPr>
          <a:xfrm xmlns:a="http://schemas.openxmlformats.org/drawingml/2006/main">
            <a:off x="91821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Explicit case</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confirmation</a:t>
            </a:r>
          </a:p>
        </p:txBody>
      </p:sp>
      <p:cxnSp>
        <p:nvCxnSpPr>
          <p:cNvPr id="29" name=""/>
          <p:cNvCxnSpPr>
            <a:stCxn xmlns:a="http://schemas.openxmlformats.org/drawingml/2006/main" id="4" idx="3"/>
            <a:endCxn xmlns:a="http://schemas.openxmlformats.org/drawingml/2006/main" id="5" idx="1"/>
          </p:cNvCxnSpPr>
          <p:nvPr/>
        </p:nvCxnSpPr>
        <p:spPr>
          <a:xfrm xmlns:a="http://schemas.openxmlformats.org/drawingml/2006/main">
            <a:off x="28003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0" name=""/>
          <p:cNvCxnSpPr>
            <a:stCxn xmlns:a="http://schemas.openxmlformats.org/drawingml/2006/main" id="5" idx="3"/>
            <a:endCxn xmlns:a="http://schemas.openxmlformats.org/drawingml/2006/main" id="6" idx="1"/>
          </p:cNvCxnSpPr>
          <p:nvPr/>
        </p:nvCxnSpPr>
        <p:spPr>
          <a:xfrm xmlns:a="http://schemas.openxmlformats.org/drawingml/2006/main">
            <a:off x="56578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1" name=""/>
          <p:cNvCxnSpPr>
            <a:stCxn xmlns:a="http://schemas.openxmlformats.org/drawingml/2006/main" id="6" idx="3"/>
            <a:endCxn xmlns:a="http://schemas.openxmlformats.org/drawingml/2006/main" id="7" idx="1"/>
          </p:cNvCxnSpPr>
          <p:nvPr/>
        </p:nvCxnSpPr>
        <p:spPr>
          <a:xfrm xmlns:a="http://schemas.openxmlformats.org/drawingml/2006/main">
            <a:off x="85153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2" name=""/>
          <p:cNvCxnSpPr>
            <a:stCxn xmlns:a="http://schemas.openxmlformats.org/drawingml/2006/main" id="7" idx="2"/>
            <a:endCxn xmlns:a="http://schemas.openxmlformats.org/drawingml/2006/main" id="10" idx="0"/>
          </p:cNvCxnSpPr>
          <p:nvPr/>
        </p:nvCxnSpPr>
        <p:spPr>
          <a:xfrm xmlns:a="http://schemas.openxmlformats.org/drawingml/2006/main">
            <a:off x="10277475" y="3228975"/>
            <a:ext cx="0" cy="1057275"/>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3" name=""/>
          <p:cNvCxnSpPr>
            <a:stCxn xmlns:a="http://schemas.openxmlformats.org/drawingml/2006/main" id="10" idx="1"/>
            <a:endCxn xmlns:a="http://schemas.openxmlformats.org/drawingml/2006/main" id="9" idx="3"/>
          </p:cNvCxnSpPr>
          <p:nvPr/>
        </p:nvCxnSpPr>
        <p:spPr>
          <a:xfrm xmlns:a="http://schemas.openxmlformats.org/drawingml/2006/main" flipH="1">
            <a:off x="8515350" y="4743450"/>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4" name=""/>
          <p:cNvCxnSpPr>
            <a:stCxn xmlns:a="http://schemas.openxmlformats.org/drawingml/2006/main" id="9" idx="1"/>
            <a:endCxn xmlns:a="http://schemas.openxmlformats.org/drawingml/2006/main" id="8" idx="3"/>
          </p:cNvCxnSpPr>
          <p:nvPr/>
        </p:nvCxnSpPr>
        <p:spPr>
          <a:xfrm xmlns:a="http://schemas.openxmlformats.org/drawingml/2006/main" flipH="1">
            <a:off x="5657850" y="4743450"/>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sp>
        <p:nvSpPr>
          <p:cNvPr id="17" name="">
            <a:extLst xmlns:a="http://schemas.openxmlformats.org/drawingml/2006/main">
              <a:ext uri="{FF2B5EF4-FFF2-40B4-BE49-F238E27FC236}">
                <a16:creationId xmlns:a16="http://schemas.microsoft.com/office/drawing/2014/main" id="{DA64CDCC-7443-4D4A-931A-C8E7F8CF2388}"/>
              </a:ext>
            </a:extLst>
          </p:cNvPr>
          <p:cNvSpPr>
            <a:spLocks xmlns:a="http://schemas.openxmlformats.org/drawingml/2006/main" noGrp="1"/>
          </p:cNvSpPr>
          <p:nvPr/>
        </p:nvSpPr>
        <p:spPr>
          <a:xfrm xmlns:a="http://schemas.openxmlformats.org/drawingml/2006/main">
            <a:off x="609600" y="4324350"/>
            <a:ext cx="2333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A4B7C8"/>
                </a:solidFill>
                <a:latin typeface="Noto Sans"/>
                <a:ea typeface="Noto Sans"/>
                <a:cs typeface="Noto Sans"/>
              </a:defRPr>
            </a:pPr>
            <a:r>
              <a:rPr sz="1725" b="0">
                <a:solidFill>
                  <a:srgbClr val="A4B7C8"/>
                </a:solidFill>
                <a:latin typeface="Noto Sans"/>
                <a:ea typeface="Noto Sans"/>
                <a:cs typeface="Noto Sans"/>
              </a:rPr>
              <a:t>Exact fixture facts</a:t>
            </a:r>
          </a:p>
          <a:p xmlns:a="http://schemas.openxmlformats.org/drawingml/2006/main">
            <a:pPr algn="l">
              <a:defRPr sz="1725" b="0">
                <a:solidFill>
                  <a:srgbClr val="A4B7C8"/>
                </a:solidFill>
                <a:latin typeface="Noto Sans"/>
                <a:ea typeface="Noto Sans"/>
                <a:cs typeface="Noto Sans"/>
              </a:defRPr>
            </a:pPr>
            <a:r>
              <a:rPr sz="1725" b="0">
                <a:solidFill>
                  <a:srgbClr val="A4B7C8"/>
                </a:solidFill>
                <a:latin typeface="Noto Sans"/>
                <a:ea typeface="Noto Sans"/>
                <a:cs typeface="Noto Sans"/>
              </a:rPr>
              <a:t>Versioned demo policies</a:t>
            </a:r>
          </a:p>
        </p:txBody>
      </p:sp>
      <p:sp>
        <p:nvSpPr>
          <p:cNvPr id="18" name="">
            <a:extLst xmlns:a="http://schemas.openxmlformats.org/drawingml/2006/main">
              <a:ext uri="{FF2B5EF4-FFF2-40B4-BE49-F238E27FC236}">
                <a16:creationId xmlns:a16="http://schemas.microsoft.com/office/drawing/2014/main" id="{33DCC1B9-B6FD-4689-AE15-584DC7414F87}"/>
              </a:ext>
            </a:extLst>
          </p:cNvPr>
          <p:cNvSpPr>
            <a:spLocks xmlns:a="http://schemas.openxmlformats.org/drawingml/2006/main" noGrp="1"/>
          </p:cNvSpPr>
          <p:nvPr/>
        </p:nvSpPr>
        <p:spPr>
          <a:xfrm xmlns:a="http://schemas.openxmlformats.org/drawingml/2006/main">
            <a:off x="609600" y="56388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Opaque sessions + CSRF     Customer/workspace isolation     Idempotent confirmed writes</a:t>
            </a:r>
          </a:p>
        </p:txBody>
      </p:sp>
    </p:spTree>
    <p:extLst>
      <p:ext uri="{BB962C8B-B14F-4D97-AF65-F5344CB8AC3E}">
        <p14:creationId xmlns:p14="http://schemas.microsoft.com/office/powerpoint/2010/main" val="197626147"/>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7E4FBFC-0E79-474B-96D6-A57772A5A0C4}"/>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Fraud candidates did not earn release</a:t>
            </a:r>
          </a:p>
        </p:txBody>
      </p:sp>
      <p:sp>
        <p:nvSpPr>
          <p:cNvPr id="2" name="">
            <a:extLst xmlns:a="http://schemas.openxmlformats.org/drawingml/2006/main">
              <a:ext uri="{FF2B5EF4-FFF2-40B4-BE49-F238E27FC236}">
                <a16:creationId xmlns:a16="http://schemas.microsoft.com/office/drawing/2014/main" id="{178FCA83-52AA-4C32-AF8C-12FD808BD95F}"/>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4</a:t>
            </a:r>
          </a:p>
        </p:txBody>
      </p:sp>
      <p:sp>
        <p:nvSpPr>
          <p:cNvPr id="3" name="">
            <a:extLst xmlns:a="http://schemas.openxmlformats.org/drawingml/2006/main">
              <a:ext uri="{FF2B5EF4-FFF2-40B4-BE49-F238E27FC236}">
                <a16:creationId xmlns:a16="http://schemas.microsoft.com/office/drawing/2014/main" id="{9F816263-B520-4D11-9D2A-EAB0CDD3A4D0}"/>
              </a:ext>
            </a:extLst>
          </p:cNvPr>
          <p:cNvSpPr>
            <a:spLocks xmlns:a="http://schemas.openxmlformats.org/drawingml/2006/main" noGrp="1"/>
          </p:cNvSpPr>
          <p:nvPr/>
        </p:nvSpPr>
        <p:spPr>
          <a:xfrm xmlns:a="http://schemas.openxmlformats.org/drawingml/2006/main">
            <a:off x="609600" y="1533525"/>
            <a:ext cx="5381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4,425,008 validated transactions</a:t>
            </a:r>
          </a:p>
        </p:txBody>
      </p:sp>
      <p:sp>
        <p:nvSpPr>
          <p:cNvPr id="4" name="">
            <a:extLst xmlns:a="http://schemas.openxmlformats.org/drawingml/2006/main">
              <a:ext uri="{FF2B5EF4-FFF2-40B4-BE49-F238E27FC236}">
                <a16:creationId xmlns:a16="http://schemas.microsoft.com/office/drawing/2014/main" id="{A33ABAF7-0DDF-42EB-9BDB-75C89007469C}"/>
              </a:ext>
            </a:extLst>
          </p:cNvPr>
          <p:cNvSpPr>
            <a:spLocks xmlns:a="http://schemas.openxmlformats.org/drawingml/2006/main" noGrp="1"/>
          </p:cNvSpPr>
          <p:nvPr/>
        </p:nvSpPr>
        <p:spPr>
          <a:xfrm xmlns:a="http://schemas.openxmlformats.org/drawingml/2006/main">
            <a:off x="609600" y="2124075"/>
            <a:ext cx="5143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Contracts, quarantine and source hashes</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Strictly prior customer/currency history</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Two full runs with identical feature bytes</a:t>
            </a:r>
          </a:p>
        </p:txBody>
      </p:sp>
      <p:sp>
        <p:nvSpPr>
          <p:cNvPr id="5" name="">
            <a:extLst xmlns:a="http://schemas.openxmlformats.org/drawingml/2006/main">
              <a:ext uri="{FF2B5EF4-FFF2-40B4-BE49-F238E27FC236}">
                <a16:creationId xmlns:a16="http://schemas.microsoft.com/office/drawing/2014/main" id="{601BF29F-3989-4873-8BCE-BD69F85A1BF5}"/>
              </a:ext>
            </a:extLst>
          </p:cNvPr>
          <p:cNvSpPr>
            <a:spLocks xmlns:a="http://schemas.openxmlformats.org/drawingml/2006/main" noGrp="1"/>
          </p:cNvSpPr>
          <p:nvPr/>
        </p:nvSpPr>
        <p:spPr>
          <a:xfrm xmlns:a="http://schemas.openxmlformats.org/drawingml/2006/main">
            <a:off x="609600" y="36195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Temporal evaluation</a:t>
            </a:r>
          </a:p>
        </p:txBody>
      </p:sp>
      <p:sp>
        <p:nvSpPr>
          <p:cNvPr id="6" name="">
            <a:extLst xmlns:a="http://schemas.openxmlformats.org/drawingml/2006/main">
              <a:ext uri="{FF2B5EF4-FFF2-40B4-BE49-F238E27FC236}">
                <a16:creationId xmlns:a16="http://schemas.microsoft.com/office/drawing/2014/main" id="{A3F694BE-0F2D-4A60-8D42-28B8EC3EBFD4}"/>
              </a:ext>
            </a:extLst>
          </p:cNvPr>
          <p:cNvSpPr>
            <a:spLocks xmlns:a="http://schemas.openxmlformats.org/drawingml/2006/main" noGrp="1"/>
          </p:cNvSpPr>
          <p:nvPr/>
        </p:nvSpPr>
        <p:spPr>
          <a:xfrm xmlns:a="http://schemas.openxmlformats.org/drawingml/2006/main">
            <a:off x="609600" y="4095750"/>
            <a:ext cx="50958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Train before January 2026</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Calibrate January, select February</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Test March through the June snapshot</a:t>
            </a:r>
          </a:p>
        </p:txBody>
      </p:sp>
      <p:sp>
        <p:nvSpPr>
          <p:cNvPr id="7" name="">
            <a:extLst xmlns:a="http://schemas.openxmlformats.org/drawingml/2006/main">
              <a:ext uri="{FF2B5EF4-FFF2-40B4-BE49-F238E27FC236}">
                <a16:creationId xmlns:a16="http://schemas.microsoft.com/office/drawing/2014/main" id="{77A6D15D-2733-4A6C-868E-F698770C5A68}"/>
              </a:ext>
            </a:extLst>
          </p:cNvPr>
          <p:cNvSpPr>
            <a:spLocks xmlns:a="http://schemas.openxmlformats.org/drawingml/2006/main" noGrp="1"/>
          </p:cNvSpPr>
          <p:nvPr/>
        </p:nvSpPr>
        <p:spPr>
          <a:xfrm xmlns:a="http://schemas.openxmlformats.org/drawingml/2006/main">
            <a:off x="6191250" y="1485900"/>
            <a:ext cx="5381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14243B"/>
                </a:solidFill>
                <a:latin typeface="Noto Sans"/>
                <a:ea typeface="Noto Sans"/>
                <a:cs typeface="Noto Sans"/>
              </a:defRPr>
            </a:pPr>
            <a:r>
              <a:rPr sz="1875" b="1">
                <a:solidFill>
                  <a:srgbClr val="14243B"/>
                </a:solidFill>
                <a:latin typeface="Noto Sans"/>
                <a:ea typeface="Noto Sans"/>
                <a:cs typeface="Noto Sans"/>
              </a:rPr>
              <a:t>451,823 test transactions / 409 fraud labels</a:t>
            </a:r>
          </a:p>
        </p:txBody>
      </p:sp>
      <p:sp>
        <p:nvSpPr>
          <p:cNvPr id="8" name="">
            <a:extLst xmlns:a="http://schemas.openxmlformats.org/drawingml/2006/main">
              <a:ext uri="{FF2B5EF4-FFF2-40B4-BE49-F238E27FC236}">
                <a16:creationId xmlns:a16="http://schemas.microsoft.com/office/drawing/2014/main" id="{DAECCBD0-80D3-407B-A274-B8AE643718F6}"/>
              </a:ext>
            </a:extLst>
          </p:cNvPr>
          <p:cNvSpPr>
            <a:spLocks xmlns:a="http://schemas.openxmlformats.org/drawingml/2006/main" noGrp="1"/>
          </p:cNvSpPr>
          <p:nvPr/>
        </p:nvSpPr>
        <p:spPr>
          <a:xfrm xmlns:a="http://schemas.openxmlformats.org/drawingml/2006/main">
            <a:off x="6191250" y="1933575"/>
            <a:ext cx="5381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587087"/>
                </a:solidFill>
                <a:latin typeface="Noto Sans"/>
                <a:ea typeface="Noto Sans"/>
                <a:cs typeface="Noto Sans"/>
              </a:defRPr>
            </a:pPr>
            <a:r>
              <a:rPr sz="1575" b="0">
                <a:solidFill>
                  <a:srgbClr val="587087"/>
                </a:solidFill>
                <a:latin typeface="Noto Sans"/>
                <a:ea typeface="Noto Sans"/>
                <a:cs typeface="Noto Sans"/>
              </a:rPr>
              <a:t>Average precision</a:t>
            </a:r>
          </a:p>
        </p:txBody>
      </p:sp>
      <p:graphicFrame>
        <p:nvGraphicFramePr>
          <p:cNvPr id="21" name="Chart"/>
          <p:cNvGraphicFramePr/>
          <p:nvPr/>
        </p:nvGraphicFramePr>
        <p:xfrm>
          <a:off xmlns:a="http://schemas.openxmlformats.org/drawingml/2006/main" x="6115050" y="2305050"/>
          <a:ext xmlns:a="http://schemas.openxmlformats.org/drawingml/2006/main" cx="5400675" cy="2857500"/>
        </p:xfrm>
        <a:graphic xmlns:a="http://schemas.openxmlformats.org/drawingml/2006/main">
          <a:graphicData uri="http://schemas.openxmlformats.org/drawingml/2006/chart">
            <c:chart xmlns:r="http://schemas.openxmlformats.org/officeDocument/2006/relationships" xmlns:c="http://schemas.openxmlformats.org/drawingml/2006/chart" r:id="R59a0d8e30b174d95"/>
          </a:graphicData>
        </a:graphic>
      </p:graphicFrame>
      <p:sp>
        <p:nvSpPr>
          <p:cNvPr id="10" name="">
            <a:extLst xmlns:a="http://schemas.openxmlformats.org/drawingml/2006/main">
              <a:ext uri="{FF2B5EF4-FFF2-40B4-BE49-F238E27FC236}">
                <a16:creationId xmlns:a16="http://schemas.microsoft.com/office/drawing/2014/main" id="{117DE1CE-72A9-485F-9709-023884B1142E}"/>
              </a:ext>
            </a:extLst>
          </p:cNvPr>
          <p:cNvSpPr>
            <a:spLocks xmlns:a="http://schemas.openxmlformats.org/drawingml/2006/main" noGrp="1"/>
          </p:cNvSpPr>
          <p:nvPr/>
        </p:nvSpPr>
        <p:spPr>
          <a:xfrm xmlns:a="http://schemas.openxmlformats.org/drawingml/2006/main">
            <a:off x="6381750" y="5400675"/>
            <a:ext cx="219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150" b="1">
                <a:solidFill>
                  <a:srgbClr val="149F8E"/>
                </a:solidFill>
                <a:latin typeface="Noto Sans"/>
                <a:ea typeface="Noto Sans"/>
                <a:cs typeface="Noto Sans"/>
              </a:defRPr>
            </a:pPr>
            <a:r>
              <a:rPr sz="3150" b="1">
                <a:solidFill>
                  <a:srgbClr val="149F8E"/>
                </a:solidFill>
                <a:latin typeface="Noto Sans"/>
                <a:ea typeface="Noto Sans"/>
                <a:cs typeface="Noto Sans"/>
              </a:rPr>
              <a:t>4 / 409</a:t>
            </a:r>
          </a:p>
        </p:txBody>
      </p:sp>
      <p:sp>
        <p:nvSpPr>
          <p:cNvPr id="11" name="">
            <a:extLst xmlns:a="http://schemas.openxmlformats.org/drawingml/2006/main">
              <a:ext uri="{FF2B5EF4-FFF2-40B4-BE49-F238E27FC236}">
                <a16:creationId xmlns:a16="http://schemas.microsoft.com/office/drawing/2014/main" id="{EA49D9AE-7F80-46E8-94B2-B0BB3DB2A9EB}"/>
              </a:ext>
            </a:extLst>
          </p:cNvPr>
          <p:cNvSpPr>
            <a:spLocks xmlns:a="http://schemas.openxmlformats.org/drawingml/2006/main" noGrp="1"/>
          </p:cNvSpPr>
          <p:nvPr/>
        </p:nvSpPr>
        <p:spPr>
          <a:xfrm xmlns:a="http://schemas.openxmlformats.org/drawingml/2006/main">
            <a:off x="8382000" y="5419725"/>
            <a:ext cx="314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14243B"/>
                </a:solidFill>
                <a:latin typeface="Noto Sans"/>
                <a:ea typeface="Noto Sans"/>
                <a:cs typeface="Noto Sans"/>
              </a:defRPr>
            </a:pPr>
            <a:r>
              <a:rPr sz="1575" b="0">
                <a:solidFill>
                  <a:srgbClr val="14243B"/>
                </a:solidFill>
                <a:latin typeface="Noto Sans"/>
                <a:ea typeface="Noto Sans"/>
                <a:cs typeface="Noto Sans"/>
              </a:rPr>
              <a:t>fraud labels reached at 1% review</a:t>
            </a:r>
          </a:p>
          <a:p xmlns:a="http://schemas.openxmlformats.org/drawingml/2006/main">
            <a:pPr algn="l">
              <a:defRPr sz="1575" b="0">
                <a:solidFill>
                  <a:srgbClr val="14243B"/>
                </a:solidFill>
                <a:latin typeface="Noto Sans"/>
                <a:ea typeface="Noto Sans"/>
                <a:cs typeface="Noto Sans"/>
              </a:defRPr>
            </a:pPr>
            <a:r>
              <a:rPr sz="1575" b="0">
                <a:solidFill>
                  <a:srgbClr val="14243B"/>
                </a:solidFill>
                <a:latin typeface="Noto Sans"/>
                <a:ea typeface="Noto Sans"/>
                <a:cs typeface="Noto Sans"/>
              </a:rPr>
              <a:t>capacity by each learned candidate</a:t>
            </a:r>
          </a:p>
        </p:txBody>
      </p:sp>
      <p:sp>
        <p:nvSpPr>
          <p:cNvPr id="12" name="">
            <a:extLst xmlns:a="http://schemas.openxmlformats.org/drawingml/2006/main">
              <a:ext uri="{FF2B5EF4-FFF2-40B4-BE49-F238E27FC236}">
                <a16:creationId xmlns:a16="http://schemas.microsoft.com/office/drawing/2014/main" id="{B8264D9C-7701-430E-BB59-76BBEC250D5D}"/>
              </a:ext>
            </a:extLst>
          </p:cNvPr>
          <p:cNvSpPr>
            <a:spLocks xmlns:a="http://schemas.openxmlformats.org/drawingml/2006/main" noGrp="1"/>
          </p:cNvSpPr>
          <p:nvPr/>
        </p:nvSpPr>
        <p:spPr>
          <a:xfrm xmlns:a="http://schemas.openxmlformats.org/drawingml/2006/main">
            <a:off x="609600" y="5895975"/>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425" b="0">
                <a:solidFill>
                  <a:srgbClr val="587087"/>
                </a:solidFill>
                <a:latin typeface="Noto Sans"/>
                <a:ea typeface="Noto Sans"/>
                <a:cs typeface="Noto Sans"/>
              </a:defRPr>
            </a:pPr>
            <a:r>
              <a:rPr sz="1425" b="0">
                <a:solidFill>
                  <a:srgbClr val="587087"/>
                </a:solidFill>
                <a:latin typeface="Noto Sans"/>
                <a:ea typeface="Noto Sans"/>
                <a:cs typeface="Noto Sans"/>
              </a:rPr>
              <a:t>Synthetic retrospective labels. Demo fixtures receive no fraud probability.</a:t>
            </a:r>
          </a:p>
        </p:txBody>
      </p:sp>
    </p:spTree>
    <p:extLst>
      <p:ext uri="{BB962C8B-B14F-4D97-AF65-F5344CB8AC3E}">
        <p14:creationId xmlns:p14="http://schemas.microsoft.com/office/powerpoint/2010/main" val="1707842607"/>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62DFD64-03B0-4888-96E6-0ED8090A0762}"/>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Measured language and workflow results</a:t>
            </a:r>
          </a:p>
        </p:txBody>
      </p:sp>
      <p:sp>
        <p:nvSpPr>
          <p:cNvPr id="2" name="">
            <a:extLst xmlns:a="http://schemas.openxmlformats.org/drawingml/2006/main">
              <a:ext uri="{FF2B5EF4-FFF2-40B4-BE49-F238E27FC236}">
                <a16:creationId xmlns:a16="http://schemas.microsoft.com/office/drawing/2014/main" id="{FB5E78BF-B03C-4AE2-A7AC-F6838DAF3E2E}"/>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5</a:t>
            </a:r>
          </a:p>
        </p:txBody>
      </p:sp>
      <p:sp>
        <p:nvSpPr>
          <p:cNvPr id="3" name="">
            <a:extLst xmlns:a="http://schemas.openxmlformats.org/drawingml/2006/main">
              <a:ext uri="{FF2B5EF4-FFF2-40B4-BE49-F238E27FC236}">
                <a16:creationId xmlns:a16="http://schemas.microsoft.com/office/drawing/2014/main" id="{A842DBCF-19F2-403C-B753-6123B8550288}"/>
              </a:ext>
            </a:extLst>
          </p:cNvPr>
          <p:cNvSpPr>
            <a:spLocks xmlns:a="http://schemas.openxmlformats.org/drawingml/2006/main" noGrp="1"/>
          </p:cNvSpPr>
          <p:nvPr/>
        </p:nvSpPr>
        <p:spPr>
          <a:xfrm xmlns:a="http://schemas.openxmlformats.org/drawingml/2006/main">
            <a:off x="609600" y="143827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Intent classification</a:t>
            </a:r>
          </a:p>
        </p:txBody>
      </p:sp>
      <p:sp>
        <p:nvSpPr>
          <p:cNvPr id="4" name="">
            <a:extLst xmlns:a="http://schemas.openxmlformats.org/drawingml/2006/main">
              <a:ext uri="{FF2B5EF4-FFF2-40B4-BE49-F238E27FC236}">
                <a16:creationId xmlns:a16="http://schemas.microsoft.com/office/drawing/2014/main" id="{FBA2948E-236F-4F1A-A6C6-DC3281F8D63D}"/>
              </a:ext>
            </a:extLst>
          </p:cNvPr>
          <p:cNvSpPr>
            <a:spLocks xmlns:a="http://schemas.openxmlformats.org/drawingml/2006/main" noGrp="1"/>
          </p:cNvSpPr>
          <p:nvPr/>
        </p:nvSpPr>
        <p:spPr>
          <a:xfrm xmlns:a="http://schemas.openxmlformats.org/drawingml/2006/main">
            <a:off x="609600" y="1847850"/>
            <a:ext cx="5238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140 frozen authored cases / macro-F1</a:t>
            </a:r>
          </a:p>
        </p:txBody>
      </p:sp>
      <p:graphicFrame>
        <p:nvGraphicFramePr>
          <p:cNvPr id="17" name="Chart"/>
          <p:cNvGraphicFramePr/>
          <p:nvPr/>
        </p:nvGraphicFramePr>
        <p:xfrm>
          <a:off xmlns:a="http://schemas.openxmlformats.org/drawingml/2006/main" x="581025" y="2409825"/>
          <a:ext xmlns:a="http://schemas.openxmlformats.org/drawingml/2006/main" cx="5191125" cy="2733675"/>
        </p:xfrm>
        <a:graphic xmlns:a="http://schemas.openxmlformats.org/drawingml/2006/main">
          <a:graphicData uri="http://schemas.openxmlformats.org/drawingml/2006/chart">
            <c:chart xmlns:r="http://schemas.openxmlformats.org/officeDocument/2006/relationships" xmlns:c="http://schemas.openxmlformats.org/drawingml/2006/chart" r:id="Rd0b559a6e2074508"/>
          </a:graphicData>
        </a:graphic>
      </p:graphicFrame>
      <p:sp>
        <p:nvSpPr>
          <p:cNvPr id="6" name="">
            <a:extLst xmlns:a="http://schemas.openxmlformats.org/drawingml/2006/main">
              <a:ext uri="{FF2B5EF4-FFF2-40B4-BE49-F238E27FC236}">
                <a16:creationId xmlns:a16="http://schemas.microsoft.com/office/drawing/2014/main" id="{EEB7FFE2-5DC6-4ADA-A378-59E5A98664AF}"/>
              </a:ext>
            </a:extLst>
          </p:cNvPr>
          <p:cNvSpPr>
            <a:spLocks xmlns:a="http://schemas.openxmlformats.org/drawingml/2006/main" noGrp="1"/>
          </p:cNvSpPr>
          <p:nvPr/>
        </p:nvSpPr>
        <p:spPr>
          <a:xfrm xmlns:a="http://schemas.openxmlformats.org/drawingml/2006/main">
            <a:off x="6362700" y="14382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First workflow challenge</a:t>
            </a:r>
          </a:p>
        </p:txBody>
      </p:sp>
      <p:sp>
        <p:nvSpPr>
          <p:cNvPr id="7" name="">
            <a:extLst xmlns:a="http://schemas.openxmlformats.org/drawingml/2006/main">
              <a:ext uri="{FF2B5EF4-FFF2-40B4-BE49-F238E27FC236}">
                <a16:creationId xmlns:a16="http://schemas.microsoft.com/office/drawing/2014/main" id="{9412B5E0-C809-40C1-875D-76F0AECCBEEB}"/>
              </a:ext>
            </a:extLst>
          </p:cNvPr>
          <p:cNvSpPr>
            <a:spLocks xmlns:a="http://schemas.openxmlformats.org/drawingml/2006/main" noGrp="1"/>
          </p:cNvSpPr>
          <p:nvPr/>
        </p:nvSpPr>
        <p:spPr>
          <a:xfrm xmlns:a="http://schemas.openxmlformats.org/drawingml/2006/main">
            <a:off x="6362700" y="1847850"/>
            <a:ext cx="5191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70 independent-agent cases / correct outcomes</a:t>
            </a:r>
          </a:p>
        </p:txBody>
      </p:sp>
      <p:graphicFrame>
        <p:nvGraphicFramePr>
          <p:cNvPr id="20" name="Chart"/>
          <p:cNvGraphicFramePr/>
          <p:nvPr/>
        </p:nvGraphicFramePr>
        <p:xfrm>
          <a:off xmlns:a="http://schemas.openxmlformats.org/drawingml/2006/main" x="6315075" y="2409825"/>
          <a:ext xmlns:a="http://schemas.openxmlformats.org/drawingml/2006/main" cx="5191125" cy="2733675"/>
        </p:xfrm>
        <a:graphic xmlns:a="http://schemas.openxmlformats.org/drawingml/2006/main">
          <a:graphicData uri="http://schemas.openxmlformats.org/drawingml/2006/chart">
            <c:chart xmlns:r="http://schemas.openxmlformats.org/officeDocument/2006/relationships" xmlns:c="http://schemas.openxmlformats.org/drawingml/2006/chart" r:id="Rc58dd701bd9e4cc5"/>
          </a:graphicData>
        </a:graphic>
      </p:graphicFrame>
      <p:sp>
        <p:nvSpPr>
          <p:cNvPr id="9" name="">
            <a:extLst xmlns:a="http://schemas.openxmlformats.org/drawingml/2006/main">
              <a:ext uri="{FF2B5EF4-FFF2-40B4-BE49-F238E27FC236}">
                <a16:creationId xmlns:a16="http://schemas.microsoft.com/office/drawing/2014/main" id="{DB93F7E8-1C15-479F-B178-9418C2E343FC}"/>
              </a:ext>
            </a:extLst>
          </p:cNvPr>
          <p:cNvSpPr>
            <a:spLocks xmlns:a="http://schemas.openxmlformats.org/drawingml/2006/main" noGrp="1"/>
          </p:cNvSpPr>
          <p:nvPr/>
        </p:nvSpPr>
        <p:spPr>
          <a:xfrm xmlns:a="http://schemas.openxmlformats.org/drawingml/2006/main">
            <a:off x="619125" y="52673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14243B"/>
                </a:solidFill>
                <a:latin typeface="Noto Sans"/>
                <a:ea typeface="Noto Sans"/>
                <a:cs typeface="Noto Sans"/>
              </a:defRPr>
            </a:pPr>
            <a:r>
              <a:rPr sz="1875" b="1">
                <a:solidFill>
                  <a:srgbClr val="14243B"/>
                </a:solidFill>
                <a:latin typeface="Noto Sans"/>
                <a:ea typeface="Noto Sans"/>
                <a:cs typeface="Noto Sans"/>
              </a:rPr>
              <a:t>117/140 exact labels correct</a:t>
            </a:r>
          </a:p>
        </p:txBody>
      </p:sp>
      <p:sp>
        <p:nvSpPr>
          <p:cNvPr id="10" name="">
            <a:extLst xmlns:a="http://schemas.openxmlformats.org/drawingml/2006/main">
              <a:ext uri="{FF2B5EF4-FFF2-40B4-BE49-F238E27FC236}">
                <a16:creationId xmlns:a16="http://schemas.microsoft.com/office/drawing/2014/main" id="{54006A5A-0EED-403E-9AEB-9309DAF156BF}"/>
              </a:ext>
            </a:extLst>
          </p:cNvPr>
          <p:cNvSpPr>
            <a:spLocks xmlns:a="http://schemas.openxmlformats.org/drawingml/2006/main" noGrp="1"/>
          </p:cNvSpPr>
          <p:nvPr/>
        </p:nvSpPr>
        <p:spPr>
          <a:xfrm xmlns:a="http://schemas.openxmlformats.org/drawingml/2006/main">
            <a:off x="6362700" y="5267325"/>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14243B"/>
                </a:solidFill>
                <a:latin typeface="Noto Sans"/>
                <a:ea typeface="Noto Sans"/>
                <a:cs typeface="Noto Sans"/>
              </a:defRPr>
            </a:pPr>
            <a:r>
              <a:rPr sz="1875" b="1">
                <a:solidFill>
                  <a:srgbClr val="14243B"/>
                </a:solidFill>
                <a:latin typeface="Noto Sans"/>
                <a:ea typeface="Noto Sans"/>
                <a:cs typeface="Noto Sans"/>
              </a:rPr>
              <a:t>28/30 required handoffs on first pass</a:t>
            </a:r>
          </a:p>
        </p:txBody>
      </p:sp>
      <p:sp>
        <p:nvSpPr>
          <p:cNvPr id="11" name="">
            <a:extLst xmlns:a="http://schemas.openxmlformats.org/drawingml/2006/main">
              <a:ext uri="{FF2B5EF4-FFF2-40B4-BE49-F238E27FC236}">
                <a16:creationId xmlns:a16="http://schemas.microsoft.com/office/drawing/2014/main" id="{A55F609E-83A8-4F96-B1FB-8D7D81B16ACB}"/>
              </a:ext>
            </a:extLst>
          </p:cNvPr>
          <p:cNvSpPr>
            <a:spLocks xmlns:a="http://schemas.openxmlformats.org/drawingml/2006/main" noGrp="1"/>
          </p:cNvSpPr>
          <p:nvPr/>
        </p:nvSpPr>
        <p:spPr>
          <a:xfrm xmlns:a="http://schemas.openxmlformats.org/drawingml/2006/main">
            <a:off x="609600" y="5781675"/>
            <a:ext cx="10906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587087"/>
                </a:solidFill>
                <a:latin typeface="Noto Sans"/>
                <a:ea typeface="Noto Sans"/>
                <a:cs typeface="Noto Sans"/>
              </a:defRPr>
            </a:pPr>
            <a:r>
              <a:rPr sz="1500" b="0">
                <a:solidFill>
                  <a:srgbClr val="587087"/>
                </a:solidFill>
                <a:latin typeface="Noto Sans"/>
                <a:ea typeface="Noto Sans"/>
                <a:cs typeface="Noto Sans"/>
              </a:rPr>
              <a:t>Authored synthetic cases, without independent human language review.</a:t>
            </a:r>
          </a:p>
        </p:txBody>
      </p:sp>
      <p:sp>
        <p:nvSpPr>
          <p:cNvPr id="12" name="">
            <a:extLst xmlns:a="http://schemas.openxmlformats.org/drawingml/2006/main">
              <a:ext uri="{FF2B5EF4-FFF2-40B4-BE49-F238E27FC236}">
                <a16:creationId xmlns:a16="http://schemas.microsoft.com/office/drawing/2014/main" id="{A9495C14-786F-4B2E-AE93-7CF86B8EAA59}"/>
              </a:ext>
            </a:extLst>
          </p:cNvPr>
          <p:cNvSpPr>
            <a:spLocks xmlns:a="http://schemas.openxmlformats.org/drawingml/2006/main" noGrp="1"/>
          </p:cNvSpPr>
          <p:nvPr/>
        </p:nvSpPr>
        <p:spPr>
          <a:xfrm xmlns:a="http://schemas.openxmlformats.org/drawingml/2006/main">
            <a:off x="609600" y="6067425"/>
            <a:ext cx="1090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425" b="0">
                <a:solidFill>
                  <a:srgbClr val="587087"/>
                </a:solidFill>
                <a:latin typeface="Noto Sans"/>
                <a:ea typeface="Noto Sans"/>
                <a:cs typeface="Noto Sans"/>
              </a:defRPr>
            </a:pPr>
            <a:r>
              <a:rPr sz="1425" b="0">
                <a:solidFill>
                  <a:srgbClr val="587087"/>
                </a:solidFill>
                <a:latin typeface="Noto Sans"/>
                <a:ea typeface="Noto Sans"/>
                <a:cs typeface="Noto Sans"/>
              </a:rPr>
              <a:t>After correcting cancellation: 63/70 outcomes and 30/30 handoffs in a regression replay.</a:t>
            </a:r>
          </a:p>
        </p:txBody>
      </p:sp>
    </p:spTree>
    <p:extLst>
      <p:ext uri="{BB962C8B-B14F-4D97-AF65-F5344CB8AC3E}">
        <p14:creationId xmlns:p14="http://schemas.microsoft.com/office/powerpoint/2010/main" val="33490399"/>
      </p:ext>
    </p:extLst>
  </p:cSld>
</p:sld>
</file>

<file path=ppt/slides/slide6.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4C2263-0596-462F-AC64-C3E21D131F90}"/>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F7FAFC"/>
                </a:solidFill>
                <a:latin typeface="Noto Sans"/>
                <a:ea typeface="Noto Sans"/>
                <a:cs typeface="Noto Sans"/>
              </a:defRPr>
            </a:pPr>
            <a:r>
              <a:rPr sz="3300" b="1">
                <a:solidFill>
                  <a:srgbClr val="F7FAFC"/>
                </a:solidFill>
                <a:latin typeface="Noto Sans"/>
                <a:ea typeface="Noto Sans"/>
                <a:cs typeface="Noto Sans"/>
              </a:rPr>
              <a:t>Demo and the route to a bank integration</a:t>
            </a:r>
          </a:p>
        </p:txBody>
      </p:sp>
      <p:sp>
        <p:nvSpPr>
          <p:cNvPr id="2" name="">
            <a:extLst xmlns:a="http://schemas.openxmlformats.org/drawingml/2006/main">
              <a:ext uri="{FF2B5EF4-FFF2-40B4-BE49-F238E27FC236}">
                <a16:creationId xmlns:a16="http://schemas.microsoft.com/office/drawing/2014/main" id="{AB099D1E-0031-4DAB-952E-D18E710E991F}"/>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A4B7C8"/>
                </a:solidFill>
                <a:latin typeface="Noto Sans"/>
                <a:ea typeface="Noto Sans"/>
                <a:cs typeface="Noto Sans"/>
              </a:defRPr>
            </a:pPr>
            <a:r>
              <a:rPr sz="1125" b="0">
                <a:solidFill>
                  <a:srgbClr val="A4B7C8"/>
                </a:solidFill>
                <a:latin typeface="Noto Sans"/>
                <a:ea typeface="Noto Sans"/>
                <a:cs typeface="Noto Sans"/>
              </a:rPr>
              <a:t>Claro  /  Factored 2026  /  6</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788522a9b0a64c81"/>
          <a:srcRect xmlns:a="http://schemas.openxmlformats.org/drawingml/2006/main" l="0" t="19050" r="0" b="19050"/>
          <a:stretch xmlns:a="http://schemas.openxmlformats.org/drawingml/2006/main">
            <a:fillRect l="0" t="0" r="0" b="0"/>
          </a:stretch>
        </p:blipFill>
        <p:spPr>
          <a:xfrm xmlns:a="http://schemas.openxmlformats.org/drawingml/2006/main">
            <a:off x="609600" y="1590675"/>
            <a:ext cx="5429250" cy="32004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605BD8C-D20B-43B5-9B20-421B53238D5B}"/>
              </a:ext>
            </a:extLst>
          </p:cNvPr>
          <p:cNvSpPr>
            <a:spLocks xmlns:a="http://schemas.openxmlformats.org/drawingml/2006/main" noGrp="1"/>
          </p:cNvSpPr>
          <p:nvPr/>
        </p:nvSpPr>
        <p:spPr>
          <a:xfrm xmlns:a="http://schemas.openxmlformats.org/drawingml/2006/main">
            <a:off x="609600" y="4905375"/>
            <a:ext cx="561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67E2C4"/>
                </a:solidFill>
                <a:latin typeface="Noto Sans"/>
                <a:ea typeface="Noto Sans"/>
                <a:cs typeface="Noto Sans"/>
              </a:defRPr>
            </a:pPr>
            <a:r>
              <a:rPr sz="1950" b="1">
                <a:solidFill>
                  <a:srgbClr val="67E2C4"/>
                </a:solidFill>
                <a:latin typeface="Noto Sans"/>
                <a:ea typeface="Noto Sans"/>
                <a:cs typeface="Noto Sans"/>
              </a:rPr>
              <a:t>Verified deployed demo</a:t>
            </a:r>
          </a:p>
        </p:txBody>
      </p:sp>
      <p:sp>
        <p:nvSpPr>
          <p:cNvPr id="5" name="">
            <a:extLst xmlns:a="http://schemas.openxmlformats.org/drawingml/2006/main">
              <a:ext uri="{FF2B5EF4-FFF2-40B4-BE49-F238E27FC236}">
                <a16:creationId xmlns:a16="http://schemas.microsoft.com/office/drawing/2014/main" id="{E204B7B1-5405-48E3-B487-1B7F7B287B3E}"/>
              </a:ext>
            </a:extLst>
          </p:cNvPr>
          <p:cNvSpPr>
            <a:spLocks xmlns:a="http://schemas.openxmlformats.org/drawingml/2006/main" noGrp="1"/>
          </p:cNvSpPr>
          <p:nvPr/>
        </p:nvSpPr>
        <p:spPr>
          <a:xfrm xmlns:a="http://schemas.openxmlformats.org/drawingml/2006/main">
            <a:off x="609600" y="5362575"/>
            <a:ext cx="5619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F7FAFC"/>
                </a:solidFill>
                <a:latin typeface="Noto Sans"/>
                <a:ea typeface="Noto Sans"/>
                <a:cs typeface="Noto Sans"/>
              </a:defRPr>
            </a:pPr>
            <a:r>
              <a:rPr sz="1500" b="0">
                <a:solidFill>
                  <a:srgbClr val="F7FAFC"/>
                </a:solidFill>
                <a:latin typeface="Noto Sans"/>
                <a:ea typeface="Noto Sans"/>
                <a:cs typeface="Noto Sans"/>
              </a:rPr>
              <a:t>https://claro-banking-hackathon-2026.onrender.com</a:t>
            </a:r>
          </a:p>
        </p:txBody>
      </p:sp>
      <p:sp>
        <p:nvSpPr>
          <p:cNvPr id="6" name="">
            <a:extLst xmlns:a="http://schemas.openxmlformats.org/drawingml/2006/main">
              <a:ext uri="{FF2B5EF4-FFF2-40B4-BE49-F238E27FC236}">
                <a16:creationId xmlns:a16="http://schemas.microsoft.com/office/drawing/2014/main" id="{D9785B92-90B7-47C6-9FEC-E3B8AE6EF346}"/>
              </a:ext>
            </a:extLst>
          </p:cNvPr>
          <p:cNvSpPr>
            <a:spLocks xmlns:a="http://schemas.openxmlformats.org/drawingml/2006/main" noGrp="1"/>
          </p:cNvSpPr>
          <p:nvPr/>
        </p:nvSpPr>
        <p:spPr>
          <a:xfrm xmlns:a="http://schemas.openxmlformats.org/drawingml/2006/main">
            <a:off x="6572250" y="156210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67E2C4"/>
                </a:solidFill>
                <a:latin typeface="Noto Sans"/>
                <a:ea typeface="Noto Sans"/>
                <a:cs typeface="Noto Sans"/>
              </a:defRPr>
            </a:pPr>
            <a:r>
              <a:rPr sz="2175" b="1">
                <a:solidFill>
                  <a:srgbClr val="67E2C4"/>
                </a:solidFill>
                <a:latin typeface="Noto Sans"/>
                <a:ea typeface="Noto Sans"/>
                <a:cs typeface="Noto Sans"/>
              </a:rPr>
              <a:t>Deliberate trade-offs</a:t>
            </a:r>
          </a:p>
        </p:txBody>
      </p:sp>
      <p:sp>
        <p:nvSpPr>
          <p:cNvPr id="7" name="">
            <a:extLst xmlns:a="http://schemas.openxmlformats.org/drawingml/2006/main">
              <a:ext uri="{FF2B5EF4-FFF2-40B4-BE49-F238E27FC236}">
                <a16:creationId xmlns:a16="http://schemas.microsoft.com/office/drawing/2014/main" id="{06110AD2-BC62-4F62-B2A4-FCC79DB79219}"/>
              </a:ext>
            </a:extLst>
          </p:cNvPr>
          <p:cNvSpPr>
            <a:spLocks xmlns:a="http://schemas.openxmlformats.org/drawingml/2006/main" noGrp="1"/>
          </p:cNvSpPr>
          <p:nvPr/>
        </p:nvSpPr>
        <p:spPr>
          <a:xfrm xmlns:a="http://schemas.openxmlformats.org/drawingml/2006/main">
            <a:off x="6572250" y="2143125"/>
            <a:ext cx="4857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Single worker and SQLite</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Simple deployment. Free-host restarts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can reset sandbox state.</a:t>
            </a:r>
          </a:p>
        </p:txBody>
      </p:sp>
      <p:sp>
        <p:nvSpPr>
          <p:cNvPr id="8" name="">
            <a:extLst xmlns:a="http://schemas.openxmlformats.org/drawingml/2006/main">
              <a:ext uri="{FF2B5EF4-FFF2-40B4-BE49-F238E27FC236}">
                <a16:creationId xmlns:a16="http://schemas.microsoft.com/office/drawing/2014/main" id="{5DE42493-4160-4E28-889F-569418D324D5}"/>
              </a:ext>
            </a:extLst>
          </p:cNvPr>
          <p:cNvSpPr>
            <a:spLocks xmlns:a="http://schemas.openxmlformats.org/drawingml/2006/main" noGrp="1"/>
          </p:cNvSpPr>
          <p:nvPr/>
        </p:nvSpPr>
        <p:spPr>
          <a:xfrm xmlns:a="http://schemas.openxmlformats.org/drawingml/2006/main">
            <a:off x="6572250" y="3524250"/>
            <a:ext cx="4857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Local model, no remote model calls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Portable CPU inference. Synthetic tests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limit claims about real customer demand.</a:t>
            </a:r>
          </a:p>
        </p:txBody>
      </p:sp>
      <p:sp>
        <p:nvSpPr>
          <p:cNvPr id="9" name="">
            <a:extLst xmlns:a="http://schemas.openxmlformats.org/drawingml/2006/main">
              <a:ext uri="{FF2B5EF4-FFF2-40B4-BE49-F238E27FC236}">
                <a16:creationId xmlns:a16="http://schemas.microsoft.com/office/drawing/2014/main" id="{62ECEEA8-CC2D-49D5-9CBD-907AE92EB723}"/>
              </a:ext>
            </a:extLst>
          </p:cNvPr>
          <p:cNvSpPr>
            <a:spLocks xmlns:a="http://schemas.openxmlformats.org/drawingml/2006/main" noGrp="1"/>
          </p:cNvSpPr>
          <p:nvPr/>
        </p:nvSpPr>
        <p:spPr>
          <a:xfrm xmlns:a="http://schemas.openxmlformats.org/drawingml/2006/main">
            <a:off x="6572250" y="4867275"/>
            <a:ext cx="4857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67E2C4"/>
                </a:solidFill>
                <a:latin typeface="Noto Sans"/>
                <a:ea typeface="Noto Sans"/>
                <a:cs typeface="Noto Sans"/>
              </a:defRPr>
            </a:pPr>
            <a:r>
              <a:rPr sz="1950" b="1">
                <a:solidFill>
                  <a:srgbClr val="67E2C4"/>
                </a:solidFill>
                <a:latin typeface="Noto Sans"/>
                <a:ea typeface="Noto Sans"/>
                <a:cs typeface="Noto Sans"/>
              </a:rPr>
              <a:t>Before real customers</a:t>
            </a:r>
          </a:p>
        </p:txBody>
      </p:sp>
      <p:sp>
        <p:nvSpPr>
          <p:cNvPr id="10" name="">
            <a:extLst xmlns:a="http://schemas.openxmlformats.org/drawingml/2006/main">
              <a:ext uri="{FF2B5EF4-FFF2-40B4-BE49-F238E27FC236}">
                <a16:creationId xmlns:a16="http://schemas.microsoft.com/office/drawing/2014/main" id="{ECB2AE7E-6BF3-4C53-ACC2-969DE44D91A8}"/>
              </a:ext>
            </a:extLst>
          </p:cNvPr>
          <p:cNvSpPr>
            <a:spLocks xmlns:a="http://schemas.openxmlformats.org/drawingml/2006/main" noGrp="1"/>
          </p:cNvSpPr>
          <p:nvPr/>
        </p:nvSpPr>
        <p:spPr>
          <a:xfrm xmlns:a="http://schemas.openxmlformats.org/drawingml/2006/main">
            <a:off x="6572250" y="5314950"/>
            <a:ext cx="4905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Bank identity, approved policies, durable</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storage and independent ES/PT review.</a:t>
            </a:r>
          </a:p>
        </p:txBody>
      </p:sp>
    </p:spTree>
    <p:extLst>
      <p:ext uri="{BB962C8B-B14F-4D97-AF65-F5344CB8AC3E}">
        <p14:creationId xmlns:p14="http://schemas.microsoft.com/office/powerpoint/2010/main" val="12914668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2026-10-02T08:52:36.3370000Z</dcterms:created>
  <dcterms:modified xsi:type="dcterms:W3CDTF">2026-10-02T08:52:36.3370000Z</dcterms:modified>
</coreProperties>
</file>