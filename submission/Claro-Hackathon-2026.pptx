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ca62862a18c4dc8" /><Relationship Type="http://schemas.openxmlformats.org/officeDocument/2006/relationships/extended-properties" Target="/docProps/app.xml" Id="R552f802ae9f64bc6" /><Relationship Type="http://schemas.openxmlformats.org/officeDocument/2006/relationships/officeDocument" Target="/ppt/presentation.xml" Id="Ra3433d4137294533" /></Relationships>
</file>

<file path=ppt/presentation.xml><?xml version="1.0" encoding="utf-8"?>
<p:presentation xmlns:p="http://schemas.openxmlformats.org/presentationml/2006/main">
  <p:sldMasterIdLst>
    <p:sldMasterId xmlns:r="http://schemas.openxmlformats.org/officeDocument/2006/relationships" id="2147483648" r:id="R50a10161cf2f454e"/>
  </p:sldMasterIdLst>
  <p:notesMasterIdLst>
    <p:notesMasterId xmlns:r="http://schemas.openxmlformats.org/officeDocument/2006/relationships" r:id="R897237d383af48d3"/>
  </p:notesMasterIdLst>
  <p:sldIdLst>
    <p:sldId xmlns:r="http://schemas.openxmlformats.org/officeDocument/2006/relationships" id="256" r:id="R29fa5a6ae2ab4f66"/>
    <p:sldId xmlns:r="http://schemas.openxmlformats.org/officeDocument/2006/relationships" id="257" r:id="R9622feaa70d34cd1"/>
    <p:sldId xmlns:r="http://schemas.openxmlformats.org/officeDocument/2006/relationships" id="258" r:id="R46103cfbd4424ee3"/>
    <p:sldId xmlns:r="http://schemas.openxmlformats.org/officeDocument/2006/relationships" id="259" r:id="R3af15fb7794f4264"/>
    <p:sldId xmlns:r="http://schemas.openxmlformats.org/officeDocument/2006/relationships" id="260" r:id="Rfd15df70ccff4fca"/>
    <p:sldId xmlns:r="http://schemas.openxmlformats.org/officeDocument/2006/relationships" id="261" r:id="R4963a64e48e4440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73b1e0a9c54ceb" /><Relationship Type="http://schemas.openxmlformats.org/officeDocument/2006/relationships/slideMaster" Target="/ppt/slideMasters/slideMaster1.xml" Id="R50a10161cf2f454e" /><Relationship Type="http://schemas.openxmlformats.org/officeDocument/2006/relationships/notesMaster" Target="/ppt/notesMasters/notesMaster1.xml" Id="R897237d383af48d3" /><Relationship Type="http://schemas.openxmlformats.org/officeDocument/2006/relationships/presProps" Target="/ppt/presProps.xml" Id="Rb806c4a48d77469f" /><Relationship Type="http://schemas.openxmlformats.org/officeDocument/2006/relationships/tableStyles" Target="/ppt/tableStyles.xml" Id="R7e5003e71ac74cc2" /><Relationship Type="http://schemas.openxmlformats.org/officeDocument/2006/relationships/slide" Target="/ppt/slides/slide1.xml" Id="R29fa5a6ae2ab4f66" /><Relationship Type="http://schemas.openxmlformats.org/officeDocument/2006/relationships/slide" Target="/ppt/slides/slide2.xml" Id="R9622feaa70d34cd1" /><Relationship Type="http://schemas.openxmlformats.org/officeDocument/2006/relationships/slide" Target="/ppt/slides/slide3.xml" Id="R46103cfbd4424ee3" /><Relationship Type="http://schemas.openxmlformats.org/officeDocument/2006/relationships/slide" Target="/ppt/slides/slide4.xml" Id="R3af15fb7794f4264" /><Relationship Type="http://schemas.openxmlformats.org/officeDocument/2006/relationships/slide" Target="/ppt/slides/slide5.xml" Id="Rfd15df70ccff4fca" /><Relationship Type="http://schemas.openxmlformats.org/officeDocument/2006/relationships/slide" Target="/ppt/slides/slide6.xml" Id="R4963a64e48e444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c13892c9e246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f507079ad146d5" /><Relationship Type="http://schemas.openxmlformats.org/officeDocument/2006/relationships/notesMaster" Target="/ppt/notesMasters/notesMaster1.xml" Id="Rb045e719f59b41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39b3e005d64fe7" /><Relationship Type="http://schemas.openxmlformats.org/officeDocument/2006/relationships/notesMaster" Target="/ppt/notesMasters/notesMaster1.xml" Id="Rf96655dfe77546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9d0a651def44d9" /><Relationship Type="http://schemas.openxmlformats.org/officeDocument/2006/relationships/notesMaster" Target="/ppt/notesMasters/notesMaster1.xml" Id="Rb285b6e20ae246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d76b8100664ff1" /><Relationship Type="http://schemas.openxmlformats.org/officeDocument/2006/relationships/notesMaster" Target="/ppt/notesMasters/notesMaster1.xml" Id="R0117c4598ef94d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02a038de7f4684" /><Relationship Type="http://schemas.openxmlformats.org/officeDocument/2006/relationships/notesMaster" Target="/ppt/notesMasters/notesMaster1.xml" Id="R7c47a0f5c85c41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a9e7a7e02446b9" /><Relationship Type="http://schemas.openxmlformats.org/officeDocument/2006/relationships/notesMaster" Target="/ppt/notesMasters/notesMaster1.xml" Id="Raf6b310ecc1c49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and scope: 23,495,188 organizer synthetic rows across 13 tables. Exactly 4,425,008 transaction rows. 171,321 transcripts contain only 42 distinct customer text strings, with no demonstrated Portuguese coverage or trustworthy dispute-intent labels. Source: docs/DATA_FINDINGS.md and docs/evidence/data-profile-summary.json. Focus on transaction support and confirmed dispute intake rather than inventing aligned dialogue labels. Public examples and policies are independently team-authored fixtures.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actual local Claro UI, team-authored synthetic fixtures, with external providers disabled. The customer report preserves specific redacted allegations through transaction clarification and is labeled unverified; permitted record facts remain separate. Customer sees the text before confirming. Atomic case commit and fresh read-back precede the receipt. Analyst questions and customer replies persist as scoped, idempotent case history. No real money movement, refunds or card blocking. Sources: docs/SYSTEM_EVALUATION.md, docs/OPERATIONS.md, api.py, privacy.py, store.py and workflow.py.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Diagram objects/connectors are native and editable. Sequence shows responsibility boundaries, not an exhaustive call graph. Optional Jev one-shot classification and DeepSeek Flash composition are implemented and tested using mocked transports. Live provider inference has not been verified. No claimed provider accuracy or actual spend. Classifier never chooses identity or performs tools. Composer receives minimized permitted context and cannot replace authoritative financial facts, case receipts or policy actions. Provider attempts, validated token usage, tariff estimates, unknown cost and budget reservations are separately accounted. Public personas are sandbox identities. SQLite uses reserved idempotency fingerprints and fresh read-back. Private DuckDB jobs never serve organizer raw rows. Sources: docs/AI_PROVIDERS.md, docs/OPERATIONS.md, api.py, providers.py, privacy.py, store.py, workflow.py.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held-out results in docs/evidence/ml-evaluation.json and docs/ML_REPORT.md. Logistic AP0.0009415226700474275, CatBoost AP0.0009380975559168019, constant0.0009052217350599682. At1% review capacity:4,519 reviewed,4TP/4,515FP for either learned model. Training population3,735,596; fitted deterministic sample471,012 including all3,712positives, inverse-propensity negative weights8. Candidate promotion fixed on February before test. Excludes supplied fraud_score, target, current snapshots and future/simultaneous history. Full-snapshot feasibility diagnostics preceded temporal evaluation, so no externally blind claim. No learned promotion. Runtime organizer-domain population prior is explicitly not personalized. Public fixtures are out of domain. No prevented-loss or production-accuracy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docs/LANGUAGE_EVALUATION.md, docs/SYSTEM_EVALUATION.md and aggregate evidence. Component train196/development56/test140 uses frozen semantic groups. Local TF-IDF/logistic117/140 macroF10.8230; rules65/140 F10.4207; local Gemma3 4B115/140 F10.8045. Small ML/Gemma difference is not claimed significant. Workflow figure is request-preservation-v2 current local regression. First untouched challenge remains61/70 learned versus43/70 rules, with28/30 required transfers. Separate exposed regression 63/70 follows fixes; it is never relabeled blind. Six strata contain140 unique utterances and70 semantic pairs, counterbalanced ES/PT,840replays/system. These are selected-transaction status/currency groups, not demographic fairness. All labels/translations are assistant-authored without independent human/native-language review. Fresh prospective70 is frozen but unscored. Zero offline provider attempts do not establish free provider inference. No hardware/hosting or representative customer cost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https://github.com/nicoceron/factored-hackathon-2026-nicoceron . Public URL is tied to the commit and verification date in submission/deployment.json. Current local screenshots do not independently prove that a newer branch is deployed. Optional Jev/DeepSeek adapters are implemented/mocked but live inference remains unverified pending authorized metered use. External tariff estimates are not invoice spend. Screenshot is the actual local app using team fixtures and disabled providers. Free-host filesystem may reset. Sources: docs/AI_PROVIDERS.md, docs/OPERATIONS.md and submission/deployment.json. Real-bank requirements include approved identity/entitlements/MFA/policies, durable data, monitored rollout, privacy controls, independent ES/PT review and staffing. Organizer submission is intentionally outside requested scope. No real-bank operation or production safety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53c093594d41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3a82a03e5c4c89" /><Relationship Type="http://schemas.openxmlformats.org/officeDocument/2006/relationships/slideLayout" Target="/ppt/slideLayouts/slideLayout1.xml" Id="R0f03c26ae4a540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03c26ae4a540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2378a9869dd473a" /><Relationship Type="http://schemas.openxmlformats.org/officeDocument/2006/relationships/notesSlide" Target="/ppt/notesSlides/notesSlide1.xml" Id="Ra07939cede834c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f6c0dd8fe1f49c0" /><Relationship Type="http://schemas.openxmlformats.org/officeDocument/2006/relationships/image" Target="/ppt/media/image.jpeg" Id="R4ab8a7d441bc4fe3" /><Relationship Type="http://schemas.openxmlformats.org/officeDocument/2006/relationships/notesSlide" Target="/ppt/notesSlides/notesSlide2.xml" Id="R1298588661db48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ad7af14134349ed" /><Relationship Type="http://schemas.openxmlformats.org/officeDocument/2006/relationships/notesSlide" Target="/ppt/notesSlides/notesSlide3.xml" Id="R9ee6502c680046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998759ca3b04563" /><Relationship Type="http://schemas.openxmlformats.org/officeDocument/2006/relationships/chart" Target="/ppt/slides/charts/chart1.xml" Id="R69af81f195f74134" /><Relationship Type="http://schemas.openxmlformats.org/officeDocument/2006/relationships/notesSlide" Target="/ppt/notesSlides/notesSlide4.xml" Id="Rb9e926a4a5f549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e0c38682c8f4fd2" /><Relationship Type="http://schemas.openxmlformats.org/officeDocument/2006/relationships/chart" Target="/ppt/slides/charts/chart2.xml" Id="R53dda46d526e4237" /><Relationship Type="http://schemas.openxmlformats.org/officeDocument/2006/relationships/chart" Target="/ppt/slides/charts/chart3.xml" Id="R8d59a20d0d5a41f4" /><Relationship Type="http://schemas.openxmlformats.org/officeDocument/2006/relationships/notesSlide" Target="/ppt/notesSlides/notesSlide5.xml" Id="R7abde8dc38ff48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972a310a5d2482d" /><Relationship Type="http://schemas.openxmlformats.org/officeDocument/2006/relationships/image" Target="/ppt/media/image2.jpeg" Id="R386a6be8073445b0" /><Relationship Type="http://schemas.openxmlformats.org/officeDocument/2006/relationships/notesSlide" Target="/ppt/notesSlides/notesSlide6.xml" Id="R154a5bb58186448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Measured result</c:v>
          </c:tx>
          <c:spPr>
            <a:solidFill xmlns:a="http://schemas.openxmlformats.org/drawingml/2006/main">
              <a:srgbClr val="149F8E"/>
            </a:solidFill>
          </c:spPr>
          <c:dPt>
            <c:idx val="0"/>
            <c:invertIfNegative val="0"/>
            <c:spPr>
              <a:solidFill xmlns:a="http://schemas.openxmlformats.org/drawingml/2006/main">
                <a:srgbClr val="8DA8B8"/>
              </a:solidFill>
            </c:spPr>
          </c:dPt>
          <c:dPt>
            <c:idx val="1"/>
            <c:invertIfNegative val="0"/>
            <c:spPr>
              <a:solidFill xmlns:a="http://schemas.openxmlformats.org/drawingml/2006/main">
                <a:srgbClr val="149F8E"/>
              </a:solidFill>
            </c:spPr>
          </c:dPt>
          <c:dPt>
            <c:idx val="2"/>
            <c:invertIfNegative val="0"/>
            <c:spPr>
              <a:solidFill xmlns:a="http://schemas.openxmlformats.org/drawingml/2006/main">
                <a:srgbClr val="427D9A"/>
              </a:solidFill>
            </c:spPr>
          </c:dPt>
          <c:dLbls>
            <c:dLbl>
              <c:idx val="0"/>
              <c:tx>
                <c:rich>
                  <a:bodyPr xmlns:a="http://schemas.openxmlformats.org/drawingml/2006/main"/>
                  <a:lstStyle xmlns:a="http://schemas.openxmlformats.org/drawingml/2006/main"/>
                  <a:p xmlns:a="http://schemas.openxmlformats.org/drawingml/2006/main">
                    <a:r>
                      <a:rPr sz="1500" b="1">
                        <a:solidFill>
                          <a:srgbClr val="14243B"/>
                        </a:solidFill>
                        <a:latin typeface="Noto Sans"/>
                        <a:ea typeface="Noto Sans"/>
                        <a:cs typeface="Noto Sans"/>
                      </a:rPr>
                      <a:t>0.000905</a:t>
                    </a:r>
                  </a:p>
                </c:rich>
              </c:tx>
              <c:txPr>
                <a:bodyPr xmlns:a="http://schemas.openxmlformats.org/drawingml/2006/main" anchorCtr="1"/>
                <a:lstStyle xmlns:a="http://schemas.openxmlformats.org/drawingml/2006/main"/>
                <a:p xmlns:a="http://schemas.openxmlformats.org/drawingml/2006/main">
                  <a:pPr>
                    <a:defRPr sz="1500" b="1">
                      <a:solidFill>
                        <a:srgbClr val="14243B"/>
                      </a:solidFill>
                      <a:latin typeface="Noto Sans"/>
                      <a:ea typeface="Noto Sans"/>
                      <a:cs typeface="Noto Sans"/>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00" b="1">
                        <a:solidFill>
                          <a:srgbClr val="14243B"/>
                        </a:solidFill>
                        <a:latin typeface="Noto Sans"/>
                        <a:ea typeface="Noto Sans"/>
                        <a:cs typeface="Noto Sans"/>
                      </a:rPr>
                      <a:t>0.000942</a:t>
                    </a:r>
                  </a:p>
                </c:rich>
              </c:tx>
              <c:txPr>
                <a:bodyPr xmlns:a="http://schemas.openxmlformats.org/drawingml/2006/main" anchorCtr="1"/>
                <a:lstStyle xmlns:a="http://schemas.openxmlformats.org/drawingml/2006/main"/>
                <a:p xmlns:a="http://schemas.openxmlformats.org/drawingml/2006/main">
                  <a:pPr>
                    <a:defRPr sz="1500" b="1">
                      <a:solidFill>
                        <a:srgbClr val="14243B"/>
                      </a:solidFill>
                      <a:latin typeface="Noto Sans"/>
                      <a:ea typeface="Noto Sans"/>
                      <a:cs typeface="Noto Sans"/>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500" b="1">
                        <a:solidFill>
                          <a:srgbClr val="14243B"/>
                        </a:solidFill>
                        <a:latin typeface="Noto Sans"/>
                        <a:ea typeface="Noto Sans"/>
                        <a:cs typeface="Noto Sans"/>
                      </a:rPr>
                      <a:t>0.000938</a:t>
                    </a:r>
                  </a:p>
                </c:rich>
              </c:tx>
              <c:txPr>
                <a:bodyPr xmlns:a="http://schemas.openxmlformats.org/drawingml/2006/main" anchorCtr="1"/>
                <a:lstStyle xmlns:a="http://schemas.openxmlformats.org/drawingml/2006/main"/>
                <a:p xmlns:a="http://schemas.openxmlformats.org/drawingml/2006/main">
                  <a:pPr>
                    <a:defRPr sz="1500" b="1">
                      <a:solidFill>
                        <a:srgbClr val="14243B"/>
                      </a:solidFill>
                      <a:latin typeface="Noto Sans"/>
                      <a:ea typeface="Noto Sans"/>
                      <a:cs typeface="Noto Sans"/>
                    </a:defRPr>
                  </a:pPr>
                </a:p>
              </c:txPr>
              <c:dLblPos val="outEnd"/>
              <c:showLegendKey val="0"/>
              <c:showVal val="1"/>
              <c:showCatName val="0"/>
              <c:showSerName val="0"/>
              <c:showPercent val="0"/>
              <c:showBubbleSize val="0"/>
            </c:dLbl>
          </c:dLbls>
          <c:cat>
            <c:strRef>
              <c:f>'Chart Data'!$A$2:$A$4</c:f>
              <c:strCache>
                <c:ptCount val="3"/>
                <c:pt idx="0">
                  <c:v>Constant</c:v>
                </c:pt>
                <c:pt idx="1">
                  <c:v>Logistic</c:v>
                </c:pt>
                <c:pt idx="2">
                  <c:v>CatBoost</c:v>
                </c:pt>
              </c:strCache>
            </c:strRef>
          </c:cat>
          <c:val>
            <c:numRef>
              <c:f>'Chart Data'!$B$2:$B$4</c:f>
              <c:numCache>
                <c:formatCode>0.0000</c:formatCode>
                <c:ptCount val="3"/>
                <c:pt idx="0">
                  <c:v>0.000905221735</c:v>
                </c:pt>
                <c:pt idx="1">
                  <c:v>0.00094152267</c:v>
                </c:pt>
                <c:pt idx="2">
                  <c:v>0.000938097556</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4243B"/>
                  </a:solidFill>
                  <a:latin typeface="Noto Sans"/>
                  <a:ea typeface="Noto Sans"/>
                  <a:cs typeface="Noto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9ED"/>
            </a:solidFill>
          </a:ln>
        </c:spPr>
        <c:txPr>
          <a:bodyPr xmlns:a="http://schemas.openxmlformats.org/drawingml/2006/main" anchorCtr="1"/>
          <a:lstStyle xmlns:a="http://schemas.openxmlformats.org/drawingml/2006/main"/>
          <a:p xmlns:a="http://schemas.openxmlformats.org/drawingml/2006/main">
            <a:pPr>
              <a:defRPr sz="1425">
                <a:solidFill>
                  <a:srgbClr val="587087"/>
                </a:solidFill>
                <a:latin typeface="Noto Sans"/>
                <a:ea typeface="Noto Sans"/>
                <a:cs typeface="Noto Sans"/>
              </a:defRPr>
            </a:pPr>
          </a:p>
        </c:txPr>
        <c:crossAx val="48672768"/>
      </c:catAx>
      <c:valAx>
        <c:axId val="48672768"/>
        <c:scaling>
          <c:orientation val="minMax"/>
          <c:max val="0.0011"/>
          <c:min val="0"/>
        </c:scaling>
        <c:delete val="0"/>
        <c:axPos val="l"/>
        <c:majorGridlines>
          <c:spPr>
            <a:ln xmlns:a="http://schemas.openxmlformats.org/drawingml/2006/main" w="9525">
              <a:solidFill>
                <a:srgbClr val="DCE9ED"/>
              </a:solidFill>
            </a:ln>
          </c:spPr>
        </c:majorGridlines>
        <c:numFmt formatCode="0.0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587087"/>
                </a:solidFill>
                <a:latin typeface="Noto Sans"/>
                <a:ea typeface="Noto Sans"/>
                <a:cs typeface="Noto Sans"/>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Measured result</c:v>
          </c:tx>
          <c:spPr>
            <a:solidFill xmlns:a="http://schemas.openxmlformats.org/drawingml/2006/main">
              <a:srgbClr val="149F8E"/>
            </a:solidFill>
          </c:spPr>
          <c:dPt>
            <c:idx val="0"/>
            <c:invertIfNegative val="0"/>
            <c:spPr>
              <a:solidFill xmlns:a="http://schemas.openxmlformats.org/drawingml/2006/main">
                <a:srgbClr val="8DA8B8"/>
              </a:solidFill>
            </c:spPr>
          </c:dPt>
          <c:dPt>
            <c:idx val="1"/>
            <c:invertIfNegative val="0"/>
            <c:spPr>
              <a:solidFill xmlns:a="http://schemas.openxmlformats.org/drawingml/2006/main">
                <a:srgbClr val="149F8E"/>
              </a:solidFill>
            </c:spPr>
          </c:dPt>
          <c:dPt>
            <c:idx val="2"/>
            <c:invertIfNegative val="0"/>
            <c:spPr>
              <a:solidFill xmlns:a="http://schemas.openxmlformats.org/drawingml/2006/main">
                <a:srgbClr val="427D9A"/>
              </a:solidFill>
            </c:spPr>
          </c:dPt>
          <c:dLbls>
            <c:dLbl>
              <c:idx val="0"/>
              <c:tx>
                <c:rich>
                  <a:bodyPr xmlns:a="http://schemas.openxmlformats.org/drawingml/2006/main"/>
                  <a:lstStyle xmlns:a="http://schemas.openxmlformats.org/drawingml/2006/main"/>
                  <a:p xmlns:a="http://schemas.openxmlformats.org/drawingml/2006/main">
                    <a:r>
                      <a:rPr sz="1500" b="1">
                        <a:solidFill>
                          <a:srgbClr val="14243B"/>
                        </a:solidFill>
                        <a:latin typeface="Noto Sans"/>
                        <a:ea typeface="Noto Sans"/>
                        <a:cs typeface="Noto Sans"/>
                      </a:rPr>
                      <a:t>0.421</a:t>
                    </a:r>
                  </a:p>
                </c:rich>
              </c:tx>
              <c:txPr>
                <a:bodyPr xmlns:a="http://schemas.openxmlformats.org/drawingml/2006/main" anchorCtr="1"/>
                <a:lstStyle xmlns:a="http://schemas.openxmlformats.org/drawingml/2006/main"/>
                <a:p xmlns:a="http://schemas.openxmlformats.org/drawingml/2006/main">
                  <a:pPr>
                    <a:defRPr sz="1500" b="1">
                      <a:solidFill>
                        <a:srgbClr val="14243B"/>
                      </a:solidFill>
                      <a:latin typeface="Noto Sans"/>
                      <a:ea typeface="Noto Sans"/>
                      <a:cs typeface="Noto Sans"/>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00" b="1">
                        <a:solidFill>
                          <a:srgbClr val="14243B"/>
                        </a:solidFill>
                        <a:latin typeface="Noto Sans"/>
                        <a:ea typeface="Noto Sans"/>
                        <a:cs typeface="Noto Sans"/>
                      </a:rPr>
                      <a:t>0.823</a:t>
                    </a:r>
                  </a:p>
                </c:rich>
              </c:tx>
              <c:txPr>
                <a:bodyPr xmlns:a="http://schemas.openxmlformats.org/drawingml/2006/main" anchorCtr="1"/>
                <a:lstStyle xmlns:a="http://schemas.openxmlformats.org/drawingml/2006/main"/>
                <a:p xmlns:a="http://schemas.openxmlformats.org/drawingml/2006/main">
                  <a:pPr>
                    <a:defRPr sz="1500" b="1">
                      <a:solidFill>
                        <a:srgbClr val="14243B"/>
                      </a:solidFill>
                      <a:latin typeface="Noto Sans"/>
                      <a:ea typeface="Noto Sans"/>
                      <a:cs typeface="Noto Sans"/>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500" b="1">
                        <a:solidFill>
                          <a:srgbClr val="14243B"/>
                        </a:solidFill>
                        <a:latin typeface="Noto Sans"/>
                        <a:ea typeface="Noto Sans"/>
                        <a:cs typeface="Noto Sans"/>
                      </a:rPr>
                      <a:t>0.805</a:t>
                    </a:r>
                  </a:p>
                </c:rich>
              </c:tx>
              <c:txPr>
                <a:bodyPr xmlns:a="http://schemas.openxmlformats.org/drawingml/2006/main" anchorCtr="1"/>
                <a:lstStyle xmlns:a="http://schemas.openxmlformats.org/drawingml/2006/main"/>
                <a:p xmlns:a="http://schemas.openxmlformats.org/drawingml/2006/main">
                  <a:pPr>
                    <a:defRPr sz="1500" b="1">
                      <a:solidFill>
                        <a:srgbClr val="14243B"/>
                      </a:solidFill>
                      <a:latin typeface="Noto Sans"/>
                      <a:ea typeface="Noto Sans"/>
                      <a:cs typeface="Noto Sans"/>
                    </a:defRPr>
                  </a:pPr>
                </a:p>
              </c:txPr>
              <c:dLblPos val="outEnd"/>
              <c:showLegendKey val="0"/>
              <c:showVal val="1"/>
              <c:showCatName val="0"/>
              <c:showSerName val="0"/>
              <c:showPercent val="0"/>
              <c:showBubbleSize val="0"/>
            </c:dLbl>
          </c:dLbls>
          <c:cat>
            <c:strRef>
              <c:f>'Chart Data'!$A$2:$A$4</c:f>
              <c:strCache>
                <c:ptCount val="3"/>
                <c:pt idx="0">
                  <c:v>Rules</c:v>
                </c:pt>
                <c:pt idx="1">
                  <c:v>Local ML</c:v>
                </c:pt>
                <c:pt idx="2">
                  <c:v>Gemma 3</c:v>
                </c:pt>
              </c:strCache>
            </c:strRef>
          </c:cat>
          <c:val>
            <c:numRef>
              <c:f>'Chart Data'!$B$2:$B$4</c:f>
              <c:numCache>
                <c:formatCode>0.0</c:formatCode>
                <c:ptCount val="3"/>
                <c:pt idx="0">
                  <c:v>0.420722527</c:v>
                </c:pt>
                <c:pt idx="1">
                  <c:v>0.822971628</c:v>
                </c:pt>
                <c:pt idx="2">
                  <c:v>0.80451927</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4243B"/>
                  </a:solidFill>
                  <a:latin typeface="Noto Sans"/>
                  <a:ea typeface="Noto Sans"/>
                  <a:cs typeface="Noto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9ED"/>
            </a:solidFill>
          </a:ln>
        </c:spPr>
        <c:txPr>
          <a:bodyPr xmlns:a="http://schemas.openxmlformats.org/drawingml/2006/main" anchorCtr="1"/>
          <a:lstStyle xmlns:a="http://schemas.openxmlformats.org/drawingml/2006/main"/>
          <a:p xmlns:a="http://schemas.openxmlformats.org/drawingml/2006/main">
            <a:pPr>
              <a:defRPr sz="1425">
                <a:solidFill>
                  <a:srgbClr val="587087"/>
                </a:solidFill>
                <a:latin typeface="Noto Sans"/>
                <a:ea typeface="Noto Sans"/>
                <a:cs typeface="Noto Sans"/>
              </a:defRPr>
            </a:pPr>
          </a:p>
        </c:txPr>
        <c:crossAx val="48672768"/>
      </c:catAx>
      <c:valAx>
        <c:axId val="48672768"/>
        <c:scaling>
          <c:orientation val="minMax"/>
          <c:max val="1"/>
          <c:min val="0"/>
        </c:scaling>
        <c:delete val="0"/>
        <c:axPos val="l"/>
        <c:majorGridlines>
          <c:spPr>
            <a:ln xmlns:a="http://schemas.openxmlformats.org/drawingml/2006/main" w="9525">
              <a:solidFill>
                <a:srgbClr val="DCE9ED"/>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587087"/>
                </a:solidFill>
                <a:latin typeface="Noto Sans"/>
                <a:ea typeface="Noto Sans"/>
                <a:cs typeface="Noto Sans"/>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Measured result</c:v>
          </c:tx>
          <c:spPr>
            <a:solidFill xmlns:a="http://schemas.openxmlformats.org/drawingml/2006/main">
              <a:srgbClr val="149F8E"/>
            </a:solidFill>
          </c:spPr>
          <c:dPt>
            <c:idx val="0"/>
            <c:invertIfNegative val="0"/>
            <c:spPr>
              <a:solidFill xmlns:a="http://schemas.openxmlformats.org/drawingml/2006/main">
                <a:srgbClr val="8DA8B8"/>
              </a:solidFill>
            </c:spPr>
          </c:dPt>
          <c:dPt>
            <c:idx val="1"/>
            <c:invertIfNegative val="0"/>
            <c:spPr>
              <a:solidFill xmlns:a="http://schemas.openxmlformats.org/drawingml/2006/main">
                <a:srgbClr val="149F8E"/>
              </a:solidFill>
            </c:spPr>
          </c:dPt>
          <c:dLbls>
            <c:dLbl>
              <c:idx val="0"/>
              <c:tx>
                <c:rich>
                  <a:bodyPr xmlns:a="http://schemas.openxmlformats.org/drawingml/2006/main"/>
                  <a:lstStyle xmlns:a="http://schemas.openxmlformats.org/drawingml/2006/main"/>
                  <a:p xmlns:a="http://schemas.openxmlformats.org/drawingml/2006/main">
                    <a:r>
                      <a:rPr sz="1500" b="1">
                        <a:solidFill>
                          <a:srgbClr val="14243B"/>
                        </a:solidFill>
                        <a:latin typeface="Noto Sans"/>
                        <a:ea typeface="Noto Sans"/>
                        <a:cs typeface="Noto Sans"/>
                      </a:rPr>
                      <a:t>77 / 140</a:t>
                    </a:r>
                  </a:p>
                </c:rich>
              </c:tx>
              <c:txPr>
                <a:bodyPr xmlns:a="http://schemas.openxmlformats.org/drawingml/2006/main" anchorCtr="1"/>
                <a:lstStyle xmlns:a="http://schemas.openxmlformats.org/drawingml/2006/main"/>
                <a:p xmlns:a="http://schemas.openxmlformats.org/drawingml/2006/main">
                  <a:pPr>
                    <a:defRPr sz="1500" b="1">
                      <a:solidFill>
                        <a:srgbClr val="14243B"/>
                      </a:solidFill>
                      <a:latin typeface="Noto Sans"/>
                      <a:ea typeface="Noto Sans"/>
                      <a:cs typeface="Noto Sans"/>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00" b="1">
                        <a:solidFill>
                          <a:srgbClr val="14243B"/>
                        </a:solidFill>
                        <a:latin typeface="Noto Sans"/>
                        <a:ea typeface="Noto Sans"/>
                        <a:cs typeface="Noto Sans"/>
                      </a:rPr>
                      <a:t>122 / 140</a:t>
                    </a:r>
                  </a:p>
                </c:rich>
              </c:tx>
              <c:txPr>
                <a:bodyPr xmlns:a="http://schemas.openxmlformats.org/drawingml/2006/main" anchorCtr="1"/>
                <a:lstStyle xmlns:a="http://schemas.openxmlformats.org/drawingml/2006/main"/>
                <a:p xmlns:a="http://schemas.openxmlformats.org/drawingml/2006/main">
                  <a:pPr>
                    <a:defRPr sz="1500" b="1">
                      <a:solidFill>
                        <a:srgbClr val="14243B"/>
                      </a:solidFill>
                      <a:latin typeface="Noto Sans"/>
                      <a:ea typeface="Noto Sans"/>
                      <a:cs typeface="Noto Sans"/>
                    </a:defRPr>
                  </a:pPr>
                </a:p>
              </c:txPr>
              <c:dLblPos val="outEnd"/>
              <c:showLegendKey val="0"/>
              <c:showVal val="1"/>
              <c:showCatName val="0"/>
              <c:showSerName val="0"/>
              <c:showPercent val="0"/>
              <c:showBubbleSize val="0"/>
            </c:dLbl>
          </c:dLbls>
          <c:cat>
            <c:strRef>
              <c:f>'Chart Data'!$A$2:$A$3</c:f>
              <c:strCache>
                <c:ptCount val="2"/>
                <c:pt idx="0">
                  <c:v>Rules</c:v>
                </c:pt>
                <c:pt idx="1">
                  <c:v>Local ML</c:v>
                </c:pt>
              </c:strCache>
            </c:strRef>
          </c:cat>
          <c:val>
            <c:numRef>
              <c:f>'Chart Data'!$B$2:$B$3</c:f>
              <c:numCache>
                <c:formatCode>0%</c:formatCode>
                <c:ptCount val="2"/>
                <c:pt idx="0">
                  <c:v>0.55</c:v>
                </c:pt>
                <c:pt idx="1">
                  <c:v>0.871428571</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14243B"/>
                  </a:solidFill>
                  <a:latin typeface="Noto Sans"/>
                  <a:ea typeface="Noto Sans"/>
                  <a:cs typeface="Noto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9ED"/>
            </a:solidFill>
          </a:ln>
        </c:spPr>
        <c:txPr>
          <a:bodyPr xmlns:a="http://schemas.openxmlformats.org/drawingml/2006/main" anchorCtr="1"/>
          <a:lstStyle xmlns:a="http://schemas.openxmlformats.org/drawingml/2006/main"/>
          <a:p xmlns:a="http://schemas.openxmlformats.org/drawingml/2006/main">
            <a:pPr>
              <a:defRPr sz="1425">
                <a:solidFill>
                  <a:srgbClr val="587087"/>
                </a:solidFill>
                <a:latin typeface="Noto Sans"/>
                <a:ea typeface="Noto Sans"/>
                <a:cs typeface="Noto Sans"/>
              </a:defRPr>
            </a:pPr>
          </a:p>
        </c:txPr>
        <c:crossAx val="48672768"/>
      </c:catAx>
      <c:valAx>
        <c:axId val="48672768"/>
        <c:scaling>
          <c:orientation val="minMax"/>
          <c:max val="1"/>
          <c:min val="0"/>
        </c:scaling>
        <c:delete val="0"/>
        <c:axPos val="l"/>
        <c:majorGridlines>
          <c:spPr>
            <a:ln xmlns:a="http://schemas.openxmlformats.org/drawingml/2006/main" w="9525">
              <a:solidFill>
                <a:srgbClr val="DCE9ED"/>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587087"/>
                </a:solidFill>
                <a:latin typeface="Noto Sans"/>
                <a:ea typeface="Noto Sans"/>
                <a:cs typeface="Noto Sans"/>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193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90D1040-AD79-4BD0-B659-5A892027A2F9}"/>
              </a:ext>
            </a:extLst>
          </p:cNvPr>
          <p:cNvSpPr>
            <a:spLocks xmlns:a="http://schemas.openxmlformats.org/drawingml/2006/main" noGrp="1"/>
          </p:cNvSpPr>
          <p:nvPr/>
        </p:nvSpPr>
        <p:spPr>
          <a:xfrm xmlns:a="http://schemas.openxmlformats.org/drawingml/2006/main">
            <a:off x="609600" y="438150"/>
            <a:ext cx="723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450" b="1">
                <a:solidFill>
                  <a:srgbClr val="F7FAFC"/>
                </a:solidFill>
                <a:latin typeface="Noto Sans"/>
                <a:ea typeface="Noto Sans"/>
                <a:cs typeface="Noto Sans"/>
              </a:defRPr>
            </a:pPr>
            <a:r>
              <a:rPr sz="6450" b="1">
                <a:solidFill>
                  <a:srgbClr val="F7FAFC"/>
                </a:solidFill>
                <a:latin typeface="Noto Sans"/>
                <a:ea typeface="Noto Sans"/>
                <a:cs typeface="Noto Sans"/>
              </a:rPr>
              <a:t>Claro</a:t>
            </a:r>
          </a:p>
        </p:txBody>
      </p:sp>
      <p:sp>
        <p:nvSpPr>
          <p:cNvPr id="2" name="">
            <a:extLst xmlns:a="http://schemas.openxmlformats.org/drawingml/2006/main">
              <a:ext uri="{FF2B5EF4-FFF2-40B4-BE49-F238E27FC236}">
                <a16:creationId xmlns:a16="http://schemas.microsoft.com/office/drawing/2014/main" id="{A47BC5E6-28D2-4DCD-A00B-43EFE43644A7}"/>
              </a:ext>
            </a:extLst>
          </p:cNvPr>
          <p:cNvSpPr>
            <a:spLocks xmlns:a="http://schemas.openxmlformats.org/drawingml/2006/main" noGrp="1"/>
          </p:cNvSpPr>
          <p:nvPr/>
        </p:nvSpPr>
        <p:spPr>
          <a:xfrm xmlns:a="http://schemas.openxmlformats.org/drawingml/2006/main">
            <a:off x="609600" y="1647825"/>
            <a:ext cx="6953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825" b="1">
                <a:solidFill>
                  <a:srgbClr val="F7FAFC"/>
                </a:solidFill>
                <a:latin typeface="Noto Sans"/>
                <a:ea typeface="Noto Sans"/>
                <a:cs typeface="Noto Sans"/>
              </a:defRPr>
            </a:pPr>
            <a:r>
              <a:rPr sz="3825" b="1">
                <a:solidFill>
                  <a:srgbClr val="F7FAFC"/>
                </a:solidFill>
                <a:latin typeface="Noto Sans"/>
                <a:ea typeface="Noto Sans"/>
                <a:cs typeface="Noto Sans"/>
              </a:rPr>
              <a:t>Banking support with</a:t>
            </a:r>
          </a:p>
          <a:p xmlns:a="http://schemas.openxmlformats.org/drawingml/2006/main">
            <a:pPr algn="l">
              <a:defRPr sz="3825" b="1">
                <a:solidFill>
                  <a:srgbClr val="F7FAFC"/>
                </a:solidFill>
                <a:latin typeface="Noto Sans"/>
                <a:ea typeface="Noto Sans"/>
                <a:cs typeface="Noto Sans"/>
              </a:defRPr>
            </a:pPr>
            <a:r>
              <a:rPr sz="3825" b="1">
                <a:solidFill>
                  <a:srgbClr val="F7FAFC"/>
                </a:solidFill>
                <a:latin typeface="Noto Sans"/>
                <a:ea typeface="Noto Sans"/>
                <a:cs typeface="Noto Sans"/>
              </a:rPr>
              <a:t>verified outcomes</a:t>
            </a:r>
          </a:p>
        </p:txBody>
      </p:sp>
      <p:sp>
        <p:nvSpPr>
          <p:cNvPr id="3" name="">
            <a:extLst xmlns:a="http://schemas.openxmlformats.org/drawingml/2006/main">
              <a:ext uri="{FF2B5EF4-FFF2-40B4-BE49-F238E27FC236}">
                <a16:creationId xmlns:a16="http://schemas.microsoft.com/office/drawing/2014/main" id="{B0495FCD-857F-43CC-A234-346CC5A2CB3D}"/>
              </a:ext>
            </a:extLst>
          </p:cNvPr>
          <p:cNvSpPr>
            <a:spLocks xmlns:a="http://schemas.openxmlformats.org/drawingml/2006/main" noGrp="1"/>
          </p:cNvSpPr>
          <p:nvPr/>
        </p:nvSpPr>
        <p:spPr>
          <a:xfrm xmlns:a="http://schemas.openxmlformats.org/drawingml/2006/main">
            <a:off x="638175" y="3343275"/>
            <a:ext cx="695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A4B7C8"/>
                </a:solidFill>
                <a:latin typeface="Noto Sans"/>
                <a:ea typeface="Noto Sans"/>
                <a:cs typeface="Noto Sans"/>
              </a:defRPr>
            </a:pPr>
            <a:r>
              <a:rPr sz="2025" b="0">
                <a:solidFill>
                  <a:srgbClr val="A4B7C8"/>
                </a:solidFill>
                <a:latin typeface="Noto Sans"/>
                <a:ea typeface="Noto Sans"/>
                <a:cs typeface="Noto Sans"/>
              </a:rPr>
              <a:t>Spanish and Portuguese transaction support</a:t>
            </a:r>
          </a:p>
          <a:p xmlns:a="http://schemas.openxmlformats.org/drawingml/2006/main">
            <a:pPr algn="l">
              <a:defRPr sz="2025" b="0">
                <a:solidFill>
                  <a:srgbClr val="A4B7C8"/>
                </a:solidFill>
                <a:latin typeface="Noto Sans"/>
                <a:ea typeface="Noto Sans"/>
                <a:cs typeface="Noto Sans"/>
              </a:defRPr>
            </a:pPr>
            <a:r>
              <a:rPr sz="2025" b="0">
                <a:solidFill>
                  <a:srgbClr val="A4B7C8"/>
                </a:solidFill>
                <a:latin typeface="Noto Sans"/>
                <a:ea typeface="Noto Sans"/>
                <a:cs typeface="Noto Sans"/>
              </a:rPr>
              <a:t>with confirmed cases for human review</a:t>
            </a:r>
          </a:p>
        </p:txBody>
      </p:sp>
      <p:sp>
        <p:nvSpPr>
          <p:cNvPr id="4" name="">
            <a:extLst xmlns:a="http://schemas.openxmlformats.org/drawingml/2006/main">
              <a:ext uri="{FF2B5EF4-FFF2-40B4-BE49-F238E27FC236}">
                <a16:creationId xmlns:a16="http://schemas.microsoft.com/office/drawing/2014/main" id="{A778DC8E-C406-4EE7-A838-A2D8CBEF4A6B}"/>
              </a:ext>
            </a:extLst>
          </p:cNvPr>
          <p:cNvSpPr>
            <a:spLocks xmlns:a="http://schemas.openxmlformats.org/drawingml/2006/main" noGrp="1"/>
          </p:cNvSpPr>
          <p:nvPr/>
        </p:nvSpPr>
        <p:spPr>
          <a:xfrm xmlns:a="http://schemas.openxmlformats.org/drawingml/2006/main">
            <a:off x="8477250" y="1590675"/>
            <a:ext cx="304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1">
                <a:solidFill>
                  <a:srgbClr val="67E2C4"/>
                </a:solidFill>
                <a:latin typeface="Noto Sans"/>
                <a:ea typeface="Noto Sans"/>
                <a:cs typeface="Noto Sans"/>
              </a:defRPr>
            </a:pPr>
            <a:r>
              <a:rPr sz="4800" b="1">
                <a:solidFill>
                  <a:srgbClr val="67E2C4"/>
                </a:solidFill>
                <a:latin typeface="Noto Sans"/>
                <a:ea typeface="Noto Sans"/>
                <a:cs typeface="Noto Sans"/>
              </a:rPr>
              <a:t>4.43M</a:t>
            </a:r>
          </a:p>
        </p:txBody>
      </p:sp>
      <p:sp>
        <p:nvSpPr>
          <p:cNvPr id="5" name="">
            <a:extLst xmlns:a="http://schemas.openxmlformats.org/drawingml/2006/main">
              <a:ext uri="{FF2B5EF4-FFF2-40B4-BE49-F238E27FC236}">
                <a16:creationId xmlns:a16="http://schemas.microsoft.com/office/drawing/2014/main" id="{5440CA68-3E02-4852-9174-E2D1D753FD81}"/>
              </a:ext>
            </a:extLst>
          </p:cNvPr>
          <p:cNvSpPr>
            <a:spLocks xmlns:a="http://schemas.openxmlformats.org/drawingml/2006/main" noGrp="1"/>
          </p:cNvSpPr>
          <p:nvPr/>
        </p:nvSpPr>
        <p:spPr>
          <a:xfrm xmlns:a="http://schemas.openxmlformats.org/drawingml/2006/main">
            <a:off x="8505825" y="2390775"/>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F7FAFC"/>
                </a:solidFill>
                <a:latin typeface="Noto Sans"/>
                <a:ea typeface="Noto Sans"/>
                <a:cs typeface="Noto Sans"/>
              </a:defRPr>
            </a:pPr>
            <a:r>
              <a:rPr sz="1800" b="0">
                <a:solidFill>
                  <a:srgbClr val="F7FAFC"/>
                </a:solidFill>
                <a:latin typeface="Noto Sans"/>
                <a:ea typeface="Noto Sans"/>
                <a:cs typeface="Noto Sans"/>
              </a:rPr>
              <a:t>transactions audited</a:t>
            </a:r>
          </a:p>
        </p:txBody>
      </p:sp>
      <p:sp>
        <p:nvSpPr>
          <p:cNvPr id="6" name="">
            <a:extLst xmlns:a="http://schemas.openxmlformats.org/drawingml/2006/main">
              <a:ext uri="{FF2B5EF4-FFF2-40B4-BE49-F238E27FC236}">
                <a16:creationId xmlns:a16="http://schemas.microsoft.com/office/drawing/2014/main" id="{8D1E7D37-FC2D-44EE-97F3-04CD5E3EA0A5}"/>
              </a:ext>
            </a:extLst>
          </p:cNvPr>
          <p:cNvSpPr>
            <a:spLocks xmlns:a="http://schemas.openxmlformats.org/drawingml/2006/main" noGrp="1"/>
          </p:cNvSpPr>
          <p:nvPr/>
        </p:nvSpPr>
        <p:spPr>
          <a:xfrm xmlns:a="http://schemas.openxmlformats.org/drawingml/2006/main">
            <a:off x="8477250" y="3209925"/>
            <a:ext cx="266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1">
                <a:solidFill>
                  <a:srgbClr val="67E2C4"/>
                </a:solidFill>
                <a:latin typeface="Noto Sans"/>
                <a:ea typeface="Noto Sans"/>
                <a:cs typeface="Noto Sans"/>
              </a:defRPr>
            </a:pPr>
            <a:r>
              <a:rPr sz="4800" b="1">
                <a:solidFill>
                  <a:srgbClr val="67E2C4"/>
                </a:solidFill>
                <a:latin typeface="Noto Sans"/>
                <a:ea typeface="Noto Sans"/>
                <a:cs typeface="Noto Sans"/>
              </a:rPr>
              <a:t>42</a:t>
            </a:r>
          </a:p>
        </p:txBody>
      </p:sp>
      <p:sp>
        <p:nvSpPr>
          <p:cNvPr id="7" name="">
            <a:extLst xmlns:a="http://schemas.openxmlformats.org/drawingml/2006/main">
              <a:ext uri="{FF2B5EF4-FFF2-40B4-BE49-F238E27FC236}">
                <a16:creationId xmlns:a16="http://schemas.microsoft.com/office/drawing/2014/main" id="{E2DCAD9C-92B4-452D-8306-E99710E0D1A6}"/>
              </a:ext>
            </a:extLst>
          </p:cNvPr>
          <p:cNvSpPr>
            <a:spLocks xmlns:a="http://schemas.openxmlformats.org/drawingml/2006/main" noGrp="1"/>
          </p:cNvSpPr>
          <p:nvPr/>
        </p:nvSpPr>
        <p:spPr>
          <a:xfrm xmlns:a="http://schemas.openxmlformats.org/drawingml/2006/main">
            <a:off x="8505825" y="3990975"/>
            <a:ext cx="304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F7FAFC"/>
                </a:solidFill>
                <a:latin typeface="Noto Sans"/>
                <a:ea typeface="Noto Sans"/>
                <a:cs typeface="Noto Sans"/>
              </a:defRPr>
            </a:pPr>
            <a:r>
              <a:rPr sz="1800" b="0">
                <a:solidFill>
                  <a:srgbClr val="F7FAFC"/>
                </a:solidFill>
                <a:latin typeface="Noto Sans"/>
                <a:ea typeface="Noto Sans"/>
                <a:cs typeface="Noto Sans"/>
              </a:rPr>
              <a:t>distinct customer utterances</a:t>
            </a:r>
          </a:p>
          <a:p xmlns:a="http://schemas.openxmlformats.org/drawingml/2006/main">
            <a:pPr algn="l">
              <a:defRPr sz="1800" b="0">
                <a:solidFill>
                  <a:srgbClr val="F7FAFC"/>
                </a:solidFill>
                <a:latin typeface="Noto Sans"/>
                <a:ea typeface="Noto Sans"/>
                <a:cs typeface="Noto Sans"/>
              </a:defRPr>
            </a:pPr>
            <a:r>
              <a:rPr sz="1800" b="0">
                <a:solidFill>
                  <a:srgbClr val="F7FAFC"/>
                </a:solidFill>
                <a:latin typeface="Noto Sans"/>
                <a:ea typeface="Noto Sans"/>
                <a:cs typeface="Noto Sans"/>
              </a:rPr>
              <a:t>in organizer transcripts</a:t>
            </a:r>
          </a:p>
        </p:txBody>
      </p:sp>
      <p:sp>
        <p:nvSpPr>
          <p:cNvPr id="8" name="">
            <a:extLst xmlns:a="http://schemas.openxmlformats.org/drawingml/2006/main">
              <a:ext uri="{FF2B5EF4-FFF2-40B4-BE49-F238E27FC236}">
                <a16:creationId xmlns:a16="http://schemas.microsoft.com/office/drawing/2014/main" id="{47A7FCD2-5C73-4252-9D8E-ECE0A7DAA268}"/>
              </a:ext>
            </a:extLst>
          </p:cNvPr>
          <p:cNvSpPr>
            <a:spLocks xmlns:a="http://schemas.openxmlformats.org/drawingml/2006/main" noGrp="1"/>
          </p:cNvSpPr>
          <p:nvPr/>
        </p:nvSpPr>
        <p:spPr>
          <a:xfrm xmlns:a="http://schemas.openxmlformats.org/drawingml/2006/main">
            <a:off x="638175" y="51625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F7FAFC"/>
                </a:solidFill>
                <a:latin typeface="Noto Sans"/>
                <a:ea typeface="Noto Sans"/>
                <a:cs typeface="Noto Sans"/>
              </a:defRPr>
            </a:pPr>
            <a:r>
              <a:rPr sz="2025" b="0">
                <a:solidFill>
                  <a:srgbClr val="F7FAFC"/>
                </a:solidFill>
                <a:latin typeface="Noto Sans"/>
                <a:ea typeface="Noto Sans"/>
                <a:cs typeface="Noto Sans"/>
              </a:rPr>
              <a:t>We keep organizer analysis, authored language scenarios and public demo fixtures separate.</a:t>
            </a:r>
          </a:p>
        </p:txBody>
      </p:sp>
      <p:sp>
        <p:nvSpPr>
          <p:cNvPr id="9" name="">
            <a:extLst xmlns:a="http://schemas.openxmlformats.org/drawingml/2006/main">
              <a:ext uri="{FF2B5EF4-FFF2-40B4-BE49-F238E27FC236}">
                <a16:creationId xmlns:a16="http://schemas.microsoft.com/office/drawing/2014/main" id="{3741C0F0-968D-4BDE-AAD4-6880DB40CC7B}"/>
              </a:ext>
            </a:extLst>
          </p:cNvPr>
          <p:cNvSpPr>
            <a:spLocks xmlns:a="http://schemas.openxmlformats.org/drawingml/2006/main" noGrp="1"/>
          </p:cNvSpPr>
          <p:nvPr/>
        </p:nvSpPr>
        <p:spPr>
          <a:xfrm xmlns:a="http://schemas.openxmlformats.org/drawingml/2006/main">
            <a:off x="638175" y="63722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A4B7C8"/>
                </a:solidFill>
                <a:latin typeface="Noto Sans"/>
                <a:ea typeface="Noto Sans"/>
                <a:cs typeface="Noto Sans"/>
              </a:defRPr>
            </a:pPr>
            <a:r>
              <a:rPr sz="1275" b="0">
                <a:solidFill>
                  <a:srgbClr val="A4B7C8"/>
                </a:solidFill>
                <a:latin typeface="Noto Sans"/>
                <a:ea typeface="Noto Sans"/>
                <a:cs typeface="Noto Sans"/>
              </a:rPr>
              <a:t>Factored AI &amp; Data Hackathon 2026  /  Team nicoceron</a:t>
            </a:r>
          </a:p>
        </p:txBody>
      </p:sp>
    </p:spTree>
    <p:extLst>
      <p:ext uri="{BB962C8B-B14F-4D97-AF65-F5344CB8AC3E}">
        <p14:creationId xmlns:p14="http://schemas.microsoft.com/office/powerpoint/2010/main" val="859109147"/>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9EE69BA-6015-4779-9C44-3E422D74E76B}"/>
              </a:ext>
            </a:extLst>
          </p:cNvPr>
          <p:cNvSpPr>
            <a:spLocks xmlns:a="http://schemas.openxmlformats.org/drawingml/2006/main" noGrp="1"/>
          </p:cNvSpPr>
          <p:nvPr/>
        </p:nvSpPr>
        <p:spPr>
          <a:xfrm xmlns:a="http://schemas.openxmlformats.org/drawingml/2006/main">
            <a:off x="609600" y="447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4243B"/>
                </a:solidFill>
                <a:latin typeface="Noto Sans"/>
                <a:ea typeface="Noto Sans"/>
                <a:cs typeface="Noto Sans"/>
              </a:defRPr>
            </a:pPr>
            <a:r>
              <a:rPr sz="3300" b="1">
                <a:solidFill>
                  <a:srgbClr val="14243B"/>
                </a:solidFill>
                <a:latin typeface="Noto Sans"/>
                <a:ea typeface="Noto Sans"/>
                <a:cs typeface="Noto Sans"/>
              </a:rPr>
              <a:t>Specific requests, verified cases and follow-up</a:t>
            </a:r>
          </a:p>
        </p:txBody>
      </p:sp>
      <p:sp>
        <p:nvSpPr>
          <p:cNvPr id="2" name="">
            <a:extLst xmlns:a="http://schemas.openxmlformats.org/drawingml/2006/main">
              <a:ext uri="{FF2B5EF4-FFF2-40B4-BE49-F238E27FC236}">
                <a16:creationId xmlns:a16="http://schemas.microsoft.com/office/drawing/2014/main" id="{33F0BC40-032C-4F45-A95F-E9AD87AB00DF}"/>
              </a:ext>
            </a:extLst>
          </p:cNvPr>
          <p:cNvSpPr>
            <a:spLocks xmlns:a="http://schemas.openxmlformats.org/drawingml/2006/main" noGrp="1"/>
          </p:cNvSpPr>
          <p:nvPr/>
        </p:nvSpPr>
        <p:spPr>
          <a:xfrm xmlns:a="http://schemas.openxmlformats.org/drawingml/2006/main">
            <a:off x="609600" y="6400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87087"/>
                </a:solidFill>
                <a:latin typeface="Noto Sans"/>
                <a:ea typeface="Noto Sans"/>
                <a:cs typeface="Noto Sans"/>
              </a:defRPr>
            </a:pPr>
            <a:r>
              <a:rPr sz="1125" b="0">
                <a:solidFill>
                  <a:srgbClr val="587087"/>
                </a:solidFill>
                <a:latin typeface="Noto Sans"/>
                <a:ea typeface="Noto Sans"/>
                <a:cs typeface="Noto Sans"/>
              </a:rPr>
              <a:t>Claro  /  Factored 2026  /  2</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ab8a7d441bc4fe3"/>
          <a:srcRect xmlns:a="http://schemas.openxmlformats.org/drawingml/2006/main" l="0" t="8158" r="0" b="8158"/>
          <a:stretch xmlns:a="http://schemas.openxmlformats.org/drawingml/2006/main">
            <a:fillRect l="0" t="0" r="0" b="0"/>
          </a:stretch>
        </p:blipFill>
        <p:spPr>
          <a:xfrm xmlns:a="http://schemas.openxmlformats.org/drawingml/2006/main">
            <a:off x="609600" y="1647825"/>
            <a:ext cx="7391400" cy="43148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C6B5BE2-FE44-496C-952F-18AA74F4A2C2}"/>
              </a:ext>
            </a:extLst>
          </p:cNvPr>
          <p:cNvSpPr>
            <a:spLocks xmlns:a="http://schemas.openxmlformats.org/drawingml/2006/main" noGrp="1"/>
          </p:cNvSpPr>
          <p:nvPr/>
        </p:nvSpPr>
        <p:spPr>
          <a:xfrm xmlns:a="http://schemas.openxmlformats.org/drawingml/2006/main">
            <a:off x="8382000" y="16954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49F8E"/>
                </a:solidFill>
                <a:latin typeface="Noto Sans"/>
                <a:ea typeface="Noto Sans"/>
                <a:cs typeface="Noto Sans"/>
              </a:defRPr>
            </a:pPr>
            <a:r>
              <a:rPr sz="2025" b="1">
                <a:solidFill>
                  <a:srgbClr val="149F8E"/>
                </a:solidFill>
                <a:latin typeface="Noto Sans"/>
                <a:ea typeface="Noto Sans"/>
                <a:cs typeface="Noto Sans"/>
              </a:rPr>
              <a:t>1  Preserve the request</a:t>
            </a:r>
          </a:p>
        </p:txBody>
      </p:sp>
      <p:sp>
        <p:nvSpPr>
          <p:cNvPr id="5" name="">
            <a:extLst xmlns:a="http://schemas.openxmlformats.org/drawingml/2006/main">
              <a:ext uri="{FF2B5EF4-FFF2-40B4-BE49-F238E27FC236}">
                <a16:creationId xmlns:a16="http://schemas.microsoft.com/office/drawing/2014/main" id="{88353A29-D938-40B4-908A-131B05E39DEC}"/>
              </a:ext>
            </a:extLst>
          </p:cNvPr>
          <p:cNvSpPr>
            <a:spLocks xmlns:a="http://schemas.openxmlformats.org/drawingml/2006/main" noGrp="1"/>
          </p:cNvSpPr>
          <p:nvPr/>
        </p:nvSpPr>
        <p:spPr>
          <a:xfrm xmlns:a="http://schemas.openxmlformats.org/drawingml/2006/main">
            <a:off x="8382000" y="2143125"/>
            <a:ext cx="314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4243B"/>
                </a:solidFill>
                <a:latin typeface="Noto Sans"/>
                <a:ea typeface="Noto Sans"/>
                <a:cs typeface="Noto Sans"/>
              </a:defRPr>
            </a:pPr>
            <a:r>
              <a:rPr sz="1725" b="0">
                <a:solidFill>
                  <a:srgbClr val="14243B"/>
                </a:solidFill>
                <a:latin typeface="Noto Sans"/>
                <a:ea typeface="Noto Sans"/>
                <a:cs typeface="Noto Sans"/>
              </a:rPr>
              <a:t>Retain redacted customer</a:t>
            </a:r>
          </a:p>
          <a:p xmlns:a="http://schemas.openxmlformats.org/drawingml/2006/main">
            <a:pPr algn="l">
              <a:defRPr sz="1725" b="0">
                <a:solidFill>
                  <a:srgbClr val="14243B"/>
                </a:solidFill>
                <a:latin typeface="Noto Sans"/>
                <a:ea typeface="Noto Sans"/>
                <a:cs typeface="Noto Sans"/>
              </a:defRPr>
            </a:pPr>
            <a:r>
              <a:rPr sz="1725" b="0">
                <a:solidFill>
                  <a:srgbClr val="14243B"/>
                </a:solidFill>
                <a:latin typeface="Noto Sans"/>
                <a:ea typeface="Noto Sans"/>
                <a:cs typeface="Noto Sans"/>
              </a:rPr>
              <a:t>words beside verified facts.</a:t>
            </a:r>
          </a:p>
        </p:txBody>
      </p:sp>
      <p:sp>
        <p:nvSpPr>
          <p:cNvPr id="6" name="">
            <a:extLst xmlns:a="http://schemas.openxmlformats.org/drawingml/2006/main">
              <a:ext uri="{FF2B5EF4-FFF2-40B4-BE49-F238E27FC236}">
                <a16:creationId xmlns:a16="http://schemas.microsoft.com/office/drawing/2014/main" id="{46B0BE49-4F7D-47F7-BB63-F2C27506FDCC}"/>
              </a:ext>
            </a:extLst>
          </p:cNvPr>
          <p:cNvSpPr>
            <a:spLocks xmlns:a="http://schemas.openxmlformats.org/drawingml/2006/main" noGrp="1"/>
          </p:cNvSpPr>
          <p:nvPr/>
        </p:nvSpPr>
        <p:spPr>
          <a:xfrm xmlns:a="http://schemas.openxmlformats.org/drawingml/2006/main">
            <a:off x="8382000" y="3076575"/>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49F8E"/>
                </a:solidFill>
                <a:latin typeface="Noto Sans"/>
                <a:ea typeface="Noto Sans"/>
                <a:cs typeface="Noto Sans"/>
              </a:defRPr>
            </a:pPr>
            <a:r>
              <a:rPr sz="2025" b="1">
                <a:solidFill>
                  <a:srgbClr val="149F8E"/>
                </a:solidFill>
                <a:latin typeface="Noto Sans"/>
                <a:ea typeface="Noto Sans"/>
                <a:cs typeface="Noto Sans"/>
              </a:rPr>
              <a:t>2  Confirm and verify</a:t>
            </a:r>
          </a:p>
        </p:txBody>
      </p:sp>
      <p:sp>
        <p:nvSpPr>
          <p:cNvPr id="7" name="">
            <a:extLst xmlns:a="http://schemas.openxmlformats.org/drawingml/2006/main">
              <a:ext uri="{FF2B5EF4-FFF2-40B4-BE49-F238E27FC236}">
                <a16:creationId xmlns:a16="http://schemas.microsoft.com/office/drawing/2014/main" id="{E8752C21-55EC-4280-B2FF-6CAA4B9CB30D}"/>
              </a:ext>
            </a:extLst>
          </p:cNvPr>
          <p:cNvSpPr>
            <a:spLocks xmlns:a="http://schemas.openxmlformats.org/drawingml/2006/main" noGrp="1"/>
          </p:cNvSpPr>
          <p:nvPr/>
        </p:nvSpPr>
        <p:spPr>
          <a:xfrm xmlns:a="http://schemas.openxmlformats.org/drawingml/2006/main">
            <a:off x="8382000" y="3524250"/>
            <a:ext cx="314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4243B"/>
                </a:solidFill>
                <a:latin typeface="Noto Sans"/>
                <a:ea typeface="Noto Sans"/>
                <a:cs typeface="Noto Sans"/>
              </a:defRPr>
            </a:pPr>
            <a:r>
              <a:rPr sz="1725" b="0">
                <a:solidFill>
                  <a:srgbClr val="14243B"/>
                </a:solidFill>
                <a:latin typeface="Noto Sans"/>
                <a:ea typeface="Noto Sans"/>
                <a:cs typeface="Noto Sans"/>
              </a:rPr>
              <a:t>Commit one sandbox case.</a:t>
            </a:r>
          </a:p>
          <a:p xmlns:a="http://schemas.openxmlformats.org/drawingml/2006/main">
            <a:pPr algn="l">
              <a:defRPr sz="1725" b="0">
                <a:solidFill>
                  <a:srgbClr val="14243B"/>
                </a:solidFill>
                <a:latin typeface="Noto Sans"/>
                <a:ea typeface="Noto Sans"/>
                <a:cs typeface="Noto Sans"/>
              </a:defRPr>
            </a:pPr>
            <a:r>
              <a:rPr sz="1725" b="0">
                <a:solidFill>
                  <a:srgbClr val="14243B"/>
                </a:solidFill>
                <a:latin typeface="Noto Sans"/>
                <a:ea typeface="Noto Sans"/>
                <a:cs typeface="Noto Sans"/>
              </a:rPr>
              <a:t>Read it back before success.</a:t>
            </a:r>
          </a:p>
        </p:txBody>
      </p:sp>
      <p:sp>
        <p:nvSpPr>
          <p:cNvPr id="8" name="">
            <a:extLst xmlns:a="http://schemas.openxmlformats.org/drawingml/2006/main">
              <a:ext uri="{FF2B5EF4-FFF2-40B4-BE49-F238E27FC236}">
                <a16:creationId xmlns:a16="http://schemas.microsoft.com/office/drawing/2014/main" id="{6FC4D793-456B-4E54-8DF3-4828455FC692}"/>
              </a:ext>
            </a:extLst>
          </p:cNvPr>
          <p:cNvSpPr>
            <a:spLocks xmlns:a="http://schemas.openxmlformats.org/drawingml/2006/main" noGrp="1"/>
          </p:cNvSpPr>
          <p:nvPr/>
        </p:nvSpPr>
        <p:spPr>
          <a:xfrm xmlns:a="http://schemas.openxmlformats.org/drawingml/2006/main">
            <a:off x="8382000" y="445770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49F8E"/>
                </a:solidFill>
                <a:latin typeface="Noto Sans"/>
                <a:ea typeface="Noto Sans"/>
                <a:cs typeface="Noto Sans"/>
              </a:defRPr>
            </a:pPr>
            <a:r>
              <a:rPr sz="2025" b="1">
                <a:solidFill>
                  <a:srgbClr val="149F8E"/>
                </a:solidFill>
                <a:latin typeface="Noto Sans"/>
                <a:ea typeface="Noto Sans"/>
                <a:cs typeface="Noto Sans"/>
              </a:rPr>
              <a:t>3  Persist follow-up</a:t>
            </a:r>
          </a:p>
        </p:txBody>
      </p:sp>
      <p:sp>
        <p:nvSpPr>
          <p:cNvPr id="9" name="">
            <a:extLst xmlns:a="http://schemas.openxmlformats.org/drawingml/2006/main">
              <a:ext uri="{FF2B5EF4-FFF2-40B4-BE49-F238E27FC236}">
                <a16:creationId xmlns:a16="http://schemas.microsoft.com/office/drawing/2014/main" id="{C82DB530-25C6-42EE-A7DB-E84138EAABB4}"/>
              </a:ext>
            </a:extLst>
          </p:cNvPr>
          <p:cNvSpPr>
            <a:spLocks xmlns:a="http://schemas.openxmlformats.org/drawingml/2006/main" noGrp="1"/>
          </p:cNvSpPr>
          <p:nvPr/>
        </p:nvSpPr>
        <p:spPr>
          <a:xfrm xmlns:a="http://schemas.openxmlformats.org/drawingml/2006/main">
            <a:off x="8382000" y="4905375"/>
            <a:ext cx="314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4243B"/>
                </a:solidFill>
                <a:latin typeface="Noto Sans"/>
                <a:ea typeface="Noto Sans"/>
                <a:cs typeface="Noto Sans"/>
              </a:defRPr>
            </a:pPr>
            <a:r>
              <a:rPr sz="1725" b="0">
                <a:solidFill>
                  <a:srgbClr val="14243B"/>
                </a:solidFill>
                <a:latin typeface="Noto Sans"/>
                <a:ea typeface="Noto Sans"/>
                <a:cs typeface="Noto Sans"/>
              </a:rPr>
              <a:t>Save the analyst question,</a:t>
            </a:r>
          </a:p>
          <a:p xmlns:a="http://schemas.openxmlformats.org/drawingml/2006/main">
            <a:pPr algn="l">
              <a:defRPr sz="1725" b="0">
                <a:solidFill>
                  <a:srgbClr val="14243B"/>
                </a:solidFill>
                <a:latin typeface="Noto Sans"/>
                <a:ea typeface="Noto Sans"/>
                <a:cs typeface="Noto Sans"/>
              </a:defRPr>
            </a:pPr>
            <a:r>
              <a:rPr sz="1725" b="0">
                <a:solidFill>
                  <a:srgbClr val="14243B"/>
                </a:solidFill>
                <a:latin typeface="Noto Sans"/>
                <a:ea typeface="Noto Sans"/>
                <a:cs typeface="Noto Sans"/>
              </a:rPr>
              <a:t>customer reply and status.</a:t>
            </a:r>
          </a:p>
        </p:txBody>
      </p:sp>
    </p:spTree>
    <p:extLst>
      <p:ext uri="{BB962C8B-B14F-4D97-AF65-F5344CB8AC3E}">
        <p14:creationId xmlns:p14="http://schemas.microsoft.com/office/powerpoint/2010/main" val="369806862"/>
      </p:ext>
    </p:extLst>
  </p:cSld>
</p:sld>
</file>

<file path=ppt/slides/slide3.xml><?xml version="1.0" encoding="utf-8"?>
<p:sld xmlns:p="http://schemas.openxmlformats.org/presentationml/2006/main">
  <p:cSld>
    <p:bg>
      <p:bgPr>
        <a:solidFill xmlns:a="http://schemas.openxmlformats.org/drawingml/2006/main">
          <a:srgbClr val="0B193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8DD85EA-F621-4887-BBB9-5331E6D9FEB1}"/>
              </a:ext>
            </a:extLst>
          </p:cNvPr>
          <p:cNvSpPr>
            <a:spLocks xmlns:a="http://schemas.openxmlformats.org/drawingml/2006/main" noGrp="1"/>
          </p:cNvSpPr>
          <p:nvPr/>
        </p:nvSpPr>
        <p:spPr>
          <a:xfrm xmlns:a="http://schemas.openxmlformats.org/drawingml/2006/main">
            <a:off x="609600" y="447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F7FAFC"/>
                </a:solidFill>
                <a:latin typeface="Noto Sans"/>
                <a:ea typeface="Noto Sans"/>
                <a:cs typeface="Noto Sans"/>
              </a:defRPr>
            </a:pPr>
            <a:r>
              <a:rPr sz="3300" b="1">
                <a:solidFill>
                  <a:srgbClr val="F7FAFC"/>
                </a:solidFill>
                <a:latin typeface="Noto Sans"/>
                <a:ea typeface="Noto Sans"/>
                <a:cs typeface="Noto Sans"/>
              </a:rPr>
              <a:t>Permissions and actions stay in service code</a:t>
            </a:r>
          </a:p>
        </p:txBody>
      </p:sp>
      <p:sp>
        <p:nvSpPr>
          <p:cNvPr id="2" name="">
            <a:extLst xmlns:a="http://schemas.openxmlformats.org/drawingml/2006/main">
              <a:ext uri="{FF2B5EF4-FFF2-40B4-BE49-F238E27FC236}">
                <a16:creationId xmlns:a16="http://schemas.microsoft.com/office/drawing/2014/main" id="{AD223706-5504-4582-BE8D-BE9160266CDA}"/>
              </a:ext>
            </a:extLst>
          </p:cNvPr>
          <p:cNvSpPr>
            <a:spLocks xmlns:a="http://schemas.openxmlformats.org/drawingml/2006/main" noGrp="1"/>
          </p:cNvSpPr>
          <p:nvPr/>
        </p:nvSpPr>
        <p:spPr>
          <a:xfrm xmlns:a="http://schemas.openxmlformats.org/drawingml/2006/main">
            <a:off x="609600" y="6400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A4B7C8"/>
                </a:solidFill>
                <a:latin typeface="Noto Sans"/>
                <a:ea typeface="Noto Sans"/>
                <a:cs typeface="Noto Sans"/>
              </a:defRPr>
            </a:pPr>
            <a:r>
              <a:rPr sz="1125" b="0">
                <a:solidFill>
                  <a:srgbClr val="A4B7C8"/>
                </a:solidFill>
                <a:latin typeface="Noto Sans"/>
                <a:ea typeface="Noto Sans"/>
                <a:cs typeface="Noto Sans"/>
              </a:rPr>
              <a:t>Claro  /  Factored 2026  /  3</a:t>
            </a:r>
          </a:p>
        </p:txBody>
      </p:sp>
      <p:sp>
        <p:nvSpPr>
          <p:cNvPr id="3" name="">
            <a:extLst xmlns:a="http://schemas.openxmlformats.org/drawingml/2006/main">
              <a:ext uri="{FF2B5EF4-FFF2-40B4-BE49-F238E27FC236}">
                <a16:creationId xmlns:a16="http://schemas.microsoft.com/office/drawing/2014/main" id="{B7A43573-474A-48DF-8227-5E29949B85A0}"/>
              </a:ext>
            </a:extLst>
          </p:cNvPr>
          <p:cNvSpPr>
            <a:spLocks xmlns:a="http://schemas.openxmlformats.org/drawingml/2006/main" noGrp="1"/>
          </p:cNvSpPr>
          <p:nvPr/>
        </p:nvSpPr>
        <p:spPr>
          <a:xfrm xmlns:a="http://schemas.openxmlformats.org/drawingml/2006/main">
            <a:off x="609600" y="14001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A4B7C8"/>
                </a:solidFill>
                <a:latin typeface="Noto Sans"/>
                <a:ea typeface="Noto Sans"/>
                <a:cs typeface="Noto Sans"/>
              </a:defRPr>
            </a:pPr>
            <a:r>
              <a:rPr sz="1875" b="0">
                <a:solidFill>
                  <a:srgbClr val="A4B7C8"/>
                </a:solidFill>
                <a:latin typeface="Noto Sans"/>
                <a:ea typeface="Noto Sans"/>
                <a:cs typeface="Noto Sans"/>
              </a:rPr>
              <a:t>Optional providers are implemented and mock-tested. Live inference remains unverified.</a:t>
            </a:r>
          </a:p>
        </p:txBody>
      </p:sp>
      <p:sp>
        <p:nvSpPr>
          <p:cNvPr id="4" name="">
            <a:extLst xmlns:a="http://schemas.openxmlformats.org/drawingml/2006/main">
              <a:ext uri="{FF2B5EF4-FFF2-40B4-BE49-F238E27FC236}">
                <a16:creationId xmlns:a16="http://schemas.microsoft.com/office/drawing/2014/main" id="{E30FF52F-2DA1-4735-8B6E-C3F42E59D639}"/>
              </a:ext>
            </a:extLst>
          </p:cNvPr>
          <p:cNvSpPr>
            <a:spLocks xmlns:a="http://schemas.openxmlformats.org/drawingml/2006/main" noGrp="1"/>
          </p:cNvSpPr>
          <p:nvPr/>
        </p:nvSpPr>
        <p:spPr>
          <a:xfrm xmlns:a="http://schemas.openxmlformats.org/drawingml/2006/main">
            <a:off x="609600" y="2314575"/>
            <a:ext cx="2190750" cy="914400"/>
          </a:xfrm>
          <a:prstGeom xmlns:a="http://schemas.openxmlformats.org/drawingml/2006/main" prst="rect">
            <a:avLst/>
          </a:prstGeom>
          <a:solidFill xmlns:a="http://schemas.openxmlformats.org/drawingml/2006/main">
            <a:srgbClr val="132A44"/>
          </a:solidFill>
          <a:ln xmlns:a="http://schemas.openxmlformats.org/drawingml/2006/main" w="11430">
            <a:solidFill>
              <a:srgbClr val="365067"/>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b="1">
                <a:solidFill>
                  <a:srgbClr val="F7FAFC"/>
                </a:solidFill>
                <a:latin typeface="Noto Sans"/>
                <a:ea typeface="Noto Sans"/>
                <a:cs typeface="Noto Sans"/>
              </a:defRPr>
            </a:pPr>
            <a:r>
              <a:rPr sz="1800" b="1">
                <a:solidFill>
                  <a:srgbClr val="F7FAFC"/>
                </a:solidFill>
                <a:latin typeface="Noto Sans"/>
                <a:ea typeface="Noto Sans"/>
                <a:cs typeface="Noto Sans"/>
              </a:rPr>
              <a:t>ES / PT browser</a:t>
            </a:r>
          </a:p>
        </p:txBody>
      </p:sp>
      <p:sp>
        <p:nvSpPr>
          <p:cNvPr id="5" name="">
            <a:extLst xmlns:a="http://schemas.openxmlformats.org/drawingml/2006/main">
              <a:ext uri="{FF2B5EF4-FFF2-40B4-BE49-F238E27FC236}">
                <a16:creationId xmlns:a16="http://schemas.microsoft.com/office/drawing/2014/main" id="{5D9B76A0-E26D-4715-A57D-C232BA2A906C}"/>
              </a:ext>
            </a:extLst>
          </p:cNvPr>
          <p:cNvSpPr>
            <a:spLocks xmlns:a="http://schemas.openxmlformats.org/drawingml/2006/main" noGrp="1"/>
          </p:cNvSpPr>
          <p:nvPr/>
        </p:nvSpPr>
        <p:spPr>
          <a:xfrm xmlns:a="http://schemas.openxmlformats.org/drawingml/2006/main">
            <a:off x="3467100" y="2314575"/>
            <a:ext cx="2190750" cy="914400"/>
          </a:xfrm>
          <a:prstGeom xmlns:a="http://schemas.openxmlformats.org/drawingml/2006/main" prst="rect">
            <a:avLst/>
          </a:prstGeom>
          <a:solidFill xmlns:a="http://schemas.openxmlformats.org/drawingml/2006/main">
            <a:srgbClr val="132A44"/>
          </a:solidFill>
          <a:ln xmlns:a="http://schemas.openxmlformats.org/drawingml/2006/main" w="11430">
            <a:solidFill>
              <a:srgbClr val="365067"/>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b="1">
                <a:solidFill>
                  <a:srgbClr val="F7FAFC"/>
                </a:solidFill>
                <a:latin typeface="Noto Sans"/>
                <a:ea typeface="Noto Sans"/>
                <a:cs typeface="Noto Sans"/>
              </a:defRPr>
            </a:pPr>
            <a:r>
              <a:rPr sz="1800" b="1">
                <a:solidFill>
                  <a:srgbClr val="F7FAFC"/>
                </a:solidFill>
                <a:latin typeface="Noto Sans"/>
                <a:ea typeface="Noto Sans"/>
                <a:cs typeface="Noto Sans"/>
              </a:rPr>
              <a:t>Scoped sessions</a:t>
            </a:r>
          </a:p>
          <a:p xmlns:a="http://schemas.openxmlformats.org/drawingml/2006/main">
            <a:pPr algn="ctr">
              <a:defRPr sz="1800" b="1">
                <a:solidFill>
                  <a:srgbClr val="F7FAFC"/>
                </a:solidFill>
                <a:latin typeface="Noto Sans"/>
                <a:ea typeface="Noto Sans"/>
                <a:cs typeface="Noto Sans"/>
              </a:defRPr>
            </a:pPr>
            <a:r>
              <a:rPr sz="1800" b="1">
                <a:solidFill>
                  <a:srgbClr val="F7FAFC"/>
                </a:solidFill>
                <a:latin typeface="Noto Sans"/>
                <a:ea typeface="Noto Sans"/>
                <a:cs typeface="Noto Sans"/>
              </a:rPr>
              <a:t>and record tools</a:t>
            </a:r>
          </a:p>
        </p:txBody>
      </p:sp>
      <p:sp>
        <p:nvSpPr>
          <p:cNvPr id="6" name="">
            <a:extLst xmlns:a="http://schemas.openxmlformats.org/drawingml/2006/main">
              <a:ext uri="{FF2B5EF4-FFF2-40B4-BE49-F238E27FC236}">
                <a16:creationId xmlns:a16="http://schemas.microsoft.com/office/drawing/2014/main" id="{8AEDA6F6-86B3-459F-B929-6CD1BAA29EE7}"/>
              </a:ext>
            </a:extLst>
          </p:cNvPr>
          <p:cNvSpPr>
            <a:spLocks xmlns:a="http://schemas.openxmlformats.org/drawingml/2006/main" noGrp="1"/>
          </p:cNvSpPr>
          <p:nvPr/>
        </p:nvSpPr>
        <p:spPr>
          <a:xfrm xmlns:a="http://schemas.openxmlformats.org/drawingml/2006/main">
            <a:off x="6324600" y="2314575"/>
            <a:ext cx="2190750" cy="914400"/>
          </a:xfrm>
          <a:prstGeom xmlns:a="http://schemas.openxmlformats.org/drawingml/2006/main" prst="rect">
            <a:avLst/>
          </a:prstGeom>
          <a:solidFill xmlns:a="http://schemas.openxmlformats.org/drawingml/2006/main">
            <a:srgbClr val="132A44"/>
          </a:solidFill>
          <a:ln xmlns:a="http://schemas.openxmlformats.org/drawingml/2006/main" w="11430">
            <a:solidFill>
              <a:srgbClr val="365067"/>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b="1">
                <a:solidFill>
                  <a:srgbClr val="F7FAFC"/>
                </a:solidFill>
                <a:latin typeface="Noto Sans"/>
                <a:ea typeface="Noto Sans"/>
                <a:cs typeface="Noto Sans"/>
              </a:defRPr>
            </a:pPr>
            <a:r>
              <a:rPr sz="1800" b="1">
                <a:solidFill>
                  <a:srgbClr val="F7FAFC"/>
                </a:solidFill>
                <a:latin typeface="Noto Sans"/>
                <a:ea typeface="Noto Sans"/>
                <a:cs typeface="Noto Sans"/>
              </a:rPr>
              <a:t>Jev or local</a:t>
            </a:r>
          </a:p>
          <a:p xmlns:a="http://schemas.openxmlformats.org/drawingml/2006/main">
            <a:pPr algn="ctr">
              <a:defRPr sz="1800" b="1">
                <a:solidFill>
                  <a:srgbClr val="F7FAFC"/>
                </a:solidFill>
                <a:latin typeface="Noto Sans"/>
                <a:ea typeface="Noto Sans"/>
                <a:cs typeface="Noto Sans"/>
              </a:defRPr>
            </a:pPr>
            <a:r>
              <a:rPr sz="1800" b="1">
                <a:solidFill>
                  <a:srgbClr val="F7FAFC"/>
                </a:solidFill>
                <a:latin typeface="Noto Sans"/>
                <a:ea typeface="Noto Sans"/>
                <a:cs typeface="Noto Sans"/>
              </a:rPr>
              <a:t>routing</a:t>
            </a:r>
          </a:p>
        </p:txBody>
      </p:sp>
      <p:sp>
        <p:nvSpPr>
          <p:cNvPr id="7" name="">
            <a:extLst xmlns:a="http://schemas.openxmlformats.org/drawingml/2006/main">
              <a:ext uri="{FF2B5EF4-FFF2-40B4-BE49-F238E27FC236}">
                <a16:creationId xmlns:a16="http://schemas.microsoft.com/office/drawing/2014/main" id="{BDD3DA9E-00D9-4EB5-92B0-F69AFDB3471D}"/>
              </a:ext>
            </a:extLst>
          </p:cNvPr>
          <p:cNvSpPr>
            <a:spLocks xmlns:a="http://schemas.openxmlformats.org/drawingml/2006/main" noGrp="1"/>
          </p:cNvSpPr>
          <p:nvPr/>
        </p:nvSpPr>
        <p:spPr>
          <a:xfrm xmlns:a="http://schemas.openxmlformats.org/drawingml/2006/main">
            <a:off x="9182100" y="2314575"/>
            <a:ext cx="2190750" cy="914400"/>
          </a:xfrm>
          <a:prstGeom xmlns:a="http://schemas.openxmlformats.org/drawingml/2006/main" prst="rect">
            <a:avLst/>
          </a:prstGeom>
          <a:solidFill xmlns:a="http://schemas.openxmlformats.org/drawingml/2006/main">
            <a:srgbClr val="132A44"/>
          </a:solidFill>
          <a:ln xmlns:a="http://schemas.openxmlformats.org/drawingml/2006/main" w="11430">
            <a:solidFill>
              <a:srgbClr val="365067"/>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b="1">
                <a:solidFill>
                  <a:srgbClr val="F7FAFC"/>
                </a:solidFill>
                <a:latin typeface="Noto Sans"/>
                <a:ea typeface="Noto Sans"/>
                <a:cs typeface="Noto Sans"/>
              </a:defRPr>
            </a:pPr>
            <a:r>
              <a:rPr sz="1800" b="1">
                <a:solidFill>
                  <a:srgbClr val="F7FAFC"/>
                </a:solidFill>
                <a:latin typeface="Noto Sans"/>
                <a:ea typeface="Noto Sans"/>
                <a:cs typeface="Noto Sans"/>
              </a:rPr>
              <a:t>Deterministic</a:t>
            </a:r>
          </a:p>
          <a:p xmlns:a="http://schemas.openxmlformats.org/drawingml/2006/main">
            <a:pPr algn="ctr">
              <a:defRPr sz="1800" b="1">
                <a:solidFill>
                  <a:srgbClr val="F7FAFC"/>
                </a:solidFill>
                <a:latin typeface="Noto Sans"/>
                <a:ea typeface="Noto Sans"/>
                <a:cs typeface="Noto Sans"/>
              </a:defRPr>
            </a:pPr>
            <a:r>
              <a:rPr sz="1800" b="1">
                <a:solidFill>
                  <a:srgbClr val="F7FAFC"/>
                </a:solidFill>
                <a:latin typeface="Noto Sans"/>
                <a:ea typeface="Noto Sans"/>
                <a:cs typeface="Noto Sans"/>
              </a:rPr>
              <a:t>workflow</a:t>
            </a:r>
          </a:p>
        </p:txBody>
      </p:sp>
      <p:sp>
        <p:nvSpPr>
          <p:cNvPr id="8" name="">
            <a:extLst xmlns:a="http://schemas.openxmlformats.org/drawingml/2006/main">
              <a:ext uri="{FF2B5EF4-FFF2-40B4-BE49-F238E27FC236}">
                <a16:creationId xmlns:a16="http://schemas.microsoft.com/office/drawing/2014/main" id="{AC024DCA-B7E8-4973-8501-EC7DE0FF6A29}"/>
              </a:ext>
            </a:extLst>
          </p:cNvPr>
          <p:cNvSpPr>
            <a:spLocks xmlns:a="http://schemas.openxmlformats.org/drawingml/2006/main" noGrp="1"/>
          </p:cNvSpPr>
          <p:nvPr/>
        </p:nvSpPr>
        <p:spPr>
          <a:xfrm xmlns:a="http://schemas.openxmlformats.org/drawingml/2006/main">
            <a:off x="3467100" y="4286250"/>
            <a:ext cx="2190750" cy="914400"/>
          </a:xfrm>
          <a:prstGeom xmlns:a="http://schemas.openxmlformats.org/drawingml/2006/main" prst="rect">
            <a:avLst/>
          </a:prstGeom>
          <a:solidFill xmlns:a="http://schemas.openxmlformats.org/drawingml/2006/main">
            <a:srgbClr val="132A44"/>
          </a:solidFill>
          <a:ln xmlns:a="http://schemas.openxmlformats.org/drawingml/2006/main" w="11430">
            <a:solidFill>
              <a:srgbClr val="365067"/>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b="1">
                <a:solidFill>
                  <a:srgbClr val="F7FAFC"/>
                </a:solidFill>
                <a:latin typeface="Noto Sans"/>
                <a:ea typeface="Noto Sans"/>
                <a:cs typeface="Noto Sans"/>
              </a:defRPr>
            </a:pPr>
            <a:r>
              <a:rPr sz="1800" b="1">
                <a:solidFill>
                  <a:srgbClr val="F7FAFC"/>
                </a:solidFill>
                <a:latin typeface="Noto Sans"/>
                <a:ea typeface="Noto Sans"/>
                <a:cs typeface="Noto Sans"/>
              </a:rPr>
              <a:t>Case history</a:t>
            </a:r>
          </a:p>
          <a:p xmlns:a="http://schemas.openxmlformats.org/drawingml/2006/main">
            <a:pPr algn="ctr">
              <a:defRPr sz="1800" b="1">
                <a:solidFill>
                  <a:srgbClr val="F7FAFC"/>
                </a:solidFill>
                <a:latin typeface="Noto Sans"/>
                <a:ea typeface="Noto Sans"/>
                <a:cs typeface="Noto Sans"/>
              </a:defRPr>
            </a:pPr>
            <a:r>
              <a:rPr sz="1800" b="1">
                <a:solidFill>
                  <a:srgbClr val="F7FAFC"/>
                </a:solidFill>
                <a:latin typeface="Noto Sans"/>
                <a:ea typeface="Noto Sans"/>
                <a:cs typeface="Noto Sans"/>
              </a:rPr>
              <a:t>and follow-up</a:t>
            </a:r>
          </a:p>
        </p:txBody>
      </p:sp>
      <p:sp>
        <p:nvSpPr>
          <p:cNvPr id="9" name="">
            <a:extLst xmlns:a="http://schemas.openxmlformats.org/drawingml/2006/main">
              <a:ext uri="{FF2B5EF4-FFF2-40B4-BE49-F238E27FC236}">
                <a16:creationId xmlns:a16="http://schemas.microsoft.com/office/drawing/2014/main" id="{C8CD0C96-638D-4806-8DC2-15EF555C04A7}"/>
              </a:ext>
            </a:extLst>
          </p:cNvPr>
          <p:cNvSpPr>
            <a:spLocks xmlns:a="http://schemas.openxmlformats.org/drawingml/2006/main" noGrp="1"/>
          </p:cNvSpPr>
          <p:nvPr/>
        </p:nvSpPr>
        <p:spPr>
          <a:xfrm xmlns:a="http://schemas.openxmlformats.org/drawingml/2006/main">
            <a:off x="6324600" y="4286250"/>
            <a:ext cx="2190750" cy="914400"/>
          </a:xfrm>
          <a:prstGeom xmlns:a="http://schemas.openxmlformats.org/drawingml/2006/main" prst="rect">
            <a:avLst/>
          </a:prstGeom>
          <a:solidFill xmlns:a="http://schemas.openxmlformats.org/drawingml/2006/main">
            <a:srgbClr val="132A44"/>
          </a:solidFill>
          <a:ln xmlns:a="http://schemas.openxmlformats.org/drawingml/2006/main" w="11430">
            <a:solidFill>
              <a:srgbClr val="365067"/>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b="1">
                <a:solidFill>
                  <a:srgbClr val="F7FAFC"/>
                </a:solidFill>
                <a:latin typeface="Noto Sans"/>
                <a:ea typeface="Noto Sans"/>
                <a:cs typeface="Noto Sans"/>
              </a:defRPr>
            </a:pPr>
            <a:r>
              <a:rPr sz="1800" b="1">
                <a:solidFill>
                  <a:srgbClr val="F7FAFC"/>
                </a:solidFill>
                <a:latin typeface="Noto Sans"/>
                <a:ea typeface="Noto Sans"/>
                <a:cs typeface="Noto Sans"/>
              </a:rPr>
              <a:t>SQLite commit</a:t>
            </a:r>
          </a:p>
          <a:p xmlns:a="http://schemas.openxmlformats.org/drawingml/2006/main">
            <a:pPr algn="ctr">
              <a:defRPr sz="1800" b="1">
                <a:solidFill>
                  <a:srgbClr val="F7FAFC"/>
                </a:solidFill>
                <a:latin typeface="Noto Sans"/>
                <a:ea typeface="Noto Sans"/>
                <a:cs typeface="Noto Sans"/>
              </a:defRPr>
            </a:pPr>
            <a:r>
              <a:rPr sz="1800" b="1">
                <a:solidFill>
                  <a:srgbClr val="F7FAFC"/>
                </a:solidFill>
                <a:latin typeface="Noto Sans"/>
                <a:ea typeface="Noto Sans"/>
                <a:cs typeface="Noto Sans"/>
              </a:rPr>
              <a:t>and read-back</a:t>
            </a:r>
          </a:p>
        </p:txBody>
      </p:sp>
      <p:sp>
        <p:nvSpPr>
          <p:cNvPr id="10" name="">
            <a:extLst xmlns:a="http://schemas.openxmlformats.org/drawingml/2006/main">
              <a:ext uri="{FF2B5EF4-FFF2-40B4-BE49-F238E27FC236}">
                <a16:creationId xmlns:a16="http://schemas.microsoft.com/office/drawing/2014/main" id="{46F756A0-B5C5-46A8-AE7D-60D6EA771E54}"/>
              </a:ext>
            </a:extLst>
          </p:cNvPr>
          <p:cNvSpPr>
            <a:spLocks xmlns:a="http://schemas.openxmlformats.org/drawingml/2006/main" noGrp="1"/>
          </p:cNvSpPr>
          <p:nvPr/>
        </p:nvSpPr>
        <p:spPr>
          <a:xfrm xmlns:a="http://schemas.openxmlformats.org/drawingml/2006/main">
            <a:off x="9182100" y="4286250"/>
            <a:ext cx="2190750" cy="914400"/>
          </a:xfrm>
          <a:prstGeom xmlns:a="http://schemas.openxmlformats.org/drawingml/2006/main" prst="rect">
            <a:avLst/>
          </a:prstGeom>
          <a:solidFill xmlns:a="http://schemas.openxmlformats.org/drawingml/2006/main">
            <a:srgbClr val="132A44"/>
          </a:solidFill>
          <a:ln xmlns:a="http://schemas.openxmlformats.org/drawingml/2006/main" w="11430">
            <a:solidFill>
              <a:srgbClr val="365067"/>
            </a:solidFill>
          </a:ln>
        </p:spPr>
        <p:txBody>
          <a:bodyPr xmlns:a="http://schemas.openxmlformats.org/drawingml/2006/main" lIns="114300" tIns="114300" rIns="114300" bIns="114300" anchor="ctr"/>
          <a:lstStyle xmlns:a="http://schemas.openxmlformats.org/drawingml/2006/main"/>
          <a:p xmlns:a="http://schemas.openxmlformats.org/drawingml/2006/main">
            <a:pPr algn="ctr">
              <a:defRPr sz="1800" b="1">
                <a:solidFill>
                  <a:srgbClr val="F7FAFC"/>
                </a:solidFill>
                <a:latin typeface="Noto Sans"/>
                <a:ea typeface="Noto Sans"/>
                <a:cs typeface="Noto Sans"/>
              </a:defRPr>
            </a:pPr>
            <a:r>
              <a:rPr sz="1800" b="1">
                <a:solidFill>
                  <a:srgbClr val="F7FAFC"/>
                </a:solidFill>
                <a:latin typeface="Noto Sans"/>
                <a:ea typeface="Noto Sans"/>
                <a:cs typeface="Noto Sans"/>
              </a:rPr>
              <a:t>Explicit case</a:t>
            </a:r>
          </a:p>
          <a:p xmlns:a="http://schemas.openxmlformats.org/drawingml/2006/main">
            <a:pPr algn="ctr">
              <a:defRPr sz="1800" b="1">
                <a:solidFill>
                  <a:srgbClr val="F7FAFC"/>
                </a:solidFill>
                <a:latin typeface="Noto Sans"/>
                <a:ea typeface="Noto Sans"/>
                <a:cs typeface="Noto Sans"/>
              </a:defRPr>
            </a:pPr>
            <a:r>
              <a:rPr sz="1800" b="1">
                <a:solidFill>
                  <a:srgbClr val="F7FAFC"/>
                </a:solidFill>
                <a:latin typeface="Noto Sans"/>
                <a:ea typeface="Noto Sans"/>
                <a:cs typeface="Noto Sans"/>
              </a:rPr>
              <a:t>confirmation</a:t>
            </a:r>
          </a:p>
        </p:txBody>
      </p:sp>
      <p:cxnSp>
        <p:nvCxnSpPr>
          <p:cNvPr id="29" name=""/>
          <p:cNvCxnSpPr>
            <a:stCxn xmlns:a="http://schemas.openxmlformats.org/drawingml/2006/main" id="4" idx="3"/>
            <a:endCxn xmlns:a="http://schemas.openxmlformats.org/drawingml/2006/main" id="5" idx="1"/>
          </p:cNvCxnSpPr>
          <p:nvPr/>
        </p:nvCxnSpPr>
        <p:spPr>
          <a:xfrm xmlns:a="http://schemas.openxmlformats.org/drawingml/2006/main">
            <a:off x="2800350" y="2771775"/>
            <a:ext cx="666750" cy="0"/>
          </a:xfrm>
          <a:prstGeom xmlns:a="http://schemas.openxmlformats.org/drawingml/2006/main" prst="straightConnector1">
            <a:avLst/>
          </a:prstGeom>
          <a:ln xmlns:a="http://schemas.openxmlformats.org/drawingml/2006/main" w="19050">
            <a:solidFill>
              <a:srgbClr val="67E2C4"/>
            </a:solidFill>
            <a:tailEnd type="triangle" w="med" len="med"/>
          </a:ln>
        </p:spPr>
      </p:cxnSp>
      <p:cxnSp>
        <p:nvCxnSpPr>
          <p:cNvPr id="30" name=""/>
          <p:cNvCxnSpPr>
            <a:stCxn xmlns:a="http://schemas.openxmlformats.org/drawingml/2006/main" id="5" idx="3"/>
            <a:endCxn xmlns:a="http://schemas.openxmlformats.org/drawingml/2006/main" id="6" idx="1"/>
          </p:cNvCxnSpPr>
          <p:nvPr/>
        </p:nvCxnSpPr>
        <p:spPr>
          <a:xfrm xmlns:a="http://schemas.openxmlformats.org/drawingml/2006/main">
            <a:off x="5657850" y="2771775"/>
            <a:ext cx="666750" cy="0"/>
          </a:xfrm>
          <a:prstGeom xmlns:a="http://schemas.openxmlformats.org/drawingml/2006/main" prst="straightConnector1">
            <a:avLst/>
          </a:prstGeom>
          <a:ln xmlns:a="http://schemas.openxmlformats.org/drawingml/2006/main" w="19050">
            <a:solidFill>
              <a:srgbClr val="67E2C4"/>
            </a:solidFill>
            <a:tailEnd type="triangle" w="med" len="med"/>
          </a:ln>
        </p:spPr>
      </p:cxnSp>
      <p:cxnSp>
        <p:nvCxnSpPr>
          <p:cNvPr id="31" name=""/>
          <p:cNvCxnSpPr>
            <a:stCxn xmlns:a="http://schemas.openxmlformats.org/drawingml/2006/main" id="6" idx="3"/>
            <a:endCxn xmlns:a="http://schemas.openxmlformats.org/drawingml/2006/main" id="7" idx="1"/>
          </p:cNvCxnSpPr>
          <p:nvPr/>
        </p:nvCxnSpPr>
        <p:spPr>
          <a:xfrm xmlns:a="http://schemas.openxmlformats.org/drawingml/2006/main">
            <a:off x="8515350" y="2771775"/>
            <a:ext cx="666750" cy="0"/>
          </a:xfrm>
          <a:prstGeom xmlns:a="http://schemas.openxmlformats.org/drawingml/2006/main" prst="straightConnector1">
            <a:avLst/>
          </a:prstGeom>
          <a:ln xmlns:a="http://schemas.openxmlformats.org/drawingml/2006/main" w="19050">
            <a:solidFill>
              <a:srgbClr val="67E2C4"/>
            </a:solidFill>
            <a:tailEnd type="triangle" w="med" len="med"/>
          </a:ln>
        </p:spPr>
      </p:cxnSp>
      <p:cxnSp>
        <p:nvCxnSpPr>
          <p:cNvPr id="32" name=""/>
          <p:cNvCxnSpPr>
            <a:stCxn xmlns:a="http://schemas.openxmlformats.org/drawingml/2006/main" id="7" idx="2"/>
            <a:endCxn xmlns:a="http://schemas.openxmlformats.org/drawingml/2006/main" id="10" idx="0"/>
          </p:cNvCxnSpPr>
          <p:nvPr/>
        </p:nvCxnSpPr>
        <p:spPr>
          <a:xfrm xmlns:a="http://schemas.openxmlformats.org/drawingml/2006/main">
            <a:off x="10277475" y="3228975"/>
            <a:ext cx="0" cy="1057275"/>
          </a:xfrm>
          <a:prstGeom xmlns:a="http://schemas.openxmlformats.org/drawingml/2006/main" prst="straightConnector1">
            <a:avLst/>
          </a:prstGeom>
          <a:ln xmlns:a="http://schemas.openxmlformats.org/drawingml/2006/main" w="19050">
            <a:solidFill>
              <a:srgbClr val="67E2C4"/>
            </a:solidFill>
            <a:tailEnd type="triangle" w="med" len="med"/>
          </a:ln>
        </p:spPr>
      </p:cxnSp>
      <p:cxnSp>
        <p:nvCxnSpPr>
          <p:cNvPr id="33" name=""/>
          <p:cNvCxnSpPr>
            <a:stCxn xmlns:a="http://schemas.openxmlformats.org/drawingml/2006/main" id="10" idx="1"/>
            <a:endCxn xmlns:a="http://schemas.openxmlformats.org/drawingml/2006/main" id="9" idx="3"/>
          </p:cNvCxnSpPr>
          <p:nvPr/>
        </p:nvCxnSpPr>
        <p:spPr>
          <a:xfrm xmlns:a="http://schemas.openxmlformats.org/drawingml/2006/main" flipH="1">
            <a:off x="8515350" y="4743450"/>
            <a:ext cx="666750" cy="0"/>
          </a:xfrm>
          <a:prstGeom xmlns:a="http://schemas.openxmlformats.org/drawingml/2006/main" prst="straightConnector1">
            <a:avLst/>
          </a:prstGeom>
          <a:ln xmlns:a="http://schemas.openxmlformats.org/drawingml/2006/main" w="19050">
            <a:solidFill>
              <a:srgbClr val="67E2C4"/>
            </a:solidFill>
            <a:tailEnd type="triangle" w="med" len="med"/>
          </a:ln>
        </p:spPr>
      </p:cxnSp>
      <p:cxnSp>
        <p:nvCxnSpPr>
          <p:cNvPr id="34" name=""/>
          <p:cNvCxnSpPr>
            <a:stCxn xmlns:a="http://schemas.openxmlformats.org/drawingml/2006/main" id="9" idx="1"/>
            <a:endCxn xmlns:a="http://schemas.openxmlformats.org/drawingml/2006/main" id="8" idx="3"/>
          </p:cNvCxnSpPr>
          <p:nvPr/>
        </p:nvCxnSpPr>
        <p:spPr>
          <a:xfrm xmlns:a="http://schemas.openxmlformats.org/drawingml/2006/main" flipH="1">
            <a:off x="5657850" y="4743450"/>
            <a:ext cx="666750" cy="0"/>
          </a:xfrm>
          <a:prstGeom xmlns:a="http://schemas.openxmlformats.org/drawingml/2006/main" prst="straightConnector1">
            <a:avLst/>
          </a:prstGeom>
          <a:ln xmlns:a="http://schemas.openxmlformats.org/drawingml/2006/main" w="19050">
            <a:solidFill>
              <a:srgbClr val="67E2C4"/>
            </a:solidFill>
            <a:tailEnd type="triangle" w="med" len="med"/>
          </a:ln>
        </p:spPr>
      </p:cxnSp>
      <p:sp>
        <p:nvSpPr>
          <p:cNvPr id="17" name="">
            <a:extLst xmlns:a="http://schemas.openxmlformats.org/drawingml/2006/main">
              <a:ext uri="{FF2B5EF4-FFF2-40B4-BE49-F238E27FC236}">
                <a16:creationId xmlns:a16="http://schemas.microsoft.com/office/drawing/2014/main" id="{0C4ABB0C-EA1B-4BDE-9B09-D9C164436701}"/>
              </a:ext>
            </a:extLst>
          </p:cNvPr>
          <p:cNvSpPr>
            <a:spLocks xmlns:a="http://schemas.openxmlformats.org/drawingml/2006/main" noGrp="1"/>
          </p:cNvSpPr>
          <p:nvPr/>
        </p:nvSpPr>
        <p:spPr>
          <a:xfrm xmlns:a="http://schemas.openxmlformats.org/drawingml/2006/main">
            <a:off x="609600" y="4286250"/>
            <a:ext cx="2590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A4B7C8"/>
                </a:solidFill>
                <a:latin typeface="Noto Sans"/>
                <a:ea typeface="Noto Sans"/>
                <a:cs typeface="Noto Sans"/>
              </a:defRPr>
            </a:pPr>
            <a:r>
              <a:rPr sz="1650" b="0">
                <a:solidFill>
                  <a:srgbClr val="A4B7C8"/>
                </a:solidFill>
                <a:latin typeface="Noto Sans"/>
                <a:ea typeface="Noto Sans"/>
                <a:cs typeface="Noto Sans"/>
              </a:rPr>
              <a:t>Optional DeepSeek Flash</a:t>
            </a:r>
          </a:p>
          <a:p xmlns:a="http://schemas.openxmlformats.org/drawingml/2006/main">
            <a:pPr algn="l">
              <a:defRPr sz="1650" b="0">
                <a:solidFill>
                  <a:srgbClr val="A4B7C8"/>
                </a:solidFill>
                <a:latin typeface="Noto Sans"/>
                <a:ea typeface="Noto Sans"/>
                <a:cs typeface="Noto Sans"/>
              </a:defRPr>
            </a:pPr>
            <a:r>
              <a:rPr sz="1650" b="0">
                <a:solidFill>
                  <a:srgbClr val="A4B7C8"/>
                </a:solidFill>
                <a:latin typeface="Noto Sans"/>
                <a:ea typeface="Noto Sans"/>
                <a:cs typeface="Noto Sans"/>
              </a:rPr>
              <a:t>phrasing with constrained</a:t>
            </a:r>
          </a:p>
          <a:p xmlns:a="http://schemas.openxmlformats.org/drawingml/2006/main">
            <a:pPr algn="l">
              <a:defRPr sz="1650" b="0">
                <a:solidFill>
                  <a:srgbClr val="A4B7C8"/>
                </a:solidFill>
                <a:latin typeface="Noto Sans"/>
                <a:ea typeface="Noto Sans"/>
                <a:cs typeface="Noto Sans"/>
              </a:defRPr>
            </a:pPr>
            <a:r>
              <a:rPr sz="1650" b="0">
                <a:solidFill>
                  <a:srgbClr val="A4B7C8"/>
                </a:solidFill>
                <a:latin typeface="Noto Sans"/>
                <a:ea typeface="Noto Sans"/>
                <a:cs typeface="Noto Sans"/>
              </a:rPr>
              <a:t>facts and local fallback</a:t>
            </a:r>
          </a:p>
        </p:txBody>
      </p:sp>
      <p:sp>
        <p:nvSpPr>
          <p:cNvPr id="18" name="">
            <a:extLst xmlns:a="http://schemas.openxmlformats.org/drawingml/2006/main">
              <a:ext uri="{FF2B5EF4-FFF2-40B4-BE49-F238E27FC236}">
                <a16:creationId xmlns:a16="http://schemas.microsoft.com/office/drawing/2014/main" id="{1C35C1DF-D01B-430F-844C-1D4B4A1ED99C}"/>
              </a:ext>
            </a:extLst>
          </p:cNvPr>
          <p:cNvSpPr>
            <a:spLocks xmlns:a="http://schemas.openxmlformats.org/drawingml/2006/main" noGrp="1"/>
          </p:cNvSpPr>
          <p:nvPr/>
        </p:nvSpPr>
        <p:spPr>
          <a:xfrm xmlns:a="http://schemas.openxmlformats.org/drawingml/2006/main">
            <a:off x="609600" y="56388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F7FAFC"/>
                </a:solidFill>
                <a:latin typeface="Noto Sans"/>
                <a:ea typeface="Noto Sans"/>
                <a:cs typeface="Noto Sans"/>
              </a:defRPr>
            </a:pPr>
            <a:r>
              <a:rPr sz="1800" b="0">
                <a:solidFill>
                  <a:srgbClr val="F7FAFC"/>
                </a:solidFill>
                <a:latin typeface="Noto Sans"/>
                <a:ea typeface="Noto Sans"/>
                <a:cs typeface="Noto Sans"/>
              </a:rPr>
              <a:t>Opaque sessions + CSRF     Customer/workspace isolation     Idempotent confirmed writes</a:t>
            </a:r>
          </a:p>
        </p:txBody>
      </p:sp>
    </p:spTree>
    <p:extLst>
      <p:ext uri="{BB962C8B-B14F-4D97-AF65-F5344CB8AC3E}">
        <p14:creationId xmlns:p14="http://schemas.microsoft.com/office/powerpoint/2010/main" val="2020346041"/>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A972775-8A74-4E7D-AA98-C8991AAD600B}"/>
              </a:ext>
            </a:extLst>
          </p:cNvPr>
          <p:cNvSpPr>
            <a:spLocks xmlns:a="http://schemas.openxmlformats.org/drawingml/2006/main" noGrp="1"/>
          </p:cNvSpPr>
          <p:nvPr/>
        </p:nvSpPr>
        <p:spPr>
          <a:xfrm xmlns:a="http://schemas.openxmlformats.org/drawingml/2006/main">
            <a:off x="609600" y="447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4243B"/>
                </a:solidFill>
                <a:latin typeface="Noto Sans"/>
                <a:ea typeface="Noto Sans"/>
                <a:cs typeface="Noto Sans"/>
              </a:defRPr>
            </a:pPr>
            <a:r>
              <a:rPr sz="3300" b="1">
                <a:solidFill>
                  <a:srgbClr val="14243B"/>
                </a:solidFill>
                <a:latin typeface="Noto Sans"/>
                <a:ea typeface="Noto Sans"/>
                <a:cs typeface="Noto Sans"/>
              </a:rPr>
              <a:t>Fraud candidates did not earn release</a:t>
            </a:r>
          </a:p>
        </p:txBody>
      </p:sp>
      <p:sp>
        <p:nvSpPr>
          <p:cNvPr id="2" name="">
            <a:extLst xmlns:a="http://schemas.openxmlformats.org/drawingml/2006/main">
              <a:ext uri="{FF2B5EF4-FFF2-40B4-BE49-F238E27FC236}">
                <a16:creationId xmlns:a16="http://schemas.microsoft.com/office/drawing/2014/main" id="{A8A810AB-0E98-4267-927E-0CE3C07BF9BC}"/>
              </a:ext>
            </a:extLst>
          </p:cNvPr>
          <p:cNvSpPr>
            <a:spLocks xmlns:a="http://schemas.openxmlformats.org/drawingml/2006/main" noGrp="1"/>
          </p:cNvSpPr>
          <p:nvPr/>
        </p:nvSpPr>
        <p:spPr>
          <a:xfrm xmlns:a="http://schemas.openxmlformats.org/drawingml/2006/main">
            <a:off x="609600" y="6400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87087"/>
                </a:solidFill>
                <a:latin typeface="Noto Sans"/>
                <a:ea typeface="Noto Sans"/>
                <a:cs typeface="Noto Sans"/>
              </a:defRPr>
            </a:pPr>
            <a:r>
              <a:rPr sz="1125" b="0">
                <a:solidFill>
                  <a:srgbClr val="587087"/>
                </a:solidFill>
                <a:latin typeface="Noto Sans"/>
                <a:ea typeface="Noto Sans"/>
                <a:cs typeface="Noto Sans"/>
              </a:rPr>
              <a:t>Claro  /  Factored 2026  /  4</a:t>
            </a:r>
          </a:p>
        </p:txBody>
      </p:sp>
      <p:sp>
        <p:nvSpPr>
          <p:cNvPr id="3" name="">
            <a:extLst xmlns:a="http://schemas.openxmlformats.org/drawingml/2006/main">
              <a:ext uri="{FF2B5EF4-FFF2-40B4-BE49-F238E27FC236}">
                <a16:creationId xmlns:a16="http://schemas.microsoft.com/office/drawing/2014/main" id="{FED72CA0-818B-4A72-9223-E2A4B2C4C9E3}"/>
              </a:ext>
            </a:extLst>
          </p:cNvPr>
          <p:cNvSpPr>
            <a:spLocks xmlns:a="http://schemas.openxmlformats.org/drawingml/2006/main" noGrp="1"/>
          </p:cNvSpPr>
          <p:nvPr/>
        </p:nvSpPr>
        <p:spPr>
          <a:xfrm xmlns:a="http://schemas.openxmlformats.org/drawingml/2006/main">
            <a:off x="609600" y="1533525"/>
            <a:ext cx="5381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49F8E"/>
                </a:solidFill>
                <a:latin typeface="Noto Sans"/>
                <a:ea typeface="Noto Sans"/>
                <a:cs typeface="Noto Sans"/>
              </a:defRPr>
            </a:pPr>
            <a:r>
              <a:rPr sz="2175" b="1">
                <a:solidFill>
                  <a:srgbClr val="149F8E"/>
                </a:solidFill>
                <a:latin typeface="Noto Sans"/>
                <a:ea typeface="Noto Sans"/>
                <a:cs typeface="Noto Sans"/>
              </a:rPr>
              <a:t>4,425,008 validated transactions</a:t>
            </a:r>
          </a:p>
        </p:txBody>
      </p:sp>
      <p:sp>
        <p:nvSpPr>
          <p:cNvPr id="4" name="">
            <a:extLst xmlns:a="http://schemas.openxmlformats.org/drawingml/2006/main">
              <a:ext uri="{FF2B5EF4-FFF2-40B4-BE49-F238E27FC236}">
                <a16:creationId xmlns:a16="http://schemas.microsoft.com/office/drawing/2014/main" id="{20C139CD-32EB-47F4-9A24-9A35F4D41081}"/>
              </a:ext>
            </a:extLst>
          </p:cNvPr>
          <p:cNvSpPr>
            <a:spLocks xmlns:a="http://schemas.openxmlformats.org/drawingml/2006/main" noGrp="1"/>
          </p:cNvSpPr>
          <p:nvPr/>
        </p:nvSpPr>
        <p:spPr>
          <a:xfrm xmlns:a="http://schemas.openxmlformats.org/drawingml/2006/main">
            <a:off x="609600" y="2124075"/>
            <a:ext cx="5143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4243B"/>
                </a:solidFill>
                <a:latin typeface="Noto Sans"/>
                <a:ea typeface="Noto Sans"/>
                <a:cs typeface="Noto Sans"/>
              </a:defRPr>
            </a:pPr>
            <a:r>
              <a:rPr sz="1800" b="0">
                <a:solidFill>
                  <a:srgbClr val="14243B"/>
                </a:solidFill>
                <a:latin typeface="Noto Sans"/>
                <a:ea typeface="Noto Sans"/>
                <a:cs typeface="Noto Sans"/>
              </a:rPr>
              <a:t>Contracts, quarantine and source hashes</a:t>
            </a:r>
          </a:p>
          <a:p xmlns:a="http://schemas.openxmlformats.org/drawingml/2006/main">
            <a:pPr algn="l">
              <a:defRPr sz="1800" b="0">
                <a:solidFill>
                  <a:srgbClr val="14243B"/>
                </a:solidFill>
                <a:latin typeface="Noto Sans"/>
                <a:ea typeface="Noto Sans"/>
                <a:cs typeface="Noto Sans"/>
              </a:defRPr>
            </a:pPr>
            <a:r>
              <a:rPr sz="1800" b="0">
                <a:solidFill>
                  <a:srgbClr val="14243B"/>
                </a:solidFill>
                <a:latin typeface="Noto Sans"/>
                <a:ea typeface="Noto Sans"/>
                <a:cs typeface="Noto Sans"/>
              </a:rPr>
              <a:t>Strictly prior customer/currency history</a:t>
            </a:r>
          </a:p>
          <a:p xmlns:a="http://schemas.openxmlformats.org/drawingml/2006/main">
            <a:pPr algn="l">
              <a:defRPr sz="1800" b="0">
                <a:solidFill>
                  <a:srgbClr val="14243B"/>
                </a:solidFill>
                <a:latin typeface="Noto Sans"/>
                <a:ea typeface="Noto Sans"/>
                <a:cs typeface="Noto Sans"/>
              </a:defRPr>
            </a:pPr>
            <a:r>
              <a:rPr sz="1800" b="0">
                <a:solidFill>
                  <a:srgbClr val="14243B"/>
                </a:solidFill>
                <a:latin typeface="Noto Sans"/>
                <a:ea typeface="Noto Sans"/>
                <a:cs typeface="Noto Sans"/>
              </a:rPr>
              <a:t>Two full runs with identical feature bytes</a:t>
            </a:r>
          </a:p>
        </p:txBody>
      </p:sp>
      <p:sp>
        <p:nvSpPr>
          <p:cNvPr id="5" name="">
            <a:extLst xmlns:a="http://schemas.openxmlformats.org/drawingml/2006/main">
              <a:ext uri="{FF2B5EF4-FFF2-40B4-BE49-F238E27FC236}">
                <a16:creationId xmlns:a16="http://schemas.microsoft.com/office/drawing/2014/main" id="{E37F50AA-BC62-49AC-8B6E-732B45BFF14A}"/>
              </a:ext>
            </a:extLst>
          </p:cNvPr>
          <p:cNvSpPr>
            <a:spLocks xmlns:a="http://schemas.openxmlformats.org/drawingml/2006/main" noGrp="1"/>
          </p:cNvSpPr>
          <p:nvPr/>
        </p:nvSpPr>
        <p:spPr>
          <a:xfrm xmlns:a="http://schemas.openxmlformats.org/drawingml/2006/main">
            <a:off x="609600" y="36195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49F8E"/>
                </a:solidFill>
                <a:latin typeface="Noto Sans"/>
                <a:ea typeface="Noto Sans"/>
                <a:cs typeface="Noto Sans"/>
              </a:defRPr>
            </a:pPr>
            <a:r>
              <a:rPr sz="2025" b="1">
                <a:solidFill>
                  <a:srgbClr val="149F8E"/>
                </a:solidFill>
                <a:latin typeface="Noto Sans"/>
                <a:ea typeface="Noto Sans"/>
                <a:cs typeface="Noto Sans"/>
              </a:rPr>
              <a:t>Temporal evaluation</a:t>
            </a:r>
          </a:p>
        </p:txBody>
      </p:sp>
      <p:sp>
        <p:nvSpPr>
          <p:cNvPr id="6" name="">
            <a:extLst xmlns:a="http://schemas.openxmlformats.org/drawingml/2006/main">
              <a:ext uri="{FF2B5EF4-FFF2-40B4-BE49-F238E27FC236}">
                <a16:creationId xmlns:a16="http://schemas.microsoft.com/office/drawing/2014/main" id="{8B35FCFD-312D-48B8-9FBD-1372CDE18884}"/>
              </a:ext>
            </a:extLst>
          </p:cNvPr>
          <p:cNvSpPr>
            <a:spLocks xmlns:a="http://schemas.openxmlformats.org/drawingml/2006/main" noGrp="1"/>
          </p:cNvSpPr>
          <p:nvPr/>
        </p:nvSpPr>
        <p:spPr>
          <a:xfrm xmlns:a="http://schemas.openxmlformats.org/drawingml/2006/main">
            <a:off x="609600" y="4095750"/>
            <a:ext cx="50958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4243B"/>
                </a:solidFill>
                <a:latin typeface="Noto Sans"/>
                <a:ea typeface="Noto Sans"/>
                <a:cs typeface="Noto Sans"/>
              </a:defRPr>
            </a:pPr>
            <a:r>
              <a:rPr sz="1800" b="0">
                <a:solidFill>
                  <a:srgbClr val="14243B"/>
                </a:solidFill>
                <a:latin typeface="Noto Sans"/>
                <a:ea typeface="Noto Sans"/>
                <a:cs typeface="Noto Sans"/>
              </a:rPr>
              <a:t>Train before January 2026</a:t>
            </a:r>
          </a:p>
          <a:p xmlns:a="http://schemas.openxmlformats.org/drawingml/2006/main">
            <a:pPr algn="l">
              <a:defRPr sz="1800" b="0">
                <a:solidFill>
                  <a:srgbClr val="14243B"/>
                </a:solidFill>
                <a:latin typeface="Noto Sans"/>
                <a:ea typeface="Noto Sans"/>
                <a:cs typeface="Noto Sans"/>
              </a:defRPr>
            </a:pPr>
            <a:r>
              <a:rPr sz="1800" b="0">
                <a:solidFill>
                  <a:srgbClr val="14243B"/>
                </a:solidFill>
                <a:latin typeface="Noto Sans"/>
                <a:ea typeface="Noto Sans"/>
                <a:cs typeface="Noto Sans"/>
              </a:rPr>
              <a:t>Calibrate January, select February</a:t>
            </a:r>
          </a:p>
          <a:p xmlns:a="http://schemas.openxmlformats.org/drawingml/2006/main">
            <a:pPr algn="l">
              <a:defRPr sz="1800" b="0">
                <a:solidFill>
                  <a:srgbClr val="14243B"/>
                </a:solidFill>
                <a:latin typeface="Noto Sans"/>
                <a:ea typeface="Noto Sans"/>
                <a:cs typeface="Noto Sans"/>
              </a:defRPr>
            </a:pPr>
            <a:r>
              <a:rPr sz="1800" b="0">
                <a:solidFill>
                  <a:srgbClr val="14243B"/>
                </a:solidFill>
                <a:latin typeface="Noto Sans"/>
                <a:ea typeface="Noto Sans"/>
                <a:cs typeface="Noto Sans"/>
              </a:rPr>
              <a:t>Test March through the June snapshot</a:t>
            </a:r>
          </a:p>
        </p:txBody>
      </p:sp>
      <p:sp>
        <p:nvSpPr>
          <p:cNvPr id="7" name="">
            <a:extLst xmlns:a="http://schemas.openxmlformats.org/drawingml/2006/main">
              <a:ext uri="{FF2B5EF4-FFF2-40B4-BE49-F238E27FC236}">
                <a16:creationId xmlns:a16="http://schemas.microsoft.com/office/drawing/2014/main" id="{45D98E21-4E7B-4C7A-921F-B112EE1DB0F5}"/>
              </a:ext>
            </a:extLst>
          </p:cNvPr>
          <p:cNvSpPr>
            <a:spLocks xmlns:a="http://schemas.openxmlformats.org/drawingml/2006/main" noGrp="1"/>
          </p:cNvSpPr>
          <p:nvPr/>
        </p:nvSpPr>
        <p:spPr>
          <a:xfrm xmlns:a="http://schemas.openxmlformats.org/drawingml/2006/main">
            <a:off x="6191250" y="1485900"/>
            <a:ext cx="5381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4243B"/>
                </a:solidFill>
                <a:latin typeface="Noto Sans"/>
                <a:ea typeface="Noto Sans"/>
                <a:cs typeface="Noto Sans"/>
              </a:defRPr>
            </a:pPr>
            <a:r>
              <a:rPr sz="1875" b="1">
                <a:solidFill>
                  <a:srgbClr val="14243B"/>
                </a:solidFill>
                <a:latin typeface="Noto Sans"/>
                <a:ea typeface="Noto Sans"/>
                <a:cs typeface="Noto Sans"/>
              </a:rPr>
              <a:t>451,823 test transactions / 409 fraud labels</a:t>
            </a:r>
          </a:p>
        </p:txBody>
      </p:sp>
      <p:sp>
        <p:nvSpPr>
          <p:cNvPr id="8" name="">
            <a:extLst xmlns:a="http://schemas.openxmlformats.org/drawingml/2006/main">
              <a:ext uri="{FF2B5EF4-FFF2-40B4-BE49-F238E27FC236}">
                <a16:creationId xmlns:a16="http://schemas.microsoft.com/office/drawing/2014/main" id="{5959AC15-E5F2-4C60-919F-9AF36917E698}"/>
              </a:ext>
            </a:extLst>
          </p:cNvPr>
          <p:cNvSpPr>
            <a:spLocks xmlns:a="http://schemas.openxmlformats.org/drawingml/2006/main" noGrp="1"/>
          </p:cNvSpPr>
          <p:nvPr/>
        </p:nvSpPr>
        <p:spPr>
          <a:xfrm xmlns:a="http://schemas.openxmlformats.org/drawingml/2006/main">
            <a:off x="6191250" y="1933575"/>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87087"/>
                </a:solidFill>
                <a:latin typeface="Noto Sans"/>
                <a:ea typeface="Noto Sans"/>
                <a:cs typeface="Noto Sans"/>
              </a:defRPr>
            </a:pPr>
            <a:r>
              <a:rPr sz="1575" b="0">
                <a:solidFill>
                  <a:srgbClr val="587087"/>
                </a:solidFill>
                <a:latin typeface="Noto Sans"/>
                <a:ea typeface="Noto Sans"/>
                <a:cs typeface="Noto Sans"/>
              </a:rPr>
              <a:t>Average precision</a:t>
            </a:r>
          </a:p>
        </p:txBody>
      </p:sp>
      <p:graphicFrame>
        <p:nvGraphicFramePr>
          <p:cNvPr id="21" name="Chart"/>
          <p:cNvGraphicFramePr/>
          <p:nvPr/>
        </p:nvGraphicFramePr>
        <p:xfrm>
          <a:off xmlns:a="http://schemas.openxmlformats.org/drawingml/2006/main" x="6115050" y="2305050"/>
          <a:ext xmlns:a="http://schemas.openxmlformats.org/drawingml/2006/main" cx="5400675" cy="2857500"/>
        </p:xfrm>
        <a:graphic xmlns:a="http://schemas.openxmlformats.org/drawingml/2006/main">
          <a:graphicData uri="http://schemas.openxmlformats.org/drawingml/2006/chart">
            <c:chart xmlns:r="http://schemas.openxmlformats.org/officeDocument/2006/relationships" xmlns:c="http://schemas.openxmlformats.org/drawingml/2006/chart" r:id="R69af81f195f74134"/>
          </a:graphicData>
        </a:graphic>
      </p:graphicFrame>
      <p:sp>
        <p:nvSpPr>
          <p:cNvPr id="10" name="">
            <a:extLst xmlns:a="http://schemas.openxmlformats.org/drawingml/2006/main">
              <a:ext uri="{FF2B5EF4-FFF2-40B4-BE49-F238E27FC236}">
                <a16:creationId xmlns:a16="http://schemas.microsoft.com/office/drawing/2014/main" id="{8E413214-556B-4F7B-9303-3C4BE35F0D26}"/>
              </a:ext>
            </a:extLst>
          </p:cNvPr>
          <p:cNvSpPr>
            <a:spLocks xmlns:a="http://schemas.openxmlformats.org/drawingml/2006/main" noGrp="1"/>
          </p:cNvSpPr>
          <p:nvPr/>
        </p:nvSpPr>
        <p:spPr>
          <a:xfrm xmlns:a="http://schemas.openxmlformats.org/drawingml/2006/main">
            <a:off x="6381750" y="5400675"/>
            <a:ext cx="219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49F8E"/>
                </a:solidFill>
                <a:latin typeface="Noto Sans"/>
                <a:ea typeface="Noto Sans"/>
                <a:cs typeface="Noto Sans"/>
              </a:defRPr>
            </a:pPr>
            <a:r>
              <a:rPr sz="3150" b="1">
                <a:solidFill>
                  <a:srgbClr val="149F8E"/>
                </a:solidFill>
                <a:latin typeface="Noto Sans"/>
                <a:ea typeface="Noto Sans"/>
                <a:cs typeface="Noto Sans"/>
              </a:rPr>
              <a:t>4 / 409</a:t>
            </a:r>
          </a:p>
        </p:txBody>
      </p:sp>
      <p:sp>
        <p:nvSpPr>
          <p:cNvPr id="11" name="">
            <a:extLst xmlns:a="http://schemas.openxmlformats.org/drawingml/2006/main">
              <a:ext uri="{FF2B5EF4-FFF2-40B4-BE49-F238E27FC236}">
                <a16:creationId xmlns:a16="http://schemas.microsoft.com/office/drawing/2014/main" id="{E2A29645-D4CA-4C99-B330-F7DBDB388392}"/>
              </a:ext>
            </a:extLst>
          </p:cNvPr>
          <p:cNvSpPr>
            <a:spLocks xmlns:a="http://schemas.openxmlformats.org/drawingml/2006/main" noGrp="1"/>
          </p:cNvSpPr>
          <p:nvPr/>
        </p:nvSpPr>
        <p:spPr>
          <a:xfrm xmlns:a="http://schemas.openxmlformats.org/drawingml/2006/main">
            <a:off x="8382000" y="5419725"/>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4243B"/>
                </a:solidFill>
                <a:latin typeface="Noto Sans"/>
                <a:ea typeface="Noto Sans"/>
                <a:cs typeface="Noto Sans"/>
              </a:defRPr>
            </a:pPr>
            <a:r>
              <a:rPr sz="1575" b="0">
                <a:solidFill>
                  <a:srgbClr val="14243B"/>
                </a:solidFill>
                <a:latin typeface="Noto Sans"/>
                <a:ea typeface="Noto Sans"/>
                <a:cs typeface="Noto Sans"/>
              </a:rPr>
              <a:t>fraud labels reached at 1% review</a:t>
            </a:r>
          </a:p>
          <a:p xmlns:a="http://schemas.openxmlformats.org/drawingml/2006/main">
            <a:pPr algn="l">
              <a:defRPr sz="1575" b="0">
                <a:solidFill>
                  <a:srgbClr val="14243B"/>
                </a:solidFill>
                <a:latin typeface="Noto Sans"/>
                <a:ea typeface="Noto Sans"/>
                <a:cs typeface="Noto Sans"/>
              </a:defRPr>
            </a:pPr>
            <a:r>
              <a:rPr sz="1575" b="0">
                <a:solidFill>
                  <a:srgbClr val="14243B"/>
                </a:solidFill>
                <a:latin typeface="Noto Sans"/>
                <a:ea typeface="Noto Sans"/>
                <a:cs typeface="Noto Sans"/>
              </a:rPr>
              <a:t>capacity by each learned candidate</a:t>
            </a:r>
          </a:p>
        </p:txBody>
      </p:sp>
      <p:sp>
        <p:nvSpPr>
          <p:cNvPr id="12" name="">
            <a:extLst xmlns:a="http://schemas.openxmlformats.org/drawingml/2006/main">
              <a:ext uri="{FF2B5EF4-FFF2-40B4-BE49-F238E27FC236}">
                <a16:creationId xmlns:a16="http://schemas.microsoft.com/office/drawing/2014/main" id="{DAC0EA6E-2E63-4E98-BE44-970AB55150E7}"/>
              </a:ext>
            </a:extLst>
          </p:cNvPr>
          <p:cNvSpPr>
            <a:spLocks xmlns:a="http://schemas.openxmlformats.org/drawingml/2006/main" noGrp="1"/>
          </p:cNvSpPr>
          <p:nvPr/>
        </p:nvSpPr>
        <p:spPr>
          <a:xfrm xmlns:a="http://schemas.openxmlformats.org/drawingml/2006/main">
            <a:off x="609600" y="589597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87087"/>
                </a:solidFill>
                <a:latin typeface="Noto Sans"/>
                <a:ea typeface="Noto Sans"/>
                <a:cs typeface="Noto Sans"/>
              </a:defRPr>
            </a:pPr>
            <a:r>
              <a:rPr sz="1425" b="0">
                <a:solidFill>
                  <a:srgbClr val="587087"/>
                </a:solidFill>
                <a:latin typeface="Noto Sans"/>
                <a:ea typeface="Noto Sans"/>
                <a:cs typeface="Noto Sans"/>
              </a:rPr>
              <a:t>Synthetic retrospective labels. Demo fixtures receive no fraud probability.</a:t>
            </a:r>
          </a:p>
        </p:txBody>
      </p:sp>
    </p:spTree>
    <p:extLst>
      <p:ext uri="{BB962C8B-B14F-4D97-AF65-F5344CB8AC3E}">
        <p14:creationId xmlns:p14="http://schemas.microsoft.com/office/powerpoint/2010/main" val="1922396985"/>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884DF14-2A04-4F71-B934-670C8E14895B}"/>
              </a:ext>
            </a:extLst>
          </p:cNvPr>
          <p:cNvSpPr>
            <a:spLocks xmlns:a="http://schemas.openxmlformats.org/drawingml/2006/main" noGrp="1"/>
          </p:cNvSpPr>
          <p:nvPr/>
        </p:nvSpPr>
        <p:spPr>
          <a:xfrm xmlns:a="http://schemas.openxmlformats.org/drawingml/2006/main">
            <a:off x="609600" y="447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4243B"/>
                </a:solidFill>
                <a:latin typeface="Noto Sans"/>
                <a:ea typeface="Noto Sans"/>
                <a:cs typeface="Noto Sans"/>
              </a:defRPr>
            </a:pPr>
            <a:r>
              <a:rPr sz="3300" b="1">
                <a:solidFill>
                  <a:srgbClr val="14243B"/>
                </a:solidFill>
                <a:latin typeface="Noto Sans"/>
                <a:ea typeface="Noto Sans"/>
                <a:cs typeface="Noto Sans"/>
              </a:rPr>
              <a:t>Measured language and workflow results</a:t>
            </a:r>
          </a:p>
        </p:txBody>
      </p:sp>
      <p:sp>
        <p:nvSpPr>
          <p:cNvPr id="2" name="">
            <a:extLst xmlns:a="http://schemas.openxmlformats.org/drawingml/2006/main">
              <a:ext uri="{FF2B5EF4-FFF2-40B4-BE49-F238E27FC236}">
                <a16:creationId xmlns:a16="http://schemas.microsoft.com/office/drawing/2014/main" id="{BEB3EF82-A594-4337-A880-3BF4D4D3C750}"/>
              </a:ext>
            </a:extLst>
          </p:cNvPr>
          <p:cNvSpPr>
            <a:spLocks xmlns:a="http://schemas.openxmlformats.org/drawingml/2006/main" noGrp="1"/>
          </p:cNvSpPr>
          <p:nvPr/>
        </p:nvSpPr>
        <p:spPr>
          <a:xfrm xmlns:a="http://schemas.openxmlformats.org/drawingml/2006/main">
            <a:off x="609600" y="6400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87087"/>
                </a:solidFill>
                <a:latin typeface="Noto Sans"/>
                <a:ea typeface="Noto Sans"/>
                <a:cs typeface="Noto Sans"/>
              </a:defRPr>
            </a:pPr>
            <a:r>
              <a:rPr sz="1125" b="0">
                <a:solidFill>
                  <a:srgbClr val="587087"/>
                </a:solidFill>
                <a:latin typeface="Noto Sans"/>
                <a:ea typeface="Noto Sans"/>
                <a:cs typeface="Noto Sans"/>
              </a:rPr>
              <a:t>Claro  /  Factored 2026  /  5</a:t>
            </a:r>
          </a:p>
        </p:txBody>
      </p:sp>
      <p:sp>
        <p:nvSpPr>
          <p:cNvPr id="3" name="">
            <a:extLst xmlns:a="http://schemas.openxmlformats.org/drawingml/2006/main">
              <a:ext uri="{FF2B5EF4-FFF2-40B4-BE49-F238E27FC236}">
                <a16:creationId xmlns:a16="http://schemas.microsoft.com/office/drawing/2014/main" id="{4C6988F4-40F0-447D-ADAD-0990AF7BA8AC}"/>
              </a:ext>
            </a:extLst>
          </p:cNvPr>
          <p:cNvSpPr>
            <a:spLocks xmlns:a="http://schemas.openxmlformats.org/drawingml/2006/main" noGrp="1"/>
          </p:cNvSpPr>
          <p:nvPr/>
        </p:nvSpPr>
        <p:spPr>
          <a:xfrm xmlns:a="http://schemas.openxmlformats.org/drawingml/2006/main">
            <a:off x="609600" y="143827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49F8E"/>
                </a:solidFill>
                <a:latin typeface="Noto Sans"/>
                <a:ea typeface="Noto Sans"/>
                <a:cs typeface="Noto Sans"/>
              </a:defRPr>
            </a:pPr>
            <a:r>
              <a:rPr sz="2175" b="1">
                <a:solidFill>
                  <a:srgbClr val="149F8E"/>
                </a:solidFill>
                <a:latin typeface="Noto Sans"/>
                <a:ea typeface="Noto Sans"/>
                <a:cs typeface="Noto Sans"/>
              </a:rPr>
              <a:t>Intent classification</a:t>
            </a:r>
          </a:p>
        </p:txBody>
      </p:sp>
      <p:sp>
        <p:nvSpPr>
          <p:cNvPr id="4" name="">
            <a:extLst xmlns:a="http://schemas.openxmlformats.org/drawingml/2006/main">
              <a:ext uri="{FF2B5EF4-FFF2-40B4-BE49-F238E27FC236}">
                <a16:creationId xmlns:a16="http://schemas.microsoft.com/office/drawing/2014/main" id="{CA5161D5-DE60-4D1D-8631-2AED03ED0C4F}"/>
              </a:ext>
            </a:extLst>
          </p:cNvPr>
          <p:cNvSpPr>
            <a:spLocks xmlns:a="http://schemas.openxmlformats.org/drawingml/2006/main" noGrp="1"/>
          </p:cNvSpPr>
          <p:nvPr/>
        </p:nvSpPr>
        <p:spPr>
          <a:xfrm xmlns:a="http://schemas.openxmlformats.org/drawingml/2006/main">
            <a:off x="609600" y="1847850"/>
            <a:ext cx="5238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87087"/>
                </a:solidFill>
                <a:latin typeface="Noto Sans"/>
                <a:ea typeface="Noto Sans"/>
                <a:cs typeface="Noto Sans"/>
              </a:defRPr>
            </a:pPr>
            <a:r>
              <a:rPr sz="1650" b="0">
                <a:solidFill>
                  <a:srgbClr val="587087"/>
                </a:solidFill>
                <a:latin typeface="Noto Sans"/>
                <a:ea typeface="Noto Sans"/>
                <a:cs typeface="Noto Sans"/>
              </a:rPr>
              <a:t>140 frozen authored cases / macro-F1</a:t>
            </a:r>
          </a:p>
        </p:txBody>
      </p:sp>
      <p:graphicFrame>
        <p:nvGraphicFramePr>
          <p:cNvPr id="17" name="Chart"/>
          <p:cNvGraphicFramePr/>
          <p:nvPr/>
        </p:nvGraphicFramePr>
        <p:xfrm>
          <a:off xmlns:a="http://schemas.openxmlformats.org/drawingml/2006/main" x="581025" y="2352675"/>
          <a:ext xmlns:a="http://schemas.openxmlformats.org/drawingml/2006/main" cx="5191125" cy="2638425"/>
        </p:xfrm>
        <a:graphic xmlns:a="http://schemas.openxmlformats.org/drawingml/2006/main">
          <a:graphicData uri="http://schemas.openxmlformats.org/drawingml/2006/chart">
            <c:chart xmlns:r="http://schemas.openxmlformats.org/officeDocument/2006/relationships" xmlns:c="http://schemas.openxmlformats.org/drawingml/2006/chart" r:id="R53dda46d526e4237"/>
          </a:graphicData>
        </a:graphic>
      </p:graphicFrame>
      <p:sp>
        <p:nvSpPr>
          <p:cNvPr id="6" name="">
            <a:extLst xmlns:a="http://schemas.openxmlformats.org/drawingml/2006/main">
              <a:ext uri="{FF2B5EF4-FFF2-40B4-BE49-F238E27FC236}">
                <a16:creationId xmlns:a16="http://schemas.microsoft.com/office/drawing/2014/main" id="{D80550C6-578A-418C-982B-9EBB1B483D4E}"/>
              </a:ext>
            </a:extLst>
          </p:cNvPr>
          <p:cNvSpPr>
            <a:spLocks xmlns:a="http://schemas.openxmlformats.org/drawingml/2006/main" noGrp="1"/>
          </p:cNvSpPr>
          <p:nvPr/>
        </p:nvSpPr>
        <p:spPr>
          <a:xfrm xmlns:a="http://schemas.openxmlformats.org/drawingml/2006/main">
            <a:off x="6362700" y="1438275"/>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49F8E"/>
                </a:solidFill>
                <a:latin typeface="Noto Sans"/>
                <a:ea typeface="Noto Sans"/>
                <a:cs typeface="Noto Sans"/>
              </a:defRPr>
            </a:pPr>
            <a:r>
              <a:rPr sz="2175" b="1">
                <a:solidFill>
                  <a:srgbClr val="149F8E"/>
                </a:solidFill>
                <a:latin typeface="Noto Sans"/>
                <a:ea typeface="Noto Sans"/>
                <a:cs typeface="Noto Sans"/>
              </a:rPr>
              <a:t>Current local workflow</a:t>
            </a:r>
          </a:p>
        </p:txBody>
      </p:sp>
      <p:sp>
        <p:nvSpPr>
          <p:cNvPr id="7" name="">
            <a:extLst xmlns:a="http://schemas.openxmlformats.org/drawingml/2006/main">
              <a:ext uri="{FF2B5EF4-FFF2-40B4-BE49-F238E27FC236}">
                <a16:creationId xmlns:a16="http://schemas.microsoft.com/office/drawing/2014/main" id="{AB179CB1-2832-47B7-8CB2-83FD99E11582}"/>
              </a:ext>
            </a:extLst>
          </p:cNvPr>
          <p:cNvSpPr>
            <a:spLocks xmlns:a="http://schemas.openxmlformats.org/drawingml/2006/main" noGrp="1"/>
          </p:cNvSpPr>
          <p:nvPr/>
        </p:nvSpPr>
        <p:spPr>
          <a:xfrm xmlns:a="http://schemas.openxmlformats.org/drawingml/2006/main">
            <a:off x="6362700" y="1847850"/>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87087"/>
                </a:solidFill>
                <a:latin typeface="Noto Sans"/>
                <a:ea typeface="Noto Sans"/>
                <a:cs typeface="Noto Sans"/>
              </a:defRPr>
            </a:pPr>
            <a:r>
              <a:rPr sz="1650" b="0">
                <a:solidFill>
                  <a:srgbClr val="587087"/>
                </a:solidFill>
                <a:latin typeface="Noto Sans"/>
                <a:ea typeface="Noto Sans"/>
                <a:cs typeface="Noto Sans"/>
              </a:rPr>
              <a:t>140 exposed cases / correct regression outcomes</a:t>
            </a:r>
          </a:p>
        </p:txBody>
      </p:sp>
      <p:graphicFrame>
        <p:nvGraphicFramePr>
          <p:cNvPr id="20" name="Chart"/>
          <p:cNvGraphicFramePr/>
          <p:nvPr/>
        </p:nvGraphicFramePr>
        <p:xfrm>
          <a:off xmlns:a="http://schemas.openxmlformats.org/drawingml/2006/main" x="6315075" y="2352675"/>
          <a:ext xmlns:a="http://schemas.openxmlformats.org/drawingml/2006/main" cx="5191125" cy="2638425"/>
        </p:xfrm>
        <a:graphic xmlns:a="http://schemas.openxmlformats.org/drawingml/2006/main">
          <a:graphicData uri="http://schemas.openxmlformats.org/drawingml/2006/chart">
            <c:chart xmlns:r="http://schemas.openxmlformats.org/officeDocument/2006/relationships" xmlns:c="http://schemas.openxmlformats.org/drawingml/2006/chart" r:id="R8d59a20d0d5a41f4"/>
          </a:graphicData>
        </a:graphic>
      </p:graphicFrame>
      <p:sp>
        <p:nvSpPr>
          <p:cNvPr id="9" name="">
            <a:extLst xmlns:a="http://schemas.openxmlformats.org/drawingml/2006/main">
              <a:ext uri="{FF2B5EF4-FFF2-40B4-BE49-F238E27FC236}">
                <a16:creationId xmlns:a16="http://schemas.microsoft.com/office/drawing/2014/main" id="{2C370169-DF68-4DD2-8E25-099CE2948DFF}"/>
              </a:ext>
            </a:extLst>
          </p:cNvPr>
          <p:cNvSpPr>
            <a:spLocks xmlns:a="http://schemas.openxmlformats.org/drawingml/2006/main" noGrp="1"/>
          </p:cNvSpPr>
          <p:nvPr/>
        </p:nvSpPr>
        <p:spPr>
          <a:xfrm xmlns:a="http://schemas.openxmlformats.org/drawingml/2006/main">
            <a:off x="619125" y="51149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4243B"/>
                </a:solidFill>
                <a:latin typeface="Noto Sans"/>
                <a:ea typeface="Noto Sans"/>
                <a:cs typeface="Noto Sans"/>
              </a:defRPr>
            </a:pPr>
            <a:r>
              <a:rPr sz="1875" b="1">
                <a:solidFill>
                  <a:srgbClr val="14243B"/>
                </a:solidFill>
                <a:latin typeface="Noto Sans"/>
                <a:ea typeface="Noto Sans"/>
                <a:cs typeface="Noto Sans"/>
              </a:rPr>
              <a:t>117/140 exact labels correct</a:t>
            </a:r>
          </a:p>
        </p:txBody>
      </p:sp>
      <p:sp>
        <p:nvSpPr>
          <p:cNvPr id="10" name="">
            <a:extLst xmlns:a="http://schemas.openxmlformats.org/drawingml/2006/main">
              <a:ext uri="{FF2B5EF4-FFF2-40B4-BE49-F238E27FC236}">
                <a16:creationId xmlns:a16="http://schemas.microsoft.com/office/drawing/2014/main" id="{007669F8-A7CB-4713-B9C1-03A8C156218E}"/>
              </a:ext>
            </a:extLst>
          </p:cNvPr>
          <p:cNvSpPr>
            <a:spLocks xmlns:a="http://schemas.openxmlformats.org/drawingml/2006/main" noGrp="1"/>
          </p:cNvSpPr>
          <p:nvPr/>
        </p:nvSpPr>
        <p:spPr>
          <a:xfrm xmlns:a="http://schemas.openxmlformats.org/drawingml/2006/main">
            <a:off x="6362700" y="5114925"/>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4243B"/>
                </a:solidFill>
                <a:latin typeface="Noto Sans"/>
                <a:ea typeface="Noto Sans"/>
                <a:cs typeface="Noto Sans"/>
              </a:defRPr>
            </a:pPr>
            <a:r>
              <a:rPr sz="1800" b="1">
                <a:solidFill>
                  <a:srgbClr val="14243B"/>
                </a:solidFill>
                <a:latin typeface="Noto Sans"/>
                <a:ea typeface="Noto Sans"/>
                <a:cs typeface="Noto Sans"/>
              </a:rPr>
              <a:t>60/60 handoffs preserve the request</a:t>
            </a:r>
          </a:p>
        </p:txBody>
      </p:sp>
      <p:sp>
        <p:nvSpPr>
          <p:cNvPr id="11" name="">
            <a:extLst xmlns:a="http://schemas.openxmlformats.org/drawingml/2006/main">
              <a:ext uri="{FF2B5EF4-FFF2-40B4-BE49-F238E27FC236}">
                <a16:creationId xmlns:a16="http://schemas.microsoft.com/office/drawing/2014/main" id="{F5232CE0-5889-4A23-93DF-0DF14E898BCE}"/>
              </a:ext>
            </a:extLst>
          </p:cNvPr>
          <p:cNvSpPr>
            <a:spLocks xmlns:a="http://schemas.openxmlformats.org/drawingml/2006/main" noGrp="1"/>
          </p:cNvSpPr>
          <p:nvPr/>
        </p:nvSpPr>
        <p:spPr>
          <a:xfrm xmlns:a="http://schemas.openxmlformats.org/drawingml/2006/main">
            <a:off x="609600" y="5686425"/>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87087"/>
                </a:solidFill>
                <a:latin typeface="Noto Sans"/>
                <a:ea typeface="Noto Sans"/>
                <a:cs typeface="Noto Sans"/>
              </a:defRPr>
            </a:pPr>
            <a:r>
              <a:rPr sz="1575" b="0">
                <a:solidFill>
                  <a:srgbClr val="587087"/>
                </a:solidFill>
                <a:latin typeface="Noto Sans"/>
                <a:ea typeface="Noto Sans"/>
                <a:cs typeface="Noto Sans"/>
              </a:rPr>
              <a:t>Six status/currency strata: 122/140 each. Same utterances, no demographic claim.</a:t>
            </a:r>
          </a:p>
        </p:txBody>
      </p:sp>
      <p:sp>
        <p:nvSpPr>
          <p:cNvPr id="12" name="">
            <a:extLst xmlns:a="http://schemas.openxmlformats.org/drawingml/2006/main">
              <a:ext uri="{FF2B5EF4-FFF2-40B4-BE49-F238E27FC236}">
                <a16:creationId xmlns:a16="http://schemas.microsoft.com/office/drawing/2014/main" id="{77A3BC32-EF99-4E14-AB4C-1B3D84978713}"/>
              </a:ext>
            </a:extLst>
          </p:cNvPr>
          <p:cNvSpPr>
            <a:spLocks xmlns:a="http://schemas.openxmlformats.org/drawingml/2006/main" noGrp="1"/>
          </p:cNvSpPr>
          <p:nvPr/>
        </p:nvSpPr>
        <p:spPr>
          <a:xfrm xmlns:a="http://schemas.openxmlformats.org/drawingml/2006/main">
            <a:off x="609600" y="6029325"/>
            <a:ext cx="10906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87087"/>
                </a:solidFill>
                <a:latin typeface="Noto Sans"/>
                <a:ea typeface="Noto Sans"/>
                <a:cs typeface="Noto Sans"/>
              </a:defRPr>
            </a:pPr>
            <a:r>
              <a:rPr sz="1500" b="0">
                <a:solidFill>
                  <a:srgbClr val="587087"/>
                </a:solidFill>
                <a:latin typeface="Noto Sans"/>
                <a:ea typeface="Noto Sans"/>
                <a:cs typeface="Noto Sans"/>
              </a:rPr>
              <a:t>Authored tests, no independent human review. New 70-case provider challenge unscored.</a:t>
            </a:r>
          </a:p>
        </p:txBody>
      </p:sp>
    </p:spTree>
    <p:extLst>
      <p:ext uri="{BB962C8B-B14F-4D97-AF65-F5344CB8AC3E}">
        <p14:creationId xmlns:p14="http://schemas.microsoft.com/office/powerpoint/2010/main" val="1794214335"/>
      </p:ext>
    </p:extLst>
  </p:cSld>
</p:sld>
</file>

<file path=ppt/slides/slide6.xml><?xml version="1.0" encoding="utf-8"?>
<p:sld xmlns:p="http://schemas.openxmlformats.org/presentationml/2006/main">
  <p:cSld>
    <p:bg>
      <p:bgPr>
        <a:solidFill xmlns:a="http://schemas.openxmlformats.org/drawingml/2006/main">
          <a:srgbClr val="0B193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6500774-B1C5-44F9-A047-524E6B49B9DD}"/>
              </a:ext>
            </a:extLst>
          </p:cNvPr>
          <p:cNvSpPr>
            <a:spLocks xmlns:a="http://schemas.openxmlformats.org/drawingml/2006/main" noGrp="1"/>
          </p:cNvSpPr>
          <p:nvPr/>
        </p:nvSpPr>
        <p:spPr>
          <a:xfrm xmlns:a="http://schemas.openxmlformats.org/drawingml/2006/main">
            <a:off x="609600" y="447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F7FAFC"/>
                </a:solidFill>
                <a:latin typeface="Noto Sans"/>
                <a:ea typeface="Noto Sans"/>
                <a:cs typeface="Noto Sans"/>
              </a:defRPr>
            </a:pPr>
            <a:r>
              <a:rPr sz="3300" b="1">
                <a:solidFill>
                  <a:srgbClr val="F7FAFC"/>
                </a:solidFill>
                <a:latin typeface="Noto Sans"/>
                <a:ea typeface="Noto Sans"/>
                <a:cs typeface="Noto Sans"/>
              </a:rPr>
              <a:t>Demo and the route to a bank integration</a:t>
            </a:r>
          </a:p>
        </p:txBody>
      </p:sp>
      <p:sp>
        <p:nvSpPr>
          <p:cNvPr id="2" name="">
            <a:extLst xmlns:a="http://schemas.openxmlformats.org/drawingml/2006/main">
              <a:ext uri="{FF2B5EF4-FFF2-40B4-BE49-F238E27FC236}">
                <a16:creationId xmlns:a16="http://schemas.microsoft.com/office/drawing/2014/main" id="{F27AE826-6CC7-4A75-85DA-B72EC77110C2}"/>
              </a:ext>
            </a:extLst>
          </p:cNvPr>
          <p:cNvSpPr>
            <a:spLocks xmlns:a="http://schemas.openxmlformats.org/drawingml/2006/main" noGrp="1"/>
          </p:cNvSpPr>
          <p:nvPr/>
        </p:nvSpPr>
        <p:spPr>
          <a:xfrm xmlns:a="http://schemas.openxmlformats.org/drawingml/2006/main">
            <a:off x="609600" y="6400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A4B7C8"/>
                </a:solidFill>
                <a:latin typeface="Noto Sans"/>
                <a:ea typeface="Noto Sans"/>
                <a:cs typeface="Noto Sans"/>
              </a:defRPr>
            </a:pPr>
            <a:r>
              <a:rPr sz="1125" b="0">
                <a:solidFill>
                  <a:srgbClr val="A4B7C8"/>
                </a:solidFill>
                <a:latin typeface="Noto Sans"/>
                <a:ea typeface="Noto Sans"/>
                <a:cs typeface="Noto Sans"/>
              </a:rPr>
              <a:t>Claro  /  Factored 2026  /  6</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86a6be8073445b0"/>
          <a:srcRect xmlns:a="http://schemas.openxmlformats.org/drawingml/2006/main" l="0" t="7749" r="0" b="7749"/>
          <a:stretch xmlns:a="http://schemas.openxmlformats.org/drawingml/2006/main">
            <a:fillRect l="0" t="0" r="0" b="0"/>
          </a:stretch>
        </p:blipFill>
        <p:spPr>
          <a:xfrm xmlns:a="http://schemas.openxmlformats.org/drawingml/2006/main">
            <a:off x="609600" y="1590675"/>
            <a:ext cx="5429250" cy="32004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126824C-848C-4943-B6BF-55C2C666D5B4}"/>
              </a:ext>
            </a:extLst>
          </p:cNvPr>
          <p:cNvSpPr>
            <a:spLocks xmlns:a="http://schemas.openxmlformats.org/drawingml/2006/main" noGrp="1"/>
          </p:cNvSpPr>
          <p:nvPr/>
        </p:nvSpPr>
        <p:spPr>
          <a:xfrm xmlns:a="http://schemas.openxmlformats.org/drawingml/2006/main">
            <a:off x="609600" y="4905375"/>
            <a:ext cx="561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67E2C4"/>
                </a:solidFill>
                <a:latin typeface="Noto Sans"/>
                <a:ea typeface="Noto Sans"/>
                <a:cs typeface="Noto Sans"/>
              </a:defRPr>
            </a:pPr>
            <a:r>
              <a:rPr sz="1875" b="1">
                <a:solidFill>
                  <a:srgbClr val="67E2C4"/>
                </a:solidFill>
                <a:latin typeface="Noto Sans"/>
                <a:ea typeface="Noto Sans"/>
                <a:cs typeface="Noto Sans"/>
              </a:rPr>
              <a:t>Public demo / release receipt linked</a:t>
            </a:r>
          </a:p>
        </p:txBody>
      </p:sp>
      <p:sp>
        <p:nvSpPr>
          <p:cNvPr id="5" name="">
            <a:extLst xmlns:a="http://schemas.openxmlformats.org/drawingml/2006/main">
              <a:ext uri="{FF2B5EF4-FFF2-40B4-BE49-F238E27FC236}">
                <a16:creationId xmlns:a16="http://schemas.microsoft.com/office/drawing/2014/main" id="{3D1AC7C3-749D-4B36-8ED6-A86D5031B4C3}"/>
              </a:ext>
            </a:extLst>
          </p:cNvPr>
          <p:cNvSpPr>
            <a:spLocks xmlns:a="http://schemas.openxmlformats.org/drawingml/2006/main" noGrp="1"/>
          </p:cNvSpPr>
          <p:nvPr/>
        </p:nvSpPr>
        <p:spPr>
          <a:xfrm xmlns:a="http://schemas.openxmlformats.org/drawingml/2006/main">
            <a:off x="609600" y="5362575"/>
            <a:ext cx="5619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F7FAFC"/>
                </a:solidFill>
                <a:latin typeface="Noto Sans"/>
                <a:ea typeface="Noto Sans"/>
                <a:cs typeface="Noto Sans"/>
              </a:defRPr>
            </a:pPr>
            <a:r>
              <a:rPr sz="1500" b="0">
                <a:solidFill>
                  <a:srgbClr val="F7FAFC"/>
                </a:solidFill>
                <a:latin typeface="Noto Sans"/>
                <a:ea typeface="Noto Sans"/>
                <a:cs typeface="Noto Sans"/>
              </a:rPr>
              <a:t>https://claro-banking-hackathon-2026.onrender.com</a:t>
            </a:r>
          </a:p>
        </p:txBody>
      </p:sp>
      <p:sp>
        <p:nvSpPr>
          <p:cNvPr id="6" name="">
            <a:extLst xmlns:a="http://schemas.openxmlformats.org/drawingml/2006/main">
              <a:ext uri="{FF2B5EF4-FFF2-40B4-BE49-F238E27FC236}">
                <a16:creationId xmlns:a16="http://schemas.microsoft.com/office/drawing/2014/main" id="{2CAC9F97-BFEE-4BC7-ADB8-E3F199D05434}"/>
              </a:ext>
            </a:extLst>
          </p:cNvPr>
          <p:cNvSpPr>
            <a:spLocks xmlns:a="http://schemas.openxmlformats.org/drawingml/2006/main" noGrp="1"/>
          </p:cNvSpPr>
          <p:nvPr/>
        </p:nvSpPr>
        <p:spPr>
          <a:xfrm xmlns:a="http://schemas.openxmlformats.org/drawingml/2006/main">
            <a:off x="6572250" y="1562100"/>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67E2C4"/>
                </a:solidFill>
                <a:latin typeface="Noto Sans"/>
                <a:ea typeface="Noto Sans"/>
                <a:cs typeface="Noto Sans"/>
              </a:defRPr>
            </a:pPr>
            <a:r>
              <a:rPr sz="2175" b="1">
                <a:solidFill>
                  <a:srgbClr val="67E2C4"/>
                </a:solidFill>
                <a:latin typeface="Noto Sans"/>
                <a:ea typeface="Noto Sans"/>
                <a:cs typeface="Noto Sans"/>
              </a:rPr>
              <a:t>Deliberate trade-offs</a:t>
            </a:r>
          </a:p>
        </p:txBody>
      </p:sp>
      <p:sp>
        <p:nvSpPr>
          <p:cNvPr id="7" name="">
            <a:extLst xmlns:a="http://schemas.openxmlformats.org/drawingml/2006/main">
              <a:ext uri="{FF2B5EF4-FFF2-40B4-BE49-F238E27FC236}">
                <a16:creationId xmlns:a16="http://schemas.microsoft.com/office/drawing/2014/main" id="{2A4694A8-CA0E-4B6A-9770-73CF7EC148CE}"/>
              </a:ext>
            </a:extLst>
          </p:cNvPr>
          <p:cNvSpPr>
            <a:spLocks xmlns:a="http://schemas.openxmlformats.org/drawingml/2006/main" noGrp="1"/>
          </p:cNvSpPr>
          <p:nvPr/>
        </p:nvSpPr>
        <p:spPr>
          <a:xfrm xmlns:a="http://schemas.openxmlformats.org/drawingml/2006/main">
            <a:off x="6572250" y="2143125"/>
            <a:ext cx="4857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F7FAFC"/>
                </a:solidFill>
                <a:latin typeface="Noto Sans"/>
                <a:ea typeface="Noto Sans"/>
                <a:cs typeface="Noto Sans"/>
              </a:defRPr>
            </a:pPr>
            <a:r>
              <a:rPr sz="1800" b="0">
                <a:solidFill>
                  <a:srgbClr val="F7FAFC"/>
                </a:solidFill>
                <a:latin typeface="Noto Sans"/>
                <a:ea typeface="Noto Sans"/>
                <a:cs typeface="Noto Sans"/>
              </a:rPr>
              <a:t>Single worker and SQLite</a:t>
            </a:r>
          </a:p>
          <a:p xmlns:a="http://schemas.openxmlformats.org/drawingml/2006/main">
            <a:pPr algn="l">
              <a:defRPr sz="1800" b="0">
                <a:solidFill>
                  <a:srgbClr val="F7FAFC"/>
                </a:solidFill>
                <a:latin typeface="Noto Sans"/>
                <a:ea typeface="Noto Sans"/>
                <a:cs typeface="Noto Sans"/>
              </a:defRPr>
            </a:pPr>
            <a:r>
              <a:rPr sz="1800" b="0">
                <a:solidFill>
                  <a:srgbClr val="F7FAFC"/>
                </a:solidFill>
                <a:latin typeface="Noto Sans"/>
                <a:ea typeface="Noto Sans"/>
                <a:cs typeface="Noto Sans"/>
              </a:rPr>
              <a:t>Simple deployment. Free-host restarts</a:t>
            </a:r>
          </a:p>
          <a:p xmlns:a="http://schemas.openxmlformats.org/drawingml/2006/main">
            <a:pPr algn="l">
              <a:defRPr sz="1800" b="0">
                <a:solidFill>
                  <a:srgbClr val="F7FAFC"/>
                </a:solidFill>
                <a:latin typeface="Noto Sans"/>
                <a:ea typeface="Noto Sans"/>
                <a:cs typeface="Noto Sans"/>
              </a:defRPr>
            </a:pPr>
            <a:r>
              <a:rPr sz="1800" b="0">
                <a:solidFill>
                  <a:srgbClr val="F7FAFC"/>
                </a:solidFill>
                <a:latin typeface="Noto Sans"/>
                <a:ea typeface="Noto Sans"/>
                <a:cs typeface="Noto Sans"/>
              </a:rPr>
              <a:t>can reset sandbox state.</a:t>
            </a:r>
          </a:p>
        </p:txBody>
      </p:sp>
      <p:sp>
        <p:nvSpPr>
          <p:cNvPr id="8" name="">
            <a:extLst xmlns:a="http://schemas.openxmlformats.org/drawingml/2006/main">
              <a:ext uri="{FF2B5EF4-FFF2-40B4-BE49-F238E27FC236}">
                <a16:creationId xmlns:a16="http://schemas.microsoft.com/office/drawing/2014/main" id="{37104DFE-EE70-4159-8288-00B1706785A2}"/>
              </a:ext>
            </a:extLst>
          </p:cNvPr>
          <p:cNvSpPr>
            <a:spLocks xmlns:a="http://schemas.openxmlformats.org/drawingml/2006/main" noGrp="1"/>
          </p:cNvSpPr>
          <p:nvPr/>
        </p:nvSpPr>
        <p:spPr>
          <a:xfrm xmlns:a="http://schemas.openxmlformats.org/drawingml/2006/main">
            <a:off x="6572250" y="3524250"/>
            <a:ext cx="4857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F7FAFC"/>
                </a:solidFill>
                <a:latin typeface="Noto Sans"/>
                <a:ea typeface="Noto Sans"/>
                <a:cs typeface="Noto Sans"/>
              </a:defRPr>
            </a:pPr>
            <a:r>
              <a:rPr sz="1800" b="0">
                <a:solidFill>
                  <a:srgbClr val="F7FAFC"/>
                </a:solidFill>
                <a:latin typeface="Noto Sans"/>
                <a:ea typeface="Noto Sans"/>
                <a:cs typeface="Noto Sans"/>
              </a:rPr>
              <a:t>Optional external models</a:t>
            </a:r>
          </a:p>
          <a:p xmlns:a="http://schemas.openxmlformats.org/drawingml/2006/main">
            <a:pPr algn="l">
              <a:defRPr sz="1800" b="0">
                <a:solidFill>
                  <a:srgbClr val="F7FAFC"/>
                </a:solidFill>
                <a:latin typeface="Noto Sans"/>
                <a:ea typeface="Noto Sans"/>
                <a:cs typeface="Noto Sans"/>
              </a:defRPr>
            </a:pPr>
            <a:r>
              <a:rPr sz="1800" b="0">
                <a:solidFill>
                  <a:srgbClr val="F7FAFC"/>
                </a:solidFill>
                <a:latin typeface="Noto Sans"/>
                <a:ea typeface="Noto Sans"/>
                <a:cs typeface="Noto Sans"/>
              </a:rPr>
              <a:t>Usage and tariff estimates are logged.</a:t>
            </a:r>
          </a:p>
          <a:p xmlns:a="http://schemas.openxmlformats.org/drawingml/2006/main">
            <a:pPr algn="l">
              <a:defRPr sz="1800" b="0">
                <a:solidFill>
                  <a:srgbClr val="F7FAFC"/>
                </a:solidFill>
                <a:latin typeface="Noto Sans"/>
                <a:ea typeface="Noto Sans"/>
                <a:cs typeface="Noto Sans"/>
              </a:defRPr>
            </a:pPr>
            <a:r>
              <a:rPr sz="1800" b="0">
                <a:solidFill>
                  <a:srgbClr val="F7FAFC"/>
                </a:solidFill>
                <a:latin typeface="Noto Sans"/>
                <a:ea typeface="Noto Sans"/>
                <a:cs typeface="Noto Sans"/>
              </a:rPr>
              <a:t>Live provider results are still unverified.</a:t>
            </a:r>
          </a:p>
        </p:txBody>
      </p:sp>
      <p:sp>
        <p:nvSpPr>
          <p:cNvPr id="9" name="">
            <a:extLst xmlns:a="http://schemas.openxmlformats.org/drawingml/2006/main">
              <a:ext uri="{FF2B5EF4-FFF2-40B4-BE49-F238E27FC236}">
                <a16:creationId xmlns:a16="http://schemas.microsoft.com/office/drawing/2014/main" id="{C7E4D431-1B83-47E7-B0DE-FADA05046868}"/>
              </a:ext>
            </a:extLst>
          </p:cNvPr>
          <p:cNvSpPr>
            <a:spLocks xmlns:a="http://schemas.openxmlformats.org/drawingml/2006/main" noGrp="1"/>
          </p:cNvSpPr>
          <p:nvPr/>
        </p:nvSpPr>
        <p:spPr>
          <a:xfrm xmlns:a="http://schemas.openxmlformats.org/drawingml/2006/main">
            <a:off x="6572250" y="4867275"/>
            <a:ext cx="4857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67E2C4"/>
                </a:solidFill>
                <a:latin typeface="Noto Sans"/>
                <a:ea typeface="Noto Sans"/>
                <a:cs typeface="Noto Sans"/>
              </a:defRPr>
            </a:pPr>
            <a:r>
              <a:rPr sz="1950" b="1">
                <a:solidFill>
                  <a:srgbClr val="67E2C4"/>
                </a:solidFill>
                <a:latin typeface="Noto Sans"/>
                <a:ea typeface="Noto Sans"/>
                <a:cs typeface="Noto Sans"/>
              </a:rPr>
              <a:t>Before real customers</a:t>
            </a:r>
          </a:p>
        </p:txBody>
      </p:sp>
      <p:sp>
        <p:nvSpPr>
          <p:cNvPr id="10" name="">
            <a:extLst xmlns:a="http://schemas.openxmlformats.org/drawingml/2006/main">
              <a:ext uri="{FF2B5EF4-FFF2-40B4-BE49-F238E27FC236}">
                <a16:creationId xmlns:a16="http://schemas.microsoft.com/office/drawing/2014/main" id="{4C5B1D7D-9034-460B-AB20-EE7D850E9B6A}"/>
              </a:ext>
            </a:extLst>
          </p:cNvPr>
          <p:cNvSpPr>
            <a:spLocks xmlns:a="http://schemas.openxmlformats.org/drawingml/2006/main" noGrp="1"/>
          </p:cNvSpPr>
          <p:nvPr/>
        </p:nvSpPr>
        <p:spPr>
          <a:xfrm xmlns:a="http://schemas.openxmlformats.org/drawingml/2006/main">
            <a:off x="6572250" y="5314950"/>
            <a:ext cx="4905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F7FAFC"/>
                </a:solidFill>
                <a:latin typeface="Noto Sans"/>
                <a:ea typeface="Noto Sans"/>
                <a:cs typeface="Noto Sans"/>
              </a:defRPr>
            </a:pPr>
            <a:r>
              <a:rPr sz="1800" b="0">
                <a:solidFill>
                  <a:srgbClr val="F7FAFC"/>
                </a:solidFill>
                <a:latin typeface="Noto Sans"/>
                <a:ea typeface="Noto Sans"/>
                <a:cs typeface="Noto Sans"/>
              </a:rPr>
              <a:t>Bank identity, approved policies, durable</a:t>
            </a:r>
          </a:p>
          <a:p xmlns:a="http://schemas.openxmlformats.org/drawingml/2006/main">
            <a:pPr algn="l">
              <a:defRPr sz="1800" b="0">
                <a:solidFill>
                  <a:srgbClr val="F7FAFC"/>
                </a:solidFill>
                <a:latin typeface="Noto Sans"/>
                <a:ea typeface="Noto Sans"/>
                <a:cs typeface="Noto Sans"/>
              </a:defRPr>
            </a:pPr>
            <a:r>
              <a:rPr sz="1800" b="0">
                <a:solidFill>
                  <a:srgbClr val="F7FAFC"/>
                </a:solidFill>
                <a:latin typeface="Noto Sans"/>
                <a:ea typeface="Noto Sans"/>
                <a:cs typeface="Noto Sans"/>
              </a:rPr>
              <a:t>storage and independent ES/PT review.</a:t>
            </a:r>
          </a:p>
        </p:txBody>
      </p:sp>
    </p:spTree>
    <p:extLst>
      <p:ext uri="{BB962C8B-B14F-4D97-AF65-F5344CB8AC3E}">
        <p14:creationId xmlns:p14="http://schemas.microsoft.com/office/powerpoint/2010/main" val="1869512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2026-10-02T15:33:17.0060000Z</dcterms:created>
  <dcterms:modified xsi:type="dcterms:W3CDTF">2026-10-02T15:33:17.0060000Z</dcterms:modified>
</coreProperties>
</file>